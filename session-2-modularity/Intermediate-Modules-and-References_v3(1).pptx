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57" r:id="rId5"/>
    <p:sldId id="267" r:id="rId6"/>
    <p:sldId id="288" r:id="rId7"/>
    <p:sldId id="289" r:id="rId8"/>
    <p:sldId id="291" r:id="rId9"/>
    <p:sldId id="290" r:id="rId10"/>
    <p:sldId id="292" r:id="rId11"/>
    <p:sldId id="293" r:id="rId12"/>
    <p:sldId id="303" r:id="rId13"/>
    <p:sldId id="304" r:id="rId14"/>
    <p:sldId id="305" r:id="rId15"/>
    <p:sldId id="307" r:id="rId16"/>
    <p:sldId id="306" r:id="rId17"/>
    <p:sldId id="294" r:id="rId18"/>
    <p:sldId id="295" r:id="rId19"/>
    <p:sldId id="296" r:id="rId20"/>
    <p:sldId id="300" r:id="rId21"/>
    <p:sldId id="302" r:id="rId22"/>
    <p:sldId id="309" r:id="rId23"/>
    <p:sldId id="308" r:id="rId24"/>
    <p:sldId id="297" r:id="rId25"/>
    <p:sldId id="298" r:id="rId26"/>
    <p:sldId id="299" r:id="rId27"/>
  </p:sldIdLst>
  <p:sldSz cx="12192000" cy="6858000"/>
  <p:notesSz cx="7104063" cy="10234613"/>
  <p:custDataLst>
    <p:tags r:id="rId2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E631FFDE-1010-498F-9120-6F57EFC23AC7}">
          <p14:sldIdLst>
            <p14:sldId id="257"/>
            <p14:sldId id="267"/>
            <p14:sldId id="288"/>
            <p14:sldId id="289"/>
            <p14:sldId id="291"/>
            <p14:sldId id="290"/>
            <p14:sldId id="292"/>
            <p14:sldId id="293"/>
            <p14:sldId id="303"/>
            <p14:sldId id="304"/>
            <p14:sldId id="305"/>
            <p14:sldId id="307"/>
            <p14:sldId id="306"/>
            <p14:sldId id="294"/>
            <p14:sldId id="295"/>
            <p14:sldId id="296"/>
            <p14:sldId id="300"/>
            <p14:sldId id="302"/>
            <p14:sldId id="309"/>
            <p14:sldId id="308"/>
            <p14:sldId id="297"/>
            <p14:sldId id="298"/>
            <p14:sldId id="29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262E"/>
    <a:srgbClr val="C00000"/>
    <a:srgbClr val="CC0000"/>
    <a:srgbClr val="D8262E"/>
    <a:srgbClr val="000000"/>
    <a:srgbClr val="D81C24"/>
    <a:srgbClr val="9BBB59"/>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4" autoAdjust="0"/>
    <p:restoredTop sz="53540" autoAdjust="0"/>
  </p:normalViewPr>
  <p:slideViewPr>
    <p:cSldViewPr snapToGrid="0" snapToObjects="1">
      <p:cViewPr varScale="1">
        <p:scale>
          <a:sx n="68" d="100"/>
          <a:sy n="68" d="100"/>
        </p:scale>
        <p:origin x="4336" y="496"/>
      </p:cViewPr>
      <p:guideLst>
        <p:guide orient="horz" pos="2160"/>
        <p:guide pos="3840"/>
      </p:guideLst>
    </p:cSldViewPr>
  </p:slideViewPr>
  <p:notesTextViewPr>
    <p:cViewPr>
      <p:scale>
        <a:sx n="3" d="2"/>
        <a:sy n="3" d="2"/>
      </p:scale>
      <p:origin x="0" y="0"/>
    </p:cViewPr>
  </p:notesTextViewPr>
  <p:notesViewPr>
    <p:cSldViewPr snapToGrid="0" snapToObjects="1">
      <p:cViewPr varScale="1">
        <p:scale>
          <a:sx n="104" d="100"/>
          <a:sy n="104" d="100"/>
        </p:scale>
        <p:origin x="2756"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dirty="0"/>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77EA1514-F326-1840-B15D-D4720038598B}" type="datetimeFigureOut">
              <a:rPr lang="en-US" smtClean="0"/>
              <a:t>2/11/25</a:t>
            </a:fld>
            <a:endParaRPr lang="en-US" dirty="0"/>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dirty="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BA3E024E-F835-6D45-89C3-0E2F93EE799A}" type="slidenum">
              <a:rPr lang="en-US" smtClean="0"/>
              <a:t>‹#›</a:t>
            </a:fld>
            <a:endParaRPr lang="en-US" dirty="0"/>
          </a:p>
        </p:txBody>
      </p:sp>
    </p:spTree>
    <p:extLst>
      <p:ext uri="{BB962C8B-B14F-4D97-AF65-F5344CB8AC3E}">
        <p14:creationId xmlns:p14="http://schemas.microsoft.com/office/powerpoint/2010/main" val="37035772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a:t>
            </a:fld>
            <a:endParaRPr lang="en-US" dirty="0"/>
          </a:p>
        </p:txBody>
      </p:sp>
    </p:spTree>
    <p:extLst>
      <p:ext uri="{BB962C8B-B14F-4D97-AF65-F5344CB8AC3E}">
        <p14:creationId xmlns:p14="http://schemas.microsoft.com/office/powerpoint/2010/main" val="822045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dirty="0">
                <a:solidFill>
                  <a:srgbClr val="374151"/>
                </a:solidFill>
                <a:effectLst/>
                <a:latin typeface="Söhne"/>
              </a:rPr>
              <a:t>"Modular programming is a software design technique that emphasises the separation of functionality into independent, interchangeable modules. A module in this context is a self-contained component of a system that encapsulates specific functionality and interfaces with the rest of the system in a well-defined, minimal manner. It's like building with Lego blocks, each block (or module) does one thing well and can be connected to other blocks to create a larger structure (or program)."</a:t>
            </a:r>
          </a:p>
          <a:p>
            <a:br>
              <a:rPr lang="en-AU" dirty="0"/>
            </a:br>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3</a:t>
            </a:fld>
            <a:endParaRPr lang="en-US" dirty="0"/>
          </a:p>
        </p:txBody>
      </p:sp>
    </p:spTree>
    <p:extLst>
      <p:ext uri="{BB962C8B-B14F-4D97-AF65-F5344CB8AC3E}">
        <p14:creationId xmlns:p14="http://schemas.microsoft.com/office/powerpoint/2010/main" val="1727447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AU" b="1" i="0" dirty="0">
                <a:solidFill>
                  <a:srgbClr val="374151"/>
                </a:solidFill>
                <a:effectLst/>
                <a:latin typeface="Söhne"/>
              </a:rPr>
              <a:t>Reusability:</a:t>
            </a:r>
            <a:r>
              <a:rPr lang="en-AU" b="0" i="0" dirty="0">
                <a:solidFill>
                  <a:srgbClr val="374151"/>
                </a:solidFill>
                <a:effectLst/>
                <a:latin typeface="Söhne"/>
              </a:rPr>
              <a:t> Once a module is written, it can be reused across the program, or even in other programs. This saves time and effort and promotes code consistency.</a:t>
            </a:r>
          </a:p>
          <a:p>
            <a:pPr algn="l">
              <a:buFont typeface="+mj-lt"/>
              <a:buAutoNum type="arabicPeriod"/>
            </a:pPr>
            <a:r>
              <a:rPr lang="en-AU" b="1" i="0" dirty="0">
                <a:solidFill>
                  <a:srgbClr val="374151"/>
                </a:solidFill>
                <a:effectLst/>
                <a:latin typeface="Söhne"/>
              </a:rPr>
              <a:t>Maintainability:</a:t>
            </a:r>
            <a:r>
              <a:rPr lang="en-AU" b="0" i="0" dirty="0">
                <a:solidFill>
                  <a:srgbClr val="374151"/>
                </a:solidFill>
                <a:effectLst/>
                <a:latin typeface="Söhne"/>
              </a:rPr>
              <a:t> When functionality is separated into modules, it becomes easier to maintain and update the software. If a change needs to be made to a specific feature, you only have to modify the related module, minimising the risk of unintentionally affecting other parts of the program.</a:t>
            </a:r>
          </a:p>
          <a:p>
            <a:pPr algn="l">
              <a:buFont typeface="+mj-lt"/>
              <a:buAutoNum type="arabicPeriod"/>
            </a:pPr>
            <a:r>
              <a:rPr lang="en-AU" b="1" i="0" dirty="0">
                <a:solidFill>
                  <a:srgbClr val="374151"/>
                </a:solidFill>
                <a:effectLst/>
                <a:latin typeface="Söhne"/>
              </a:rPr>
              <a:t>Testing and Debugging:</a:t>
            </a:r>
            <a:r>
              <a:rPr lang="en-AU" b="0" i="0" dirty="0">
                <a:solidFill>
                  <a:srgbClr val="374151"/>
                </a:solidFill>
                <a:effectLst/>
                <a:latin typeface="Söhne"/>
              </a:rPr>
              <a:t> It's easier to test and debug modules as standalone units, and any bugs that are found and fixed in a module will be fixed everywhere the module is used.</a:t>
            </a:r>
          </a:p>
          <a:p>
            <a:pPr algn="l">
              <a:buFont typeface="+mj-lt"/>
              <a:buAutoNum type="arabicPeriod"/>
            </a:pPr>
            <a:r>
              <a:rPr lang="en-AU" b="1" i="0" dirty="0">
                <a:solidFill>
                  <a:srgbClr val="374151"/>
                </a:solidFill>
                <a:effectLst/>
                <a:latin typeface="Söhne"/>
              </a:rPr>
              <a:t>Collaboration:</a:t>
            </a:r>
            <a:r>
              <a:rPr lang="en-AU" b="0" i="0" dirty="0">
                <a:solidFill>
                  <a:srgbClr val="374151"/>
                </a:solidFill>
                <a:effectLst/>
                <a:latin typeface="Söhne"/>
              </a:rPr>
              <a:t> In large projects, different teams can work on different modules simultaneously with less risk of interfering with each other's work."</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4</a:t>
            </a:fld>
            <a:endParaRPr lang="en-US" dirty="0"/>
          </a:p>
        </p:txBody>
      </p:sp>
    </p:spTree>
    <p:extLst>
      <p:ext uri="{BB962C8B-B14F-4D97-AF65-F5344CB8AC3E}">
        <p14:creationId xmlns:p14="http://schemas.microsoft.com/office/powerpoint/2010/main" val="2855133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AU" b="1" i="0" dirty="0">
                <a:solidFill>
                  <a:srgbClr val="374151"/>
                </a:solidFill>
                <a:effectLst/>
                <a:latin typeface="Söhne"/>
              </a:rPr>
              <a:t>Increased Complexity:</a:t>
            </a:r>
            <a:r>
              <a:rPr lang="en-AU" b="0" i="0" dirty="0">
                <a:solidFill>
                  <a:srgbClr val="374151"/>
                </a:solidFill>
                <a:effectLst/>
                <a:latin typeface="Söhne"/>
              </a:rPr>
              <a:t> While modular programming can simplify individual components of a program, it can also increase the overall complexity of a system. Managing how modules interact and ensuring they function correctly together can become a challenging task, especially in large software projects.</a:t>
            </a:r>
          </a:p>
          <a:p>
            <a:pPr algn="l">
              <a:buFont typeface="+mj-lt"/>
              <a:buAutoNum type="arabicPeriod"/>
            </a:pPr>
            <a:r>
              <a:rPr lang="en-AU" b="1" i="0" dirty="0">
                <a:solidFill>
                  <a:srgbClr val="374151"/>
                </a:solidFill>
                <a:effectLst/>
                <a:latin typeface="Söhne"/>
              </a:rPr>
              <a:t>Design Overhead:</a:t>
            </a:r>
            <a:r>
              <a:rPr lang="en-AU" b="0" i="0" dirty="0">
                <a:solidFill>
                  <a:srgbClr val="374151"/>
                </a:solidFill>
                <a:effectLst/>
                <a:latin typeface="Söhne"/>
              </a:rPr>
              <a:t> To design a program in a modular way, careful planning is required upfront to define clear, sensible boundaries for modules. This can increase the amount of time spent in the design phase, which might not be ideal for small projects or prototypes.</a:t>
            </a:r>
          </a:p>
          <a:p>
            <a:pPr algn="l">
              <a:buFont typeface="+mj-lt"/>
              <a:buAutoNum type="arabicPeriod"/>
            </a:pPr>
            <a:r>
              <a:rPr lang="en-AU" b="1" i="0" dirty="0">
                <a:solidFill>
                  <a:srgbClr val="374151"/>
                </a:solidFill>
                <a:effectLst/>
                <a:latin typeface="Söhne"/>
              </a:rPr>
              <a:t>Dependencies Between Modules:</a:t>
            </a:r>
            <a:r>
              <a:rPr lang="en-AU" b="0" i="0" dirty="0">
                <a:solidFill>
                  <a:srgbClr val="374151"/>
                </a:solidFill>
                <a:effectLst/>
                <a:latin typeface="Söhne"/>
              </a:rPr>
              <a:t> If not managed well, modules can become tightly coupled, meaning a module depends heavily on the internal workings of another module. This can create issues when trying to modify, update, or reuse a module. The aim should always be to create loosely coupled modules where possible.</a:t>
            </a:r>
          </a:p>
          <a:p>
            <a:pPr algn="l">
              <a:buFont typeface="+mj-lt"/>
              <a:buAutoNum type="arabicPeriod"/>
            </a:pPr>
            <a:r>
              <a:rPr lang="en-AU" b="1" i="0" dirty="0">
                <a:solidFill>
                  <a:srgbClr val="374151"/>
                </a:solidFill>
                <a:effectLst/>
                <a:latin typeface="Söhne"/>
              </a:rPr>
              <a:t>Version Control:</a:t>
            </a:r>
            <a:r>
              <a:rPr lang="en-AU" b="0" i="0" dirty="0">
                <a:solidFill>
                  <a:srgbClr val="374151"/>
                </a:solidFill>
                <a:effectLst/>
                <a:latin typeface="Söhne"/>
              </a:rPr>
              <a:t> When reusing modules across different projects, it's vital to ensure that all projects are using the correct version of the module. If a module is updated for one project, it could potentially break functionality in another project that relies on the old version.</a:t>
            </a:r>
          </a:p>
          <a:p>
            <a:pPr algn="l">
              <a:buFont typeface="+mj-lt"/>
              <a:buAutoNum type="arabicPeriod"/>
            </a:pPr>
            <a:r>
              <a:rPr lang="en-AU" b="1" i="0" dirty="0">
                <a:solidFill>
                  <a:srgbClr val="374151"/>
                </a:solidFill>
                <a:effectLst/>
                <a:latin typeface="Söhne"/>
              </a:rPr>
              <a:t>Integration Issues:</a:t>
            </a:r>
            <a:r>
              <a:rPr lang="en-AU" b="0" i="0" dirty="0">
                <a:solidFill>
                  <a:srgbClr val="374151"/>
                </a:solidFill>
                <a:effectLst/>
                <a:latin typeface="Söhne"/>
              </a:rPr>
              <a:t> Individual modules might work perfectly in isolation but fail when integrated due to unforeseen conflicts or discrepancies between module interfaces.</a:t>
            </a:r>
          </a:p>
          <a:p>
            <a:pPr algn="l">
              <a:buFont typeface="+mj-lt"/>
              <a:buAutoNum type="arabicPeriod"/>
            </a:pPr>
            <a:r>
              <a:rPr lang="en-AU" b="1" i="0" dirty="0">
                <a:solidFill>
                  <a:srgbClr val="374151"/>
                </a:solidFill>
                <a:effectLst/>
                <a:latin typeface="Söhne"/>
              </a:rPr>
              <a:t>NOTE</a:t>
            </a:r>
            <a:r>
              <a:rPr lang="en-AU" b="0" i="0" dirty="0">
                <a:solidFill>
                  <a:srgbClr val="374151"/>
                </a:solidFill>
                <a:effectLst/>
                <a:latin typeface="Söhne"/>
              </a:rPr>
              <a:t>: this is where AI begins to break down as it lack the “Context” of the other modules.</a:t>
            </a:r>
          </a:p>
          <a:p>
            <a:br>
              <a:rPr lang="en-AU" dirty="0"/>
            </a:br>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a:t>
            </a:fld>
            <a:endParaRPr lang="en-US" dirty="0"/>
          </a:p>
        </p:txBody>
      </p:sp>
    </p:spTree>
    <p:extLst>
      <p:ext uri="{BB962C8B-B14F-4D97-AF65-F5344CB8AC3E}">
        <p14:creationId xmlns:p14="http://schemas.microsoft.com/office/powerpoint/2010/main" val="686844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dirty="0"/>
              <a:t>Ask students to create a simple function in a file (say “hello world”) and then create a new file and import that module:</a:t>
            </a:r>
            <a:br>
              <a:rPr lang="en-US" dirty="0"/>
            </a:br>
            <a:br>
              <a:rPr lang="en-US" dirty="0"/>
            </a:br>
            <a:r>
              <a:rPr lang="en-US" dirty="0"/>
              <a:t>e.g.</a:t>
            </a:r>
            <a:br>
              <a:rPr lang="en-US" dirty="0"/>
            </a:br>
            <a:br>
              <a:rPr lang="en-US" dirty="0"/>
            </a:br>
            <a:r>
              <a:rPr lang="en-AU" b="0" i="0" dirty="0">
                <a:solidFill>
                  <a:srgbClr val="D1D5DB"/>
                </a:solidFill>
                <a:effectLst/>
                <a:latin typeface="Söhne"/>
              </a:rPr>
              <a:t>import </a:t>
            </a:r>
            <a:r>
              <a:rPr lang="en-AU" b="0" i="0" dirty="0" err="1">
                <a:solidFill>
                  <a:srgbClr val="D1D5DB"/>
                </a:solidFill>
                <a:effectLst/>
                <a:latin typeface="Söhne"/>
              </a:rPr>
              <a:t>my_module</a:t>
            </a:r>
            <a:r>
              <a:rPr lang="en-AU" b="0" i="0" dirty="0">
                <a:solidFill>
                  <a:srgbClr val="D1D5DB"/>
                </a:solidFill>
                <a:effectLst/>
                <a:latin typeface="Söhne"/>
              </a:rPr>
              <a:t>: This imports the whole module, and we can use its functions like so: </a:t>
            </a:r>
            <a:r>
              <a:rPr lang="en-AU" b="0" i="0" dirty="0" err="1">
                <a:solidFill>
                  <a:srgbClr val="D1D5DB"/>
                </a:solidFill>
                <a:effectLst/>
                <a:latin typeface="Söhne"/>
              </a:rPr>
              <a:t>my_module.hello_world</a:t>
            </a:r>
            <a:r>
              <a:rPr lang="en-AU" b="0" i="0" dirty="0">
                <a:solidFill>
                  <a:srgbClr val="D1D5DB"/>
                </a:solidFill>
                <a:effectLst/>
                <a:latin typeface="Söhne"/>
              </a:rPr>
              <a:t>().</a:t>
            </a:r>
          </a:p>
          <a:p>
            <a:pPr algn="l">
              <a:buFont typeface="Arial" panose="020B0604020202020204" pitchFamily="34" charset="0"/>
              <a:buChar char="•"/>
            </a:pPr>
            <a:r>
              <a:rPr lang="en-AU" b="0" i="0" dirty="0">
                <a:solidFill>
                  <a:srgbClr val="D1D5DB"/>
                </a:solidFill>
                <a:effectLst/>
                <a:latin typeface="Söhne"/>
              </a:rPr>
              <a:t>from </a:t>
            </a:r>
            <a:r>
              <a:rPr lang="en-AU" b="0" i="0" dirty="0" err="1">
                <a:solidFill>
                  <a:srgbClr val="D1D5DB"/>
                </a:solidFill>
                <a:effectLst/>
                <a:latin typeface="Söhne"/>
              </a:rPr>
              <a:t>my_module</a:t>
            </a:r>
            <a:r>
              <a:rPr lang="en-AU" b="0" i="0" dirty="0">
                <a:solidFill>
                  <a:srgbClr val="D1D5DB"/>
                </a:solidFill>
                <a:effectLst/>
                <a:latin typeface="Söhne"/>
              </a:rPr>
              <a:t> import </a:t>
            </a:r>
            <a:r>
              <a:rPr lang="en-AU" b="0" i="0" dirty="0" err="1">
                <a:solidFill>
                  <a:srgbClr val="D1D5DB"/>
                </a:solidFill>
                <a:effectLst/>
                <a:latin typeface="Söhne"/>
              </a:rPr>
              <a:t>hello_world</a:t>
            </a:r>
            <a:r>
              <a:rPr lang="en-AU" b="0" i="0" dirty="0">
                <a:solidFill>
                  <a:srgbClr val="D1D5DB"/>
                </a:solidFill>
                <a:effectLst/>
                <a:latin typeface="Söhne"/>
              </a:rPr>
              <a:t>: This imports only the </a:t>
            </a:r>
            <a:r>
              <a:rPr lang="en-AU" b="0" i="0" dirty="0" err="1">
                <a:solidFill>
                  <a:srgbClr val="D1D5DB"/>
                </a:solidFill>
                <a:effectLst/>
                <a:latin typeface="Söhne"/>
              </a:rPr>
              <a:t>hello_world</a:t>
            </a:r>
            <a:r>
              <a:rPr lang="en-AU" b="0" i="0" dirty="0">
                <a:solidFill>
                  <a:srgbClr val="D1D5DB"/>
                </a:solidFill>
                <a:effectLst/>
                <a:latin typeface="Söhne"/>
              </a:rPr>
              <a:t> function from the module, and we can use it directly like so: </a:t>
            </a:r>
            <a:r>
              <a:rPr lang="en-AU" b="0" i="0" dirty="0" err="1">
                <a:solidFill>
                  <a:srgbClr val="D1D5DB"/>
                </a:solidFill>
                <a:effectLst/>
                <a:latin typeface="Söhne"/>
              </a:rPr>
              <a:t>hello_world</a:t>
            </a:r>
            <a:r>
              <a:rPr lang="en-AU" b="0" i="0" dirty="0">
                <a:solidFill>
                  <a:srgbClr val="D1D5DB"/>
                </a:solidFill>
                <a:effectLst/>
                <a:latin typeface="Söhne"/>
              </a:rPr>
              <a:t>().</a:t>
            </a:r>
          </a:p>
          <a:p>
            <a:pPr algn="l">
              <a:buFont typeface="Arial" panose="020B0604020202020204" pitchFamily="34" charset="0"/>
              <a:buChar char="•"/>
            </a:pPr>
            <a:r>
              <a:rPr lang="en-AU" b="0" i="0" dirty="0">
                <a:solidFill>
                  <a:srgbClr val="D1D5DB"/>
                </a:solidFill>
                <a:effectLst/>
                <a:latin typeface="Söhne"/>
              </a:rPr>
              <a:t>import </a:t>
            </a:r>
            <a:r>
              <a:rPr lang="en-AU" b="0" i="0" dirty="0" err="1">
                <a:solidFill>
                  <a:srgbClr val="D1D5DB"/>
                </a:solidFill>
                <a:effectLst/>
                <a:latin typeface="Söhne"/>
              </a:rPr>
              <a:t>my_module</a:t>
            </a:r>
            <a:r>
              <a:rPr lang="en-AU" b="0" i="0" dirty="0">
                <a:solidFill>
                  <a:srgbClr val="D1D5DB"/>
                </a:solidFill>
                <a:effectLst/>
                <a:latin typeface="Söhne"/>
              </a:rPr>
              <a:t> as mm: This imports the module but gives it a shorter alias, useful for modules with longer names. We can use its functions like so: </a:t>
            </a:r>
            <a:r>
              <a:rPr lang="en-AU" b="0" i="0" dirty="0" err="1">
                <a:solidFill>
                  <a:srgbClr val="D1D5DB"/>
                </a:solidFill>
                <a:effectLst/>
                <a:latin typeface="Söhne"/>
              </a:rPr>
              <a:t>mm.hello_world</a:t>
            </a:r>
            <a:r>
              <a:rPr lang="en-AU" b="0" i="0" dirty="0">
                <a:solidFill>
                  <a:srgbClr val="D1D5DB"/>
                </a:solidFill>
                <a:effectLst/>
                <a:latin typeface="Söhne"/>
              </a:rPr>
              <a:t>().</a:t>
            </a:r>
          </a:p>
          <a:p>
            <a:br>
              <a:rPr lang="en-AU" dirty="0"/>
            </a:br>
            <a:br>
              <a:rPr lang="en-US" dirty="0"/>
            </a:br>
            <a:endParaRPr lang="en-US" dirty="0"/>
          </a:p>
          <a:p>
            <a:pPr marL="171450" indent="-171450">
              <a:buFontTx/>
              <a:buChar char="-"/>
            </a:pPr>
            <a:r>
              <a:rPr lang="en-US" dirty="0"/>
              <a:t>See the GitHub repo for additional exercises</a:t>
            </a:r>
          </a:p>
        </p:txBody>
      </p:sp>
      <p:sp>
        <p:nvSpPr>
          <p:cNvPr id="4" name="Slide Number Placeholder 3"/>
          <p:cNvSpPr>
            <a:spLocks noGrp="1"/>
          </p:cNvSpPr>
          <p:nvPr>
            <p:ph type="sldNum" sz="quarter" idx="5"/>
          </p:nvPr>
        </p:nvSpPr>
        <p:spPr/>
        <p:txBody>
          <a:bodyPr/>
          <a:lstStyle/>
          <a:p>
            <a:fld id="{BA3E024E-F835-6D45-89C3-0E2F93EE799A}" type="slidenum">
              <a:rPr lang="en-US" smtClean="0"/>
              <a:t>6</a:t>
            </a:fld>
            <a:endParaRPr lang="en-US" dirty="0"/>
          </a:p>
        </p:txBody>
      </p:sp>
    </p:spTree>
    <p:extLst>
      <p:ext uri="{BB962C8B-B14F-4D97-AF65-F5344CB8AC3E}">
        <p14:creationId xmlns:p14="http://schemas.microsoft.com/office/powerpoint/2010/main" val="467662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7</a:t>
            </a:fld>
            <a:endParaRPr lang="en-US" dirty="0"/>
          </a:p>
        </p:txBody>
      </p:sp>
    </p:spTree>
    <p:extLst>
      <p:ext uri="{BB962C8B-B14F-4D97-AF65-F5344CB8AC3E}">
        <p14:creationId xmlns:p14="http://schemas.microsoft.com/office/powerpoint/2010/main" val="1179067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AU" dirty="0"/>
              <a:t>Local scope – the scope of the function (function frame)</a:t>
            </a:r>
          </a:p>
          <a:p>
            <a:pPr marL="171450" indent="-171450">
              <a:buFont typeface="Arial" panose="020B0604020202020204" pitchFamily="34" charset="0"/>
              <a:buChar char="•"/>
            </a:pPr>
            <a:r>
              <a:rPr lang="en-AU" dirty="0"/>
              <a:t>Global score – the scope of the entire program (main frame)</a:t>
            </a:r>
          </a:p>
          <a:p>
            <a:pPr marL="171450" indent="-171450">
              <a:buFont typeface="Arial" panose="020B0604020202020204" pitchFamily="34" charset="0"/>
              <a:buChar char="•"/>
            </a:pPr>
            <a:r>
              <a:rPr lang="en-AU" dirty="0"/>
              <a:t>Run the scope example</a:t>
            </a:r>
          </a:p>
        </p:txBody>
      </p:sp>
      <p:sp>
        <p:nvSpPr>
          <p:cNvPr id="4" name="Slide Number Placeholder 3"/>
          <p:cNvSpPr>
            <a:spLocks noGrp="1"/>
          </p:cNvSpPr>
          <p:nvPr>
            <p:ph type="sldNum" sz="quarter" idx="5"/>
          </p:nvPr>
        </p:nvSpPr>
        <p:spPr/>
        <p:txBody>
          <a:bodyPr/>
          <a:lstStyle/>
          <a:p>
            <a:fld id="{BA3E024E-F835-6D45-89C3-0E2F93EE799A}" type="slidenum">
              <a:rPr lang="en-US" smtClean="0"/>
              <a:t>8</a:t>
            </a:fld>
            <a:endParaRPr lang="en-US" dirty="0"/>
          </a:p>
        </p:txBody>
      </p:sp>
    </p:spTree>
    <p:extLst>
      <p:ext uri="{BB962C8B-B14F-4D97-AF65-F5344CB8AC3E}">
        <p14:creationId xmlns:p14="http://schemas.microsoft.com/office/powerpoint/2010/main" val="3099803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AU" dirty="0"/>
              <a:t>Optional – explanation of the call stack &lt;generated by </a:t>
            </a:r>
            <a:r>
              <a:rPr lang="en-AU" dirty="0" err="1"/>
              <a:t>ChatGPT</a:t>
            </a:r>
            <a:r>
              <a:rPr lang="en-AU" dirty="0"/>
              <a:t> 4, and reviewed by Rafael&gt;</a:t>
            </a:r>
            <a:br>
              <a:rPr lang="en-AU" b="0" i="0" dirty="0">
                <a:solidFill>
                  <a:srgbClr val="374151"/>
                </a:solidFill>
                <a:effectLst/>
                <a:latin typeface="Söhne"/>
              </a:rPr>
            </a:br>
            <a:endParaRPr lang="en-AU" b="0" i="0" dirty="0">
              <a:solidFill>
                <a:srgbClr val="374151"/>
              </a:solidFill>
              <a:effectLst/>
              <a:latin typeface="Söhne"/>
            </a:endParaRPr>
          </a:p>
          <a:p>
            <a:pPr marL="171450" indent="-171450">
              <a:buFont typeface="Arial" panose="020B0604020202020204" pitchFamily="34" charset="0"/>
              <a:buChar char="•"/>
            </a:pPr>
            <a:r>
              <a:rPr lang="en-AU" b="0" i="0" dirty="0">
                <a:solidFill>
                  <a:srgbClr val="374151"/>
                </a:solidFill>
                <a:effectLst/>
                <a:latin typeface="Söhne"/>
              </a:rPr>
              <a:t>The call stack is a region of memory that Python uses to keep track of function calls. </a:t>
            </a:r>
          </a:p>
          <a:p>
            <a:pPr marL="171450" indent="-171450">
              <a:buFont typeface="Arial" panose="020B0604020202020204" pitchFamily="34" charset="0"/>
              <a:buChar char="•"/>
            </a:pPr>
            <a:r>
              <a:rPr lang="en-AU" b="0" i="0" dirty="0">
                <a:solidFill>
                  <a:srgbClr val="374151"/>
                </a:solidFill>
                <a:effectLst/>
                <a:latin typeface="Söhne"/>
              </a:rPr>
              <a:t>When a function is called, Python creates a stack frame at the top of the call stack. </a:t>
            </a:r>
          </a:p>
          <a:p>
            <a:pPr marL="171450" indent="-171450">
              <a:buFont typeface="Arial" panose="020B0604020202020204" pitchFamily="34" charset="0"/>
              <a:buChar char="•"/>
            </a:pPr>
            <a:r>
              <a:rPr lang="en-AU" b="0" i="0" dirty="0">
                <a:solidFill>
                  <a:srgbClr val="374151"/>
                </a:solidFill>
                <a:effectLst/>
                <a:latin typeface="Söhne"/>
              </a:rPr>
              <a:t>This stack frame contains all of the variables that are created within that function, as well as some additional information that Python uses to keep track of the function call. </a:t>
            </a:r>
          </a:p>
          <a:p>
            <a:pPr marL="171450" indent="-171450">
              <a:buFont typeface="Arial" panose="020B0604020202020204" pitchFamily="34" charset="0"/>
              <a:buChar char="•"/>
            </a:pPr>
            <a:r>
              <a:rPr lang="en-AU" b="0" i="0" dirty="0">
                <a:solidFill>
                  <a:srgbClr val="374151"/>
                </a:solidFill>
                <a:effectLst/>
                <a:latin typeface="Söhne"/>
              </a:rPr>
              <a:t>When the function returns, its stack frame is removed from the call stack.</a:t>
            </a:r>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9</a:t>
            </a:fld>
            <a:endParaRPr lang="en-US" dirty="0"/>
          </a:p>
        </p:txBody>
      </p:sp>
    </p:spTree>
    <p:extLst>
      <p:ext uri="{BB962C8B-B14F-4D97-AF65-F5344CB8AC3E}">
        <p14:creationId xmlns:p14="http://schemas.microsoft.com/office/powerpoint/2010/main" val="3647498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AU" dirty="0"/>
              <a:t>I</a:t>
            </a:r>
            <a:r>
              <a:rPr lang="en-AU" b="0" i="0" dirty="0">
                <a:solidFill>
                  <a:srgbClr val="374151"/>
                </a:solidFill>
                <a:effectLst/>
                <a:latin typeface="Söhne"/>
              </a:rPr>
              <a:t>n Python, all data is stored as objects in the heap, a region of your computer's memory. </a:t>
            </a:r>
          </a:p>
          <a:p>
            <a:pPr marL="171450" indent="-171450" algn="l">
              <a:buFont typeface="Arial" panose="020B0604020202020204" pitchFamily="34" charset="0"/>
              <a:buChar char="•"/>
            </a:pPr>
            <a:r>
              <a:rPr lang="en-AU" b="0" i="0" dirty="0">
                <a:solidFill>
                  <a:srgbClr val="374151"/>
                </a:solidFill>
                <a:effectLst/>
                <a:latin typeface="Söhne"/>
              </a:rPr>
              <a:t>The heap is not structured; it's more like a big pool of memory that Python can request space from whenever it needs to create a new object.</a:t>
            </a:r>
          </a:p>
          <a:p>
            <a:pPr marL="171450" indent="-171450" algn="l">
              <a:buFont typeface="Arial" panose="020B0604020202020204" pitchFamily="34" charset="0"/>
              <a:buChar char="•"/>
            </a:pPr>
            <a:r>
              <a:rPr lang="en-AU" b="0" i="0" dirty="0">
                <a:solidFill>
                  <a:srgbClr val="374151"/>
                </a:solidFill>
                <a:effectLst/>
                <a:latin typeface="Söhne"/>
              </a:rPr>
              <a:t>When you create a variable, Python creates an object in the heap and then stores a reference to that object in the variable. The variable itself is stored in the call stack.</a:t>
            </a:r>
          </a:p>
          <a:p>
            <a:pPr marL="171450" indent="-171450" algn="l">
              <a:buFont typeface="Arial" panose="020B0604020202020204" pitchFamily="34" charset="0"/>
              <a:buChar char="•"/>
            </a:pPr>
            <a:r>
              <a:rPr lang="en-AU" b="0" i="0" dirty="0">
                <a:solidFill>
                  <a:srgbClr val="374151"/>
                </a:solidFill>
                <a:effectLst/>
                <a:latin typeface="Söhne"/>
              </a:rPr>
              <a:t>The call stack is a region of memory that Python uses to keep track of function calls. </a:t>
            </a:r>
          </a:p>
          <a:p>
            <a:pPr marL="171450" indent="-171450" algn="l">
              <a:buFont typeface="Arial" panose="020B0604020202020204" pitchFamily="34" charset="0"/>
              <a:buChar char="•"/>
            </a:pPr>
            <a:r>
              <a:rPr lang="en-AU" b="0" i="0" dirty="0">
                <a:solidFill>
                  <a:srgbClr val="374151"/>
                </a:solidFill>
                <a:effectLst/>
                <a:latin typeface="Söhne"/>
              </a:rPr>
              <a:t>When a function is called, Python creates a stack frame at the top of the call stack. </a:t>
            </a:r>
          </a:p>
          <a:p>
            <a:pPr marL="171450" indent="-171450" algn="l">
              <a:buFont typeface="Arial" panose="020B0604020202020204" pitchFamily="34" charset="0"/>
              <a:buChar char="•"/>
            </a:pPr>
            <a:r>
              <a:rPr lang="en-AU" b="0" i="0" dirty="0">
                <a:solidFill>
                  <a:srgbClr val="374151"/>
                </a:solidFill>
                <a:effectLst/>
                <a:latin typeface="Söhne"/>
              </a:rPr>
              <a:t>This stack frame contains all of the variables that are created within that function, as well as some additional information that Python uses to keep track of the function call. </a:t>
            </a:r>
          </a:p>
          <a:p>
            <a:pPr marL="171450" indent="-171450" algn="l">
              <a:buFont typeface="Arial" panose="020B0604020202020204" pitchFamily="34" charset="0"/>
              <a:buChar char="•"/>
            </a:pPr>
            <a:r>
              <a:rPr lang="en-AU" b="0" i="0" dirty="0">
                <a:solidFill>
                  <a:srgbClr val="374151"/>
                </a:solidFill>
                <a:effectLst/>
                <a:latin typeface="Söhne"/>
              </a:rPr>
              <a:t>When the function returns, its stack frame is removed from the call stack.</a:t>
            </a:r>
          </a:p>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10</a:t>
            </a:fld>
            <a:endParaRPr lang="en-US" dirty="0"/>
          </a:p>
        </p:txBody>
      </p:sp>
    </p:spTree>
    <p:extLst>
      <p:ext uri="{BB962C8B-B14F-4D97-AF65-F5344CB8AC3E}">
        <p14:creationId xmlns:p14="http://schemas.microsoft.com/office/powerpoint/2010/main" val="2301909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AU" b="0" i="0" dirty="0">
                <a:solidFill>
                  <a:srgbClr val="374151"/>
                </a:solidFill>
                <a:effectLst/>
                <a:latin typeface="Söhne"/>
              </a:rPr>
              <a:t>When you pass a variable to a function in Python, what you're actually passing is the reference to the object in the heap. </a:t>
            </a:r>
          </a:p>
          <a:p>
            <a:pPr marL="171450" indent="-171450" algn="l">
              <a:buFont typeface="Arial" panose="020B0604020202020204" pitchFamily="34" charset="0"/>
              <a:buChar char="•"/>
            </a:pPr>
            <a:r>
              <a:rPr lang="en-AU" b="0" i="0" dirty="0">
                <a:solidFill>
                  <a:srgbClr val="374151"/>
                </a:solidFill>
                <a:effectLst/>
                <a:latin typeface="Söhne"/>
              </a:rPr>
              <a:t>Python stores this reference in the function's stack frame on the call stack. </a:t>
            </a:r>
          </a:p>
          <a:p>
            <a:pPr marL="171450" indent="-171450" algn="l">
              <a:buFont typeface="Arial" panose="020B0604020202020204" pitchFamily="34" charset="0"/>
              <a:buChar char="•"/>
            </a:pPr>
            <a:r>
              <a:rPr lang="en-AU" b="0" i="0" dirty="0">
                <a:solidFill>
                  <a:srgbClr val="374151"/>
                </a:solidFill>
                <a:effectLst/>
                <a:latin typeface="Söhne"/>
              </a:rPr>
              <a:t>If the object is mutable, the function can use this reference to modify the object in the heap. </a:t>
            </a:r>
          </a:p>
          <a:p>
            <a:pPr marL="171450" indent="-171450" algn="l">
              <a:buFont typeface="Arial" panose="020B0604020202020204" pitchFamily="34" charset="0"/>
              <a:buChar char="•"/>
            </a:pPr>
            <a:r>
              <a:rPr lang="en-AU" b="0" i="0" dirty="0">
                <a:solidFill>
                  <a:srgbClr val="374151"/>
                </a:solidFill>
                <a:effectLst/>
                <a:latin typeface="Söhne"/>
              </a:rPr>
              <a:t>However, the function can't change the object that the original variable refers to, because the function only has a copy of the reference, not the original reference itself.</a:t>
            </a:r>
          </a:p>
          <a:p>
            <a:pPr marL="171450" indent="-171450" algn="l">
              <a:buFont typeface="Arial" panose="020B0604020202020204" pitchFamily="34" charset="0"/>
              <a:buChar char="•"/>
            </a:pPr>
            <a:r>
              <a:rPr lang="en-AU" b="0" i="0" dirty="0">
                <a:solidFill>
                  <a:srgbClr val="374151"/>
                </a:solidFill>
                <a:effectLst/>
                <a:latin typeface="Söhne"/>
              </a:rPr>
              <a:t>This is why changes to mutable objects (like lists or dictionaries) within a function are visible outside the function, but reassignments of a variable within a function don't affect the original variable outside the function.</a:t>
            </a:r>
          </a:p>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11</a:t>
            </a:fld>
            <a:endParaRPr lang="en-US" dirty="0"/>
          </a:p>
        </p:txBody>
      </p:sp>
    </p:spTree>
    <p:extLst>
      <p:ext uri="{BB962C8B-B14F-4D97-AF65-F5344CB8AC3E}">
        <p14:creationId xmlns:p14="http://schemas.microsoft.com/office/powerpoint/2010/main" val="1687235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12</a:t>
            </a:fld>
            <a:endParaRPr lang="en-US" dirty="0"/>
          </a:p>
        </p:txBody>
      </p:sp>
    </p:spTree>
    <p:extLst>
      <p:ext uri="{BB962C8B-B14F-4D97-AF65-F5344CB8AC3E}">
        <p14:creationId xmlns:p14="http://schemas.microsoft.com/office/powerpoint/2010/main" val="3700962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AU" b="0" i="0" dirty="0">
                <a:solidFill>
                  <a:srgbClr val="D1D5DB"/>
                </a:solidFill>
                <a:effectLst/>
                <a:latin typeface="Söhne"/>
              </a:rPr>
              <a:t>Python's parameter passing model is a bit different from some other programming languages. </a:t>
            </a:r>
          </a:p>
          <a:p>
            <a:pPr marL="171450" indent="-171450" algn="l">
              <a:buFont typeface="Arial" panose="020B0604020202020204" pitchFamily="34" charset="0"/>
              <a:buChar char="•"/>
            </a:pPr>
            <a:r>
              <a:rPr lang="en-AU" b="0" i="0" dirty="0">
                <a:solidFill>
                  <a:srgbClr val="D1D5DB"/>
                </a:solidFill>
                <a:effectLst/>
                <a:latin typeface="Söhne"/>
              </a:rPr>
              <a:t>It's often characterised as "pass-by-object-reference" or "pass-by-assignment". </a:t>
            </a:r>
          </a:p>
          <a:p>
            <a:pPr marL="171450" indent="-171450" algn="l">
              <a:buFont typeface="Arial" panose="020B0604020202020204" pitchFamily="34" charset="0"/>
              <a:buChar char="•"/>
            </a:pPr>
            <a:r>
              <a:rPr lang="en-AU" b="0" i="0" dirty="0">
                <a:solidFill>
                  <a:srgbClr val="D1D5DB"/>
                </a:solidFill>
                <a:effectLst/>
                <a:latin typeface="Söhne"/>
              </a:rPr>
              <a:t>Essentially, when you pass a variable to a function in Python, you're passing a reference to the object that the variable refers to, not the actual object itself.</a:t>
            </a:r>
          </a:p>
          <a:p>
            <a:pPr marL="171450" indent="-171450" algn="l">
              <a:buFont typeface="Arial" panose="020B0604020202020204" pitchFamily="34" charset="0"/>
              <a:buChar char="•"/>
            </a:pPr>
            <a:r>
              <a:rPr lang="en-AU" b="0" i="0" dirty="0">
                <a:solidFill>
                  <a:srgbClr val="D1D5DB"/>
                </a:solidFill>
                <a:effectLst/>
                <a:latin typeface="Söhne"/>
              </a:rPr>
              <a:t>To understand this, it's essential to understand that in Python, everything is an object. </a:t>
            </a:r>
          </a:p>
          <a:p>
            <a:pPr marL="171450" indent="-171450" algn="l">
              <a:buFont typeface="Arial" panose="020B0604020202020204" pitchFamily="34" charset="0"/>
              <a:buChar char="•"/>
            </a:pPr>
            <a:r>
              <a:rPr lang="en-AU" b="0" i="0" dirty="0">
                <a:solidFill>
                  <a:srgbClr val="D1D5DB"/>
                </a:solidFill>
                <a:effectLst/>
                <a:latin typeface="Söhne"/>
              </a:rPr>
              <a:t>Whether it's a number, a string, a list, or a custom class - they're all objects. And variables in Python are references to these objects.</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14</a:t>
            </a:fld>
            <a:endParaRPr lang="en-US" dirty="0"/>
          </a:p>
        </p:txBody>
      </p:sp>
    </p:spTree>
    <p:extLst>
      <p:ext uri="{BB962C8B-B14F-4D97-AF65-F5344CB8AC3E}">
        <p14:creationId xmlns:p14="http://schemas.microsoft.com/office/powerpoint/2010/main" val="2062147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AU" b="0" i="0" dirty="0">
                <a:solidFill>
                  <a:srgbClr val="D1D5DB"/>
                </a:solidFill>
                <a:effectLst/>
                <a:latin typeface="Söhne"/>
              </a:rPr>
              <a:t>When you pass a variable to a function, Python passes the reference to the function. </a:t>
            </a:r>
          </a:p>
          <a:p>
            <a:pPr marL="171450" indent="-171450" algn="l">
              <a:buFont typeface="Arial" panose="020B0604020202020204" pitchFamily="34" charset="0"/>
              <a:buChar char="•"/>
            </a:pPr>
            <a:r>
              <a:rPr lang="en-AU" b="0" i="0" dirty="0">
                <a:solidFill>
                  <a:srgbClr val="D1D5DB"/>
                </a:solidFill>
                <a:effectLst/>
                <a:latin typeface="Söhne"/>
              </a:rPr>
              <a:t>Therefore, if the object is mutable (like lists or dictionaries), the function can modify the object, and the changes are visible outside the function. </a:t>
            </a:r>
          </a:p>
          <a:p>
            <a:pPr marL="171450" indent="-171450" algn="l">
              <a:buFont typeface="Arial" panose="020B0604020202020204" pitchFamily="34" charset="0"/>
              <a:buChar char="•"/>
            </a:pPr>
            <a:r>
              <a:rPr lang="en-AU" b="0" i="0" dirty="0">
                <a:solidFill>
                  <a:srgbClr val="D1D5DB"/>
                </a:solidFill>
                <a:effectLst/>
                <a:latin typeface="Söhne"/>
              </a:rPr>
              <a:t>This is because the function and the calling code are both referencing the same object.</a:t>
            </a:r>
          </a:p>
          <a:p>
            <a:pPr marL="171450" indent="-171450" algn="l">
              <a:buFont typeface="Arial" panose="020B0604020202020204" pitchFamily="34" charset="0"/>
              <a:buChar char="•"/>
            </a:pPr>
            <a:r>
              <a:rPr lang="en-AU" b="0" i="0" dirty="0">
                <a:solidFill>
                  <a:srgbClr val="D1D5DB"/>
                </a:solidFill>
                <a:effectLst/>
                <a:latin typeface="Söhne"/>
              </a:rPr>
              <a:t>However, if the object is immutable (like integers or strings), the function cannot modify the object. </a:t>
            </a:r>
          </a:p>
          <a:p>
            <a:pPr marL="171450" indent="-171450" algn="l">
              <a:buFont typeface="Arial" panose="020B0604020202020204" pitchFamily="34" charset="0"/>
              <a:buChar char="•"/>
            </a:pPr>
            <a:r>
              <a:rPr lang="en-AU" b="0" i="0" dirty="0">
                <a:solidFill>
                  <a:srgbClr val="D1D5DB"/>
                </a:solidFill>
                <a:effectLst/>
                <a:latin typeface="Söhne"/>
              </a:rPr>
              <a:t>Any changes made inside the function will create a new object, and the variable in the calling code will continue to reference the original object.</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15</a:t>
            </a:fld>
            <a:endParaRPr lang="en-US" dirty="0"/>
          </a:p>
        </p:txBody>
      </p:sp>
    </p:spTree>
    <p:extLst>
      <p:ext uri="{BB962C8B-B14F-4D97-AF65-F5344CB8AC3E}">
        <p14:creationId xmlns:p14="http://schemas.microsoft.com/office/powerpoint/2010/main" val="22822044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AU" b="0" i="0" dirty="0">
                <a:solidFill>
                  <a:srgbClr val="D1D5DB"/>
                </a:solidFill>
                <a:effectLst/>
                <a:latin typeface="Söhne"/>
              </a:rPr>
              <a:t>In this example, n is an integer (an immutable object), so the change inside the modify function doesn't affect the original variable. However, list_ is a list (a mutable object), so the change inside the function is visible outside the function.</a:t>
            </a:r>
          </a:p>
          <a:p>
            <a:pPr marL="171450" indent="-171450" algn="l">
              <a:buFont typeface="Arial" panose="020B0604020202020204" pitchFamily="34" charset="0"/>
              <a:buChar char="•"/>
            </a:pPr>
            <a:r>
              <a:rPr lang="en-AU" b="0" i="0" dirty="0">
                <a:solidFill>
                  <a:srgbClr val="D1D5DB"/>
                </a:solidFill>
                <a:effectLst/>
                <a:latin typeface="Söhne"/>
              </a:rPr>
              <a:t>Now, comparing Python with a lower-level language like C, in C, we explicitly have two distinct modes of passing parameters: pass-by-value and pass-by-reference.</a:t>
            </a:r>
          </a:p>
          <a:p>
            <a:pPr marL="171450" indent="-171450" algn="l">
              <a:buFont typeface="Arial" panose="020B0604020202020204" pitchFamily="34" charset="0"/>
              <a:buChar char="•"/>
            </a:pPr>
            <a:r>
              <a:rPr lang="en-AU" b="0" i="0" dirty="0">
                <a:solidFill>
                  <a:srgbClr val="D1D5DB"/>
                </a:solidFill>
                <a:effectLst/>
                <a:latin typeface="Söhne"/>
              </a:rPr>
              <a:t>In pass-by-value (the default in C), a copy of the value is made and passed to the function. Changes to the copy inside the function do not affect the original variable.</a:t>
            </a:r>
          </a:p>
          <a:p>
            <a:pPr marL="171450" indent="-171450" algn="l">
              <a:buFont typeface="Arial" panose="020B0604020202020204" pitchFamily="34" charset="0"/>
              <a:buChar char="•"/>
            </a:pPr>
            <a:r>
              <a:rPr lang="en-AU" b="0" i="0" dirty="0">
                <a:solidFill>
                  <a:srgbClr val="D1D5DB"/>
                </a:solidFill>
                <a:effectLst/>
                <a:latin typeface="Söhne"/>
              </a:rPr>
              <a:t>In pass-by-reference, a pointer to the original variable is passed to the function. Changes to the variable inside the function do affect the original variable. This is somewhat analogous to passing mutable objects in Python.</a:t>
            </a:r>
          </a:p>
          <a:p>
            <a:pPr marL="171450" indent="-171450" algn="l">
              <a:buFont typeface="Arial" panose="020B0604020202020204" pitchFamily="34" charset="0"/>
              <a:buChar char="•"/>
            </a:pPr>
            <a:r>
              <a:rPr lang="en-AU" b="0" i="0" dirty="0">
                <a:solidFill>
                  <a:srgbClr val="D1D5DB"/>
                </a:solidFill>
                <a:effectLst/>
                <a:latin typeface="Söhne"/>
              </a:rPr>
              <a:t>However, Python's model isn't exactly like C's pass-by-reference, because you can't directly change the value of a passed variable (like you could with a dereferenced pointer in C). It's more accurate to say Python has a single way of passing variables that behaves somewhat like pass-by-value for immutable objects, and somewhat like pass-by-reference for mutable objects.</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16</a:t>
            </a:fld>
            <a:endParaRPr lang="en-US" dirty="0"/>
          </a:p>
        </p:txBody>
      </p:sp>
    </p:spTree>
    <p:extLst>
      <p:ext uri="{BB962C8B-B14F-4D97-AF65-F5344CB8AC3E}">
        <p14:creationId xmlns:p14="http://schemas.microsoft.com/office/powerpoint/2010/main" val="24128124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17</a:t>
            </a:fld>
            <a:endParaRPr lang="en-US" dirty="0"/>
          </a:p>
        </p:txBody>
      </p:sp>
    </p:spTree>
    <p:extLst>
      <p:ext uri="{BB962C8B-B14F-4D97-AF65-F5344CB8AC3E}">
        <p14:creationId xmlns:p14="http://schemas.microsoft.com/office/powerpoint/2010/main" val="1839305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First line in the function modifies the list object</a:t>
            </a:r>
          </a:p>
          <a:p>
            <a:pPr marL="171450" indent="-171450">
              <a:buFont typeface="Arial" panose="020B0604020202020204" pitchFamily="34" charset="0"/>
              <a:buChar char="•"/>
            </a:pPr>
            <a:r>
              <a:rPr lang="en-US" dirty="0"/>
              <a:t>next line assigns a new memory address to the local variable list_ so the changes on the first line will be reflected in the original items list, </a:t>
            </a:r>
          </a:p>
          <a:p>
            <a:pPr marL="171450" indent="-171450">
              <a:buFont typeface="Arial" panose="020B0604020202020204" pitchFamily="34" charset="0"/>
              <a:buChar char="•"/>
            </a:pPr>
            <a:r>
              <a:rPr lang="en-US" dirty="0"/>
              <a:t>the second line will only have a reference in the function and will soon be garbage-collected.</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18</a:t>
            </a:fld>
            <a:endParaRPr lang="en-US" dirty="0"/>
          </a:p>
        </p:txBody>
      </p:sp>
    </p:spTree>
    <p:extLst>
      <p:ext uri="{BB962C8B-B14F-4D97-AF65-F5344CB8AC3E}">
        <p14:creationId xmlns:p14="http://schemas.microsoft.com/office/powerpoint/2010/main" val="11113723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2AEEE-4939-A17A-1EE0-9854C86AA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3F169-4D2F-ABE0-EB2C-A9D16FF1C5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8B399B-8C72-4E63-5098-8109AB1A5FED}"/>
              </a:ext>
            </a:extLst>
          </p:cNvPr>
          <p:cNvSpPr>
            <a:spLocks noGrp="1"/>
          </p:cNvSpPr>
          <p:nvPr>
            <p:ph type="body" idx="1"/>
          </p:nvPr>
        </p:nvSpPr>
        <p:spPr/>
        <p:txBody>
          <a:bodyPr/>
          <a:lstStyle/>
          <a:p>
            <a:pPr marL="171450" indent="-171450" algn="l">
              <a:buFont typeface="Arial" panose="020B0604020202020204" pitchFamily="34" charset="0"/>
              <a:buChar char="•"/>
            </a:pPr>
            <a:r>
              <a:rPr lang="en-AU" b="0" i="0" dirty="0">
                <a:solidFill>
                  <a:srgbClr val="D1D5DB"/>
                </a:solidFill>
                <a:effectLst/>
                <a:latin typeface="Söhne"/>
              </a:rPr>
              <a:t>When you pass a variable to a function, Python passes the reference to the function. </a:t>
            </a:r>
          </a:p>
          <a:p>
            <a:pPr marL="171450" indent="-171450" algn="l">
              <a:buFont typeface="Arial" panose="020B0604020202020204" pitchFamily="34" charset="0"/>
              <a:buChar char="•"/>
            </a:pPr>
            <a:r>
              <a:rPr lang="en-AU" b="0" i="0" dirty="0">
                <a:solidFill>
                  <a:srgbClr val="D1D5DB"/>
                </a:solidFill>
                <a:effectLst/>
                <a:latin typeface="Söhne"/>
              </a:rPr>
              <a:t>Therefore, if the object is mutable (like lists or dictionaries), the function can modify the object, and the changes are visible outside the function. </a:t>
            </a:r>
          </a:p>
          <a:p>
            <a:pPr marL="171450" indent="-171450" algn="l">
              <a:buFont typeface="Arial" panose="020B0604020202020204" pitchFamily="34" charset="0"/>
              <a:buChar char="•"/>
            </a:pPr>
            <a:r>
              <a:rPr lang="en-AU" b="0" i="0" dirty="0">
                <a:solidFill>
                  <a:srgbClr val="D1D5DB"/>
                </a:solidFill>
                <a:effectLst/>
                <a:latin typeface="Söhne"/>
              </a:rPr>
              <a:t>This is because the function and the calling code are both referencing the same object.</a:t>
            </a:r>
          </a:p>
          <a:p>
            <a:pPr marL="171450" indent="-171450" algn="l">
              <a:buFont typeface="Arial" panose="020B0604020202020204" pitchFamily="34" charset="0"/>
              <a:buChar char="•"/>
            </a:pPr>
            <a:r>
              <a:rPr lang="en-AU" b="0" i="0" dirty="0">
                <a:solidFill>
                  <a:srgbClr val="D1D5DB"/>
                </a:solidFill>
                <a:effectLst/>
                <a:latin typeface="Söhne"/>
              </a:rPr>
              <a:t>However, if the object is immutable (like integers or strings), the function cannot modify the object. </a:t>
            </a:r>
          </a:p>
          <a:p>
            <a:pPr marL="171450" indent="-171450" algn="l">
              <a:buFont typeface="Arial" panose="020B0604020202020204" pitchFamily="34" charset="0"/>
              <a:buChar char="•"/>
            </a:pPr>
            <a:r>
              <a:rPr lang="en-AU" b="0" i="0" dirty="0">
                <a:solidFill>
                  <a:srgbClr val="D1D5DB"/>
                </a:solidFill>
                <a:effectLst/>
                <a:latin typeface="Söhne"/>
              </a:rPr>
              <a:t>Any changes made inside the function will create a new object, and the variable in the calling code will continue to reference the original object.</a:t>
            </a:r>
          </a:p>
          <a:p>
            <a:endParaRPr lang="en-US" dirty="0"/>
          </a:p>
        </p:txBody>
      </p:sp>
      <p:sp>
        <p:nvSpPr>
          <p:cNvPr id="4" name="Slide Number Placeholder 3">
            <a:extLst>
              <a:ext uri="{FF2B5EF4-FFF2-40B4-BE49-F238E27FC236}">
                <a16:creationId xmlns:a16="http://schemas.microsoft.com/office/drawing/2014/main" id="{88BF9AE3-C55E-155D-7A51-54E5494890A7}"/>
              </a:ext>
            </a:extLst>
          </p:cNvPr>
          <p:cNvSpPr>
            <a:spLocks noGrp="1"/>
          </p:cNvSpPr>
          <p:nvPr>
            <p:ph type="sldNum" sz="quarter" idx="5"/>
          </p:nvPr>
        </p:nvSpPr>
        <p:spPr/>
        <p:txBody>
          <a:bodyPr/>
          <a:lstStyle/>
          <a:p>
            <a:fld id="{BA3E024E-F835-6D45-89C3-0E2F93EE799A}" type="slidenum">
              <a:rPr lang="en-US" smtClean="0"/>
              <a:t>19</a:t>
            </a:fld>
            <a:endParaRPr lang="en-US" dirty="0"/>
          </a:p>
        </p:txBody>
      </p:sp>
    </p:spTree>
    <p:extLst>
      <p:ext uri="{BB962C8B-B14F-4D97-AF65-F5344CB8AC3E}">
        <p14:creationId xmlns:p14="http://schemas.microsoft.com/office/powerpoint/2010/main" val="31485554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52EF8-4CC5-6ADA-D2D8-A2C09EA4BC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C97B4-8F2F-08E3-BA3F-1160E78E8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595BB0-0B18-E150-B8AC-B83AC0CB89C8}"/>
              </a:ext>
            </a:extLst>
          </p:cNvPr>
          <p:cNvSpPr>
            <a:spLocks noGrp="1"/>
          </p:cNvSpPr>
          <p:nvPr>
            <p:ph type="body" idx="1"/>
          </p:nvPr>
        </p:nvSpPr>
        <p:spPr/>
        <p:txBody>
          <a:bodyPr/>
          <a:lstStyle/>
          <a:p>
            <a:pPr marL="171450" indent="-171450" algn="l">
              <a:buFont typeface="Arial" panose="020B0604020202020204" pitchFamily="34" charset="0"/>
              <a:buChar char="•"/>
            </a:pPr>
            <a:r>
              <a:rPr lang="en-AU" b="0" i="0" dirty="0">
                <a:solidFill>
                  <a:srgbClr val="374151"/>
                </a:solidFill>
                <a:effectLst/>
                <a:latin typeface="Söhne"/>
              </a:rPr>
              <a:t>Python uses a mechanism called "pass-by-object-reference." </a:t>
            </a:r>
          </a:p>
          <a:p>
            <a:pPr marL="171450" indent="-171450" algn="l">
              <a:buFont typeface="Arial" panose="020B0604020202020204" pitchFamily="34" charset="0"/>
              <a:buChar char="•"/>
            </a:pPr>
            <a:r>
              <a:rPr lang="en-AU" b="0" i="0" dirty="0">
                <a:solidFill>
                  <a:srgbClr val="374151"/>
                </a:solidFill>
                <a:effectLst/>
                <a:latin typeface="Söhne"/>
              </a:rPr>
              <a:t>When you pass a variable to a function in Python, you are passing a reference to the object the variable refers to, not the variable itself. </a:t>
            </a:r>
          </a:p>
          <a:p>
            <a:pPr marL="171450" indent="-171450" algn="l">
              <a:buFont typeface="Arial" panose="020B0604020202020204" pitchFamily="34" charset="0"/>
              <a:buChar char="•"/>
            </a:pPr>
            <a:r>
              <a:rPr lang="en-AU" b="0" i="0" dirty="0">
                <a:solidFill>
                  <a:srgbClr val="374151"/>
                </a:solidFill>
                <a:effectLst/>
                <a:latin typeface="Söhne"/>
              </a:rPr>
              <a:t>This can lead to confusion because it might seem like pass-by-reference, but there's a subtle difference.</a:t>
            </a:r>
          </a:p>
          <a:p>
            <a:pPr marL="171450" indent="-171450" algn="l">
              <a:buFont typeface="Arial" panose="020B0604020202020204" pitchFamily="34" charset="0"/>
              <a:buChar char="•"/>
            </a:pPr>
            <a:r>
              <a:rPr lang="en-AU" b="0" i="0" dirty="0">
                <a:solidFill>
                  <a:srgbClr val="374151"/>
                </a:solidFill>
                <a:effectLst/>
                <a:latin typeface="Söhne"/>
              </a:rPr>
              <a:t>When you reassign the variable inside a function, it only modifies the local reference, not the original reference outside the function. </a:t>
            </a:r>
          </a:p>
          <a:p>
            <a:pPr marL="171450" indent="-171450" algn="l">
              <a:buFont typeface="Arial" panose="020B0604020202020204" pitchFamily="34" charset="0"/>
              <a:buChar char="•"/>
            </a:pPr>
            <a:r>
              <a:rPr lang="en-AU" b="0" i="0" dirty="0">
                <a:solidFill>
                  <a:srgbClr val="374151"/>
                </a:solidFill>
                <a:effectLst/>
                <a:latin typeface="Söhne"/>
              </a:rPr>
              <a:t>However, if you modify the mutable object itself (like a list or dictionary), the changes will be visible outside the function.</a:t>
            </a:r>
          </a:p>
          <a:p>
            <a:endParaRPr lang="en-US" dirty="0"/>
          </a:p>
        </p:txBody>
      </p:sp>
      <p:sp>
        <p:nvSpPr>
          <p:cNvPr id="4" name="Slide Number Placeholder 3">
            <a:extLst>
              <a:ext uri="{FF2B5EF4-FFF2-40B4-BE49-F238E27FC236}">
                <a16:creationId xmlns:a16="http://schemas.microsoft.com/office/drawing/2014/main" id="{DA0AC0DF-EBEC-F90C-695B-E94FD5D53920}"/>
              </a:ext>
            </a:extLst>
          </p:cNvPr>
          <p:cNvSpPr>
            <a:spLocks noGrp="1"/>
          </p:cNvSpPr>
          <p:nvPr>
            <p:ph type="sldNum" sz="quarter" idx="5"/>
          </p:nvPr>
        </p:nvSpPr>
        <p:spPr/>
        <p:txBody>
          <a:bodyPr/>
          <a:lstStyle/>
          <a:p>
            <a:fld id="{BA3E024E-F835-6D45-89C3-0E2F93EE799A}" type="slidenum">
              <a:rPr lang="en-US" smtClean="0"/>
              <a:t>20</a:t>
            </a:fld>
            <a:endParaRPr lang="en-US" dirty="0"/>
          </a:p>
        </p:txBody>
      </p:sp>
    </p:spTree>
    <p:extLst>
      <p:ext uri="{BB962C8B-B14F-4D97-AF65-F5344CB8AC3E}">
        <p14:creationId xmlns:p14="http://schemas.microsoft.com/office/powerpoint/2010/main" val="3496312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21</a:t>
            </a:fld>
            <a:endParaRPr lang="en-US" dirty="0"/>
          </a:p>
        </p:txBody>
      </p:sp>
    </p:spTree>
    <p:extLst>
      <p:ext uri="{BB962C8B-B14F-4D97-AF65-F5344CB8AC3E}">
        <p14:creationId xmlns:p14="http://schemas.microsoft.com/office/powerpoint/2010/main" val="42116114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22</a:t>
            </a:fld>
            <a:endParaRPr lang="en-US" dirty="0"/>
          </a:p>
        </p:txBody>
      </p:sp>
    </p:spTree>
    <p:extLst>
      <p:ext uri="{BB962C8B-B14F-4D97-AF65-F5344CB8AC3E}">
        <p14:creationId xmlns:p14="http://schemas.microsoft.com/office/powerpoint/2010/main" val="686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23</a:t>
            </a:fld>
            <a:endParaRPr lang="en-US" dirty="0"/>
          </a:p>
        </p:txBody>
      </p:sp>
    </p:spTree>
    <p:extLst>
      <p:ext uri="{BB962C8B-B14F-4D97-AF65-F5344CB8AC3E}">
        <p14:creationId xmlns:p14="http://schemas.microsoft.com/office/powerpoint/2010/main" val="2058089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1" name="Rounded Rectangle 10"/>
          <p:cNvSpPr/>
          <p:nvPr userDrawn="1"/>
        </p:nvSpPr>
        <p:spPr>
          <a:xfrm>
            <a:off x="920424" y="691642"/>
            <a:ext cx="10360351" cy="5616575"/>
          </a:xfrm>
          <a:prstGeom prst="roundRect">
            <a:avLst>
              <a:gd name="adj" fmla="val 766"/>
            </a:avLst>
          </a:prstGeom>
          <a:solidFill>
            <a:srgbClr val="D81C24">
              <a:alpha val="14902"/>
            </a:srgbClr>
          </a:solidFill>
          <a:ln>
            <a:solidFill>
              <a:srgbClr val="D8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600">
              <a:latin typeface="+mj-lt"/>
            </a:endParaRPr>
          </a:p>
        </p:txBody>
      </p:sp>
      <p:sp>
        <p:nvSpPr>
          <p:cNvPr id="4" name="Date Placeholder 3"/>
          <p:cNvSpPr>
            <a:spLocks noGrp="1"/>
          </p:cNvSpPr>
          <p:nvPr>
            <p:ph type="dt" sz="half" idx="10"/>
          </p:nvPr>
        </p:nvSpPr>
        <p:spPr/>
        <p:txBody>
          <a:bodyPr/>
          <a:lstStyle/>
          <a:p>
            <a:fld id="{56F489C6-6277-454E-AECF-6C3872A9450F}" type="datetimeFigureOut">
              <a:rPr lang="en-US" smtClean="0"/>
              <a:t>2/11/25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2" name="Title 1"/>
          <p:cNvSpPr>
            <a:spLocks noGrp="1"/>
          </p:cNvSpPr>
          <p:nvPr>
            <p:ph type="ctrTitle" hasCustomPrompt="1"/>
          </p:nvPr>
        </p:nvSpPr>
        <p:spPr>
          <a:xfrm>
            <a:off x="1051133" y="1293778"/>
            <a:ext cx="10084038" cy="1396829"/>
          </a:xfrm>
          <a:prstGeom prst="rect">
            <a:avLst/>
          </a:prstGeom>
          <a:noFill/>
        </p:spPr>
        <p:txBody>
          <a:bodyPr anchor="t"/>
          <a:lstStyle>
            <a:lvl1pPr>
              <a:defRPr>
                <a:solidFill>
                  <a:schemeClr val="bg1">
                    <a:lumMod val="95000"/>
                  </a:schemeClr>
                </a:solidFill>
                <a:latin typeface="+mj-lt"/>
              </a:defRPr>
            </a:lvl1pPr>
          </a:lstStyle>
          <a:p>
            <a:r>
              <a:rPr lang="en-AU" noProof="0" dirty="0"/>
              <a:t>Session/Presentation Title</a:t>
            </a:r>
          </a:p>
        </p:txBody>
      </p:sp>
      <p:sp>
        <p:nvSpPr>
          <p:cNvPr id="10" name="Table Placeholder 9"/>
          <p:cNvSpPr>
            <a:spLocks noGrp="1"/>
          </p:cNvSpPr>
          <p:nvPr>
            <p:ph type="tbl" sz="quarter" idx="13" hasCustomPrompt="1"/>
          </p:nvPr>
        </p:nvSpPr>
        <p:spPr>
          <a:xfrm>
            <a:off x="1051131" y="4732016"/>
            <a:ext cx="10084039" cy="1450021"/>
          </a:xfrm>
          <a:noFill/>
        </p:spPr>
        <p:txBody>
          <a:bodyPr anchor="t">
            <a:normAutofit/>
          </a:bodyPr>
          <a:lstStyle>
            <a:lvl1pPr marL="0" indent="0">
              <a:buNone/>
              <a:defRPr sz="1400" baseline="0">
                <a:solidFill>
                  <a:schemeClr val="bg1">
                    <a:lumMod val="75000"/>
                  </a:schemeClr>
                </a:solidFill>
                <a:latin typeface="+mj-lt"/>
              </a:defRPr>
            </a:lvl1pPr>
          </a:lstStyle>
          <a:p>
            <a:r>
              <a:rPr lang="en-AU" dirty="0"/>
              <a:t>Replace this with a table of units – 2 columns – National ID and Title</a:t>
            </a:r>
          </a:p>
        </p:txBody>
      </p:sp>
      <p:sp>
        <p:nvSpPr>
          <p:cNvPr id="12" name="Text Placeholder 11"/>
          <p:cNvSpPr>
            <a:spLocks noGrp="1"/>
          </p:cNvSpPr>
          <p:nvPr>
            <p:ph type="body" sz="quarter" idx="14" hasCustomPrompt="1"/>
          </p:nvPr>
        </p:nvSpPr>
        <p:spPr>
          <a:xfrm>
            <a:off x="1051132" y="819761"/>
            <a:ext cx="10084039" cy="341659"/>
          </a:xfrm>
          <a:noFill/>
        </p:spPr>
        <p:txBody>
          <a:bodyPr anchor="ctr">
            <a:noAutofit/>
          </a:bodyPr>
          <a:lstStyle>
            <a:lvl1pPr marL="0" indent="0" algn="l">
              <a:buNone/>
              <a:defRPr sz="1800" baseline="0">
                <a:solidFill>
                  <a:schemeClr val="bg1">
                    <a:lumMod val="75000"/>
                  </a:schemeClr>
                </a:solidFill>
                <a:latin typeface="+mj-lt"/>
              </a:defRPr>
            </a:lvl1pPr>
          </a:lstStyle>
          <a:p>
            <a:pPr lvl="0"/>
            <a:r>
              <a:rPr lang="en-AU" dirty="0"/>
              <a:t>Week/Session 00</a:t>
            </a:r>
          </a:p>
        </p:txBody>
      </p:sp>
      <p:sp>
        <p:nvSpPr>
          <p:cNvPr id="8" name="Text Placeholder 7"/>
          <p:cNvSpPr>
            <a:spLocks noGrp="1"/>
          </p:cNvSpPr>
          <p:nvPr>
            <p:ph type="body" sz="quarter" idx="15" hasCustomPrompt="1"/>
          </p:nvPr>
        </p:nvSpPr>
        <p:spPr>
          <a:xfrm>
            <a:off x="1051130" y="4211303"/>
            <a:ext cx="10084038" cy="428986"/>
          </a:xfrm>
          <a:noFill/>
        </p:spPr>
        <p:txBody>
          <a:bodyPr vert="horz" lIns="91440" tIns="45720" rIns="91440" bIns="4572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AU" sz="1600" b="0" dirty="0">
                <a:solidFill>
                  <a:schemeClr val="bg1">
                    <a:lumMod val="95000"/>
                  </a:schemeClr>
                </a:solidFill>
                <a:latin typeface="+mj-l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noProof="0" dirty="0"/>
              <a:t>Cluster Name</a:t>
            </a:r>
            <a:endParaRPr lang="en-AU" dirty="0"/>
          </a:p>
        </p:txBody>
      </p:sp>
      <p:sp>
        <p:nvSpPr>
          <p:cNvPr id="9" name="TextBox 8"/>
          <p:cNvSpPr txBox="1"/>
          <p:nvPr userDrawn="1"/>
        </p:nvSpPr>
        <p:spPr>
          <a:xfrm>
            <a:off x="1051132" y="2852738"/>
            <a:ext cx="1871530" cy="572303"/>
          </a:xfrm>
          <a:prstGeom prst="rect">
            <a:avLst/>
          </a:prstGeom>
          <a:noFill/>
        </p:spPr>
        <p:txBody>
          <a:bodyPr vert="horz" lIns="91440" tIns="45720" rIns="91440" bIns="45720" rtlCol="0" anchor="ctr">
            <a:noAutofit/>
          </a:bodyPr>
          <a:lstStyle>
            <a:lvl1pPr indent="0">
              <a:spcBef>
                <a:spcPct val="20000"/>
              </a:spcBef>
              <a:buFont typeface="Arial"/>
              <a:buNone/>
              <a:defRPr sz="2800" baseline="0">
                <a:solidFill>
                  <a:schemeClr val="bg1">
                    <a:lumMod val="75000"/>
                  </a:schemeClr>
                </a:solidFill>
              </a:defRPr>
            </a:lvl1pPr>
            <a:lvl2pPr indent="0" algn="ctr">
              <a:spcBef>
                <a:spcPct val="20000"/>
              </a:spcBef>
              <a:buFont typeface="Arial"/>
              <a:buNone/>
              <a:defRPr sz="2800" baseline="0">
                <a:solidFill>
                  <a:schemeClr val="tx1">
                    <a:tint val="75000"/>
                  </a:schemeClr>
                </a:solidFill>
              </a:defRPr>
            </a:lvl2pPr>
            <a:lvl3pPr indent="0" algn="ctr">
              <a:spcBef>
                <a:spcPct val="20000"/>
              </a:spcBef>
              <a:buFont typeface="Arial"/>
              <a:buNone/>
              <a:defRPr sz="2400" baseline="0">
                <a:solidFill>
                  <a:schemeClr val="tx1">
                    <a:tint val="75000"/>
                  </a:schemeClr>
                </a:solidFill>
              </a:defRPr>
            </a:lvl3pPr>
            <a:lvl4pPr indent="0" algn="ctr">
              <a:spcBef>
                <a:spcPct val="20000"/>
              </a:spcBef>
              <a:buFont typeface="Arial"/>
              <a:buNone/>
              <a:defRPr sz="2000" baseline="0">
                <a:solidFill>
                  <a:schemeClr val="tx1">
                    <a:tint val="75000"/>
                  </a:schemeClr>
                </a:solidFill>
              </a:defRPr>
            </a:lvl4pPr>
            <a:lvl5pPr indent="0" algn="ctr">
              <a:spcBef>
                <a:spcPct val="20000"/>
              </a:spcBef>
              <a:buFont typeface="Arial"/>
              <a:buNone/>
              <a:defRPr sz="2000" baseline="0">
                <a:solidFill>
                  <a:schemeClr val="tx1">
                    <a:tint val="75000"/>
                  </a:schemeClr>
                </a:solidFill>
              </a:defRPr>
            </a:lvl5pPr>
            <a:lvl6pPr indent="0" algn="ctr">
              <a:spcBef>
                <a:spcPct val="20000"/>
              </a:spcBef>
              <a:buFont typeface="Arial"/>
              <a:buNone/>
              <a:defRPr sz="2000">
                <a:solidFill>
                  <a:schemeClr val="tx1">
                    <a:tint val="75000"/>
                  </a:schemeClr>
                </a:solidFill>
              </a:defRPr>
            </a:lvl6pPr>
            <a:lvl7pPr indent="0" algn="ctr">
              <a:spcBef>
                <a:spcPct val="20000"/>
              </a:spcBef>
              <a:buFont typeface="Arial"/>
              <a:buNone/>
              <a:defRPr sz="2000">
                <a:solidFill>
                  <a:schemeClr val="tx1">
                    <a:tint val="75000"/>
                  </a:schemeClr>
                </a:solidFill>
              </a:defRPr>
            </a:lvl7pPr>
            <a:lvl8pPr indent="0" algn="ctr">
              <a:spcBef>
                <a:spcPct val="20000"/>
              </a:spcBef>
              <a:buFont typeface="Arial"/>
              <a:buNone/>
              <a:defRPr sz="2000">
                <a:solidFill>
                  <a:schemeClr val="tx1">
                    <a:tint val="75000"/>
                  </a:schemeClr>
                </a:solidFill>
              </a:defRPr>
            </a:lvl8pPr>
            <a:lvl9pPr indent="0" algn="ctr">
              <a:spcBef>
                <a:spcPct val="20000"/>
              </a:spcBef>
              <a:buFont typeface="Arial"/>
              <a:buNone/>
              <a:defRPr sz="2000">
                <a:solidFill>
                  <a:schemeClr val="tx1">
                    <a:tint val="75000"/>
                  </a:schemeClr>
                </a:solidFill>
              </a:defRPr>
            </a:lvl9pPr>
          </a:lstStyle>
          <a:p>
            <a:pPr lvl="0"/>
            <a:r>
              <a:rPr lang="en-AU" sz="2000" dirty="0">
                <a:solidFill>
                  <a:schemeClr val="bg1">
                    <a:lumMod val="75000"/>
                  </a:schemeClr>
                </a:solidFill>
                <a:latin typeface="+mj-lt"/>
              </a:rPr>
              <a:t>Presented by:</a:t>
            </a:r>
          </a:p>
        </p:txBody>
      </p:sp>
      <p:sp>
        <p:nvSpPr>
          <p:cNvPr id="17" name="Text Placeholder 16"/>
          <p:cNvSpPr>
            <a:spLocks noGrp="1"/>
          </p:cNvSpPr>
          <p:nvPr>
            <p:ph type="body" sz="quarter" idx="16" hasCustomPrompt="1"/>
          </p:nvPr>
        </p:nvSpPr>
        <p:spPr>
          <a:xfrm>
            <a:off x="2991027" y="2862841"/>
            <a:ext cx="8144143" cy="562200"/>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sz="2800">
                <a:solidFill>
                  <a:schemeClr val="bg1">
                    <a:lumMod val="75000"/>
                  </a:schemeClr>
                </a:solidFill>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noProof="0" dirty="0">
                <a:solidFill>
                  <a:schemeClr val="bg1">
                    <a:lumMod val="95000"/>
                  </a:schemeClr>
                </a:solidFill>
              </a:rPr>
              <a:t>Given &amp; Last Name</a:t>
            </a:r>
          </a:p>
        </p:txBody>
      </p:sp>
      <p:sp>
        <p:nvSpPr>
          <p:cNvPr id="19" name="Content Placeholder 18"/>
          <p:cNvSpPr>
            <a:spLocks noGrp="1"/>
          </p:cNvSpPr>
          <p:nvPr>
            <p:ph sz="quarter" idx="17" hasCustomPrompt="1"/>
          </p:nvPr>
        </p:nvSpPr>
        <p:spPr>
          <a:xfrm>
            <a:off x="1050925" y="3516767"/>
            <a:ext cx="10083800" cy="602809"/>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lang="en-AU" sz="2000" dirty="0" smtClean="0">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dirty="0">
                <a:solidFill>
                  <a:schemeClr val="bg1">
                    <a:lumMod val="85000"/>
                  </a:schemeClr>
                </a:solidFill>
              </a:rPr>
              <a:t>Course ID and Title</a:t>
            </a:r>
          </a:p>
        </p:txBody>
      </p:sp>
    </p:spTree>
    <p:extLst>
      <p:ext uri="{BB962C8B-B14F-4D97-AF65-F5344CB8AC3E}">
        <p14:creationId xmlns:p14="http://schemas.microsoft.com/office/powerpoint/2010/main" val="41900696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574" userDrawn="1">
          <p15:clr>
            <a:srgbClr val="FBAE40"/>
          </p15:clr>
        </p15:guide>
        <p15:guide id="4" pos="7106" userDrawn="1">
          <p15:clr>
            <a:srgbClr val="FBAE40"/>
          </p15:clr>
        </p15:guide>
        <p15:guide id="5" orient="horz" pos="436" userDrawn="1">
          <p15:clr>
            <a:srgbClr val="FBAE40"/>
          </p15:clr>
        </p15:guide>
        <p15:guide id="6" orient="horz" pos="3974" userDrawn="1">
          <p15:clr>
            <a:srgbClr val="FBAE40"/>
          </p15:clr>
        </p15:guide>
        <p15:guide id="7" orient="horz" pos="17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noProof="0" dirty="0"/>
              <a:t>Week/Session 00 – Presentation Title</a:t>
            </a:r>
          </a:p>
        </p:txBody>
      </p:sp>
      <p:sp>
        <p:nvSpPr>
          <p:cNvPr id="4" name="Date Placeholder 3"/>
          <p:cNvSpPr>
            <a:spLocks noGrp="1"/>
          </p:cNvSpPr>
          <p:nvPr>
            <p:ph type="dt" sz="half" idx="10"/>
          </p:nvPr>
        </p:nvSpPr>
        <p:spPr/>
        <p:txBody>
          <a:bodyPr/>
          <a:lstStyle/>
          <a:p>
            <a:fld id="{56F489C6-6277-454E-AECF-6C3872A9450F}" type="datetimeFigureOut">
              <a:rPr lang="en-AU" noProof="0" smtClean="0"/>
              <a:t>11/2/2025</a:t>
            </a:fld>
            <a:endParaRPr lang="en-AU" noProof="0"/>
          </a:p>
        </p:txBody>
      </p:sp>
      <p:sp>
        <p:nvSpPr>
          <p:cNvPr id="5" name="Footer Placeholder 4"/>
          <p:cNvSpPr>
            <a:spLocks noGrp="1"/>
          </p:cNvSpPr>
          <p:nvPr>
            <p:ph type="ftr" sz="quarter" idx="11"/>
          </p:nvPr>
        </p:nvSpPr>
        <p:spPr/>
        <p:txBody>
          <a:bodyPr/>
          <a:lstStyle/>
          <a:p>
            <a:endParaRPr lang="en-AU" noProof="0"/>
          </a:p>
        </p:txBody>
      </p:sp>
      <p:sp>
        <p:nvSpPr>
          <p:cNvPr id="6" name="Slide Number Placeholder 5"/>
          <p:cNvSpPr>
            <a:spLocks noGrp="1"/>
          </p:cNvSpPr>
          <p:nvPr>
            <p:ph type="sldNum" sz="quarter" idx="12"/>
          </p:nvPr>
        </p:nvSpPr>
        <p:spPr/>
        <p:txBody>
          <a:bodyPr/>
          <a:lstStyle/>
          <a:p>
            <a:fld id="{741F46F4-8938-5C4A-A3E0-434D3C3588F4}" type="slidenum">
              <a:rPr lang="en-AU" noProof="0" smtClean="0"/>
              <a:t>‹#›</a:t>
            </a:fld>
            <a:endParaRPr lang="en-AU" noProof="0"/>
          </a:p>
        </p:txBody>
      </p:sp>
    </p:spTree>
    <p:extLst>
      <p:ext uri="{BB962C8B-B14F-4D97-AF65-F5344CB8AC3E}">
        <p14:creationId xmlns:p14="http://schemas.microsoft.com/office/powerpoint/2010/main" val="1471725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p:cNvSpPr>
            <a:spLocks noGrp="1"/>
          </p:cNvSpPr>
          <p:nvPr>
            <p:ph type="dt" sz="half" idx="10"/>
          </p:nvPr>
        </p:nvSpPr>
        <p:spPr/>
        <p:txBody>
          <a:bodyPr/>
          <a:lstStyle/>
          <a:p>
            <a:fld id="{56F489C6-6277-454E-AECF-6C3872A9450F}" type="datetimeFigureOut">
              <a:rPr lang="en-US" smtClean="0"/>
              <a:t>2/11/25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629109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a:xfrm>
            <a:off x="609600" y="1794618"/>
            <a:ext cx="10972800" cy="219169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2/11/25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Content Placeholder 2">
            <a:extLst>
              <a:ext uri="{FF2B5EF4-FFF2-40B4-BE49-F238E27FC236}">
                <a16:creationId xmlns:a16="http://schemas.microsoft.com/office/drawing/2014/main" id="{E2FB0483-D927-6C4B-9F8E-0CBFBED89EAE}"/>
              </a:ext>
            </a:extLst>
          </p:cNvPr>
          <p:cNvSpPr>
            <a:spLocks noGrp="1"/>
          </p:cNvSpPr>
          <p:nvPr>
            <p:ph idx="13"/>
          </p:nvPr>
        </p:nvSpPr>
        <p:spPr>
          <a:xfrm>
            <a:off x="609600" y="4182975"/>
            <a:ext cx="10972800" cy="219169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252747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2/11/25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8176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lvl1pPr>
              <a:defRPr/>
            </a:lvl1pPr>
          </a:lstStyle>
          <a:p>
            <a:r>
              <a:rPr lang="en-US" noProof="0"/>
              <a:t>Click to edit Master title style</a:t>
            </a:r>
            <a:endParaRPr lang="en-AU" noProof="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7" name="Date Placeholder 6"/>
          <p:cNvSpPr>
            <a:spLocks noGrp="1"/>
          </p:cNvSpPr>
          <p:nvPr>
            <p:ph type="dt" sz="half" idx="10"/>
          </p:nvPr>
        </p:nvSpPr>
        <p:spPr/>
        <p:txBody>
          <a:bodyPr/>
          <a:lstStyle/>
          <a:p>
            <a:fld id="{56F489C6-6277-454E-AECF-6C3872A9450F}" type="datetimeFigureOut">
              <a:rPr lang="en-US" smtClean="0"/>
              <a:t>2/11/25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1354379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3"/>
            <a:ext cx="8514522"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609600" y="2906713"/>
            <a:ext cx="85145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56F489C6-6277-454E-AECF-6C3872A9450F}" type="datetimeFigureOut">
              <a:rPr lang="en-US" smtClean="0"/>
              <a:t>2/11/25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9812656" y="2900636"/>
            <a:ext cx="1769744" cy="2868342"/>
          </a:xfrm>
          <a:prstGeom prst="roundRect">
            <a:avLst>
              <a:gd name="adj" fmla="val 4112"/>
            </a:avLst>
          </a:prstGeom>
          <a:blipFill>
            <a:blip r:embed="rId2"/>
            <a:stretch>
              <a:fillRect l="16" r="16"/>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47064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4165600" y="1600202"/>
            <a:ext cx="7416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2/11/25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
        <p:nvSpPr>
          <p:cNvPr id="8" name="Picture Placeholder 8">
            <a:extLst>
              <a:ext uri="{FF2B5EF4-FFF2-40B4-BE49-F238E27FC236}">
                <a16:creationId xmlns:a16="http://schemas.microsoft.com/office/drawing/2014/main" id="{CB08A67E-3ED8-7842-9A36-FDA51ABEB2AC}"/>
              </a:ext>
            </a:extLst>
          </p:cNvPr>
          <p:cNvSpPr>
            <a:spLocks noGrp="1"/>
          </p:cNvSpPr>
          <p:nvPr>
            <p:ph type="pic" sz="quarter" idx="13" hasCustomPrompt="1"/>
          </p:nvPr>
        </p:nvSpPr>
        <p:spPr>
          <a:xfrm>
            <a:off x="609601" y="1600203"/>
            <a:ext cx="2792484" cy="4525963"/>
          </a:xfrm>
          <a:prstGeom prst="roundRect">
            <a:avLst>
              <a:gd name="adj" fmla="val 3374"/>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81430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2/11/25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63058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973062"/>
            <a:ext cx="7212496" cy="491187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2/11/25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
        <p:nvSpPr>
          <p:cNvPr id="6" name="Picture Placeholder 8">
            <a:extLst>
              <a:ext uri="{FF2B5EF4-FFF2-40B4-BE49-F238E27FC236}">
                <a16:creationId xmlns:a16="http://schemas.microsoft.com/office/drawing/2014/main" id="{C9126EA6-A663-AD41-9474-BAFD5F860789}"/>
              </a:ext>
            </a:extLst>
          </p:cNvPr>
          <p:cNvSpPr>
            <a:spLocks noGrp="1"/>
          </p:cNvSpPr>
          <p:nvPr>
            <p:ph type="pic" sz="quarter" idx="13" hasCustomPrompt="1"/>
          </p:nvPr>
        </p:nvSpPr>
        <p:spPr>
          <a:xfrm>
            <a:off x="8316528" y="973063"/>
            <a:ext cx="3030587" cy="4911873"/>
          </a:xfrm>
          <a:prstGeom prst="roundRect">
            <a:avLst>
              <a:gd name="adj" fmla="val 3523"/>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989589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2/11/25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10" name="Picture Placeholder 8">
            <a:extLst>
              <a:ext uri="{FF2B5EF4-FFF2-40B4-BE49-F238E27FC236}">
                <a16:creationId xmlns:a16="http://schemas.microsoft.com/office/drawing/2014/main" id="{C9126EA6-A663-AD41-9474-BAFD5F860789}"/>
              </a:ext>
            </a:extLst>
          </p:cNvPr>
          <p:cNvSpPr>
            <a:spLocks noGrp="1"/>
          </p:cNvSpPr>
          <p:nvPr>
            <p:ph type="pic" sz="quarter" idx="14" hasCustomPrompt="1"/>
          </p:nvPr>
        </p:nvSpPr>
        <p:spPr>
          <a:xfrm>
            <a:off x="609600" y="710508"/>
            <a:ext cx="10972800" cy="4948123"/>
          </a:xfrm>
          <a:prstGeom prst="roundRect">
            <a:avLst>
              <a:gd name="adj" fmla="val 1876"/>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
        <p:nvSpPr>
          <p:cNvPr id="6" name="Title 1"/>
          <p:cNvSpPr>
            <a:spLocks noGrp="1"/>
          </p:cNvSpPr>
          <p:nvPr>
            <p:ph type="title"/>
          </p:nvPr>
        </p:nvSpPr>
        <p:spPr>
          <a:xfrm>
            <a:off x="609600" y="5755274"/>
            <a:ext cx="10972800" cy="527831"/>
          </a:xfrm>
          <a:prstGeom prst="rect">
            <a:avLst/>
          </a:prstGeom>
        </p:spPr>
        <p:txBody>
          <a:bodyPr anchor="b">
            <a:normAutofit/>
          </a:bodyPr>
          <a:lstStyle>
            <a:lvl1pPr algn="l">
              <a:defRPr sz="1800" b="1"/>
            </a:lvl1pPr>
          </a:lstStyle>
          <a:p>
            <a:r>
              <a:rPr lang="en-US" noProof="0"/>
              <a:t>Click to edit Master title style</a:t>
            </a:r>
            <a:endParaRPr lang="en-AU" noProof="0"/>
          </a:p>
        </p:txBody>
      </p:sp>
    </p:spTree>
    <p:extLst>
      <p:ext uri="{BB962C8B-B14F-4D97-AF65-F5344CB8AC3E}">
        <p14:creationId xmlns:p14="http://schemas.microsoft.com/office/powerpoint/2010/main" val="3182468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2/11/25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9" name="Picture Placeholder 8">
            <a:extLst>
              <a:ext uri="{FF2B5EF4-FFF2-40B4-BE49-F238E27FC236}">
                <a16:creationId xmlns:a16="http://schemas.microsoft.com/office/drawing/2014/main" id="{ED779252-2DB5-164E-B413-9653D35CC4E5}"/>
              </a:ext>
            </a:extLst>
          </p:cNvPr>
          <p:cNvSpPr>
            <a:spLocks noGrp="1"/>
          </p:cNvSpPr>
          <p:nvPr>
            <p:ph type="pic" sz="quarter" idx="13" hasCustomPrompt="1"/>
          </p:nvPr>
        </p:nvSpPr>
        <p:spPr>
          <a:xfrm>
            <a:off x="8253685" y="672443"/>
            <a:ext cx="3328716" cy="5395071"/>
          </a:xfrm>
          <a:prstGeom prst="roundRect">
            <a:avLst>
              <a:gd name="adj" fmla="val 4147"/>
            </a:avLst>
          </a:prstGeom>
          <a:blipFill>
            <a:blip r:embed="rId2">
              <a:alphaModFix/>
            </a:blip>
            <a:stretch>
              <a:fillRect l="16" r="16"/>
            </a:stretch>
          </a:blipFill>
        </p:spPr>
        <p:txBody>
          <a:bodyPr/>
          <a:lstStyle>
            <a:lvl1pPr marL="0" indent="0">
              <a:buNone/>
              <a:defRPr/>
            </a:lvl1pPr>
          </a:lstStyle>
          <a:p>
            <a:r>
              <a:rPr lang="en-US" dirty="0"/>
              <a:t>   </a:t>
            </a:r>
          </a:p>
        </p:txBody>
      </p:sp>
      <p:sp>
        <p:nvSpPr>
          <p:cNvPr id="13" name="Text Placeholder 12">
            <a:extLst>
              <a:ext uri="{FF2B5EF4-FFF2-40B4-BE49-F238E27FC236}">
                <a16:creationId xmlns:a16="http://schemas.microsoft.com/office/drawing/2014/main" id="{FFC5ADCF-7EA1-3644-9B75-D84582085EDA}"/>
              </a:ext>
            </a:extLst>
          </p:cNvPr>
          <p:cNvSpPr>
            <a:spLocks noGrp="1"/>
          </p:cNvSpPr>
          <p:nvPr>
            <p:ph type="body" sz="quarter" idx="14"/>
          </p:nvPr>
        </p:nvSpPr>
        <p:spPr>
          <a:xfrm>
            <a:off x="609600" y="671513"/>
            <a:ext cx="7416800" cy="539600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4078927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76053"/>
            <a:ext cx="6207659" cy="382380"/>
          </a:xfrm>
          <a:prstGeom prst="rect">
            <a:avLst/>
          </a:prstGeom>
        </p:spPr>
        <p:txBody>
          <a:bodyPr anchor="t"/>
          <a:lstStyle>
            <a:lvl1pPr algn="l">
              <a:defRPr sz="1800" b="1" cap="none">
                <a:solidFill>
                  <a:schemeClr val="bg1">
                    <a:lumMod val="65000"/>
                  </a:schemeClr>
                </a:solidFill>
                <a:latin typeface="+mn-lt"/>
              </a:defRPr>
            </a:lvl1pPr>
          </a:lstStyle>
          <a:p>
            <a:r>
              <a:rPr lang="en-AU" noProof="0" dirty="0"/>
              <a:t>PRESENTATION TEMPLATE CREATED BY</a:t>
            </a:r>
          </a:p>
        </p:txBody>
      </p:sp>
      <p:sp>
        <p:nvSpPr>
          <p:cNvPr id="4" name="Date Placeholder 3"/>
          <p:cNvSpPr>
            <a:spLocks noGrp="1"/>
          </p:cNvSpPr>
          <p:nvPr>
            <p:ph type="dt" sz="half" idx="10"/>
          </p:nvPr>
        </p:nvSpPr>
        <p:spPr/>
        <p:txBody>
          <a:bodyPr/>
          <a:lstStyle/>
          <a:p>
            <a:fld id="{56F489C6-6277-454E-AECF-6C3872A9450F}" type="datetimeFigureOut">
              <a:rPr lang="en-US" smtClean="0"/>
              <a:t>2/11/25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6978086" y="873914"/>
            <a:ext cx="1561468" cy="1561468"/>
          </a:xfrm>
          <a:prstGeom prst="roundRect">
            <a:avLst>
              <a:gd name="adj" fmla="val 4112"/>
            </a:avLst>
          </a:prstGeom>
          <a:blipFill dpi="0" rotWithShape="1">
            <a:blip r:embed="rId2">
              <a:extLst>
                <a:ext uri="{28A0092B-C50C-407E-A947-70E740481C1C}">
                  <a14:useLocalDpi xmlns:a14="http://schemas.microsoft.com/office/drawing/2010/main" val="0"/>
                </a:ext>
              </a:extLst>
            </a:blip>
            <a:srcRect/>
            <a:stretch>
              <a:fillRect/>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
        <p:nvSpPr>
          <p:cNvPr id="13" name="Text Placeholder 12"/>
          <p:cNvSpPr>
            <a:spLocks noGrp="1"/>
          </p:cNvSpPr>
          <p:nvPr>
            <p:ph type="body" sz="quarter" idx="14" hasCustomPrompt="1"/>
          </p:nvPr>
        </p:nvSpPr>
        <p:spPr>
          <a:xfrm>
            <a:off x="609600" y="1358681"/>
            <a:ext cx="6207659" cy="633082"/>
          </a:xfrm>
        </p:spPr>
        <p:txBody>
          <a:bodyPr/>
          <a:lstStyle>
            <a:lvl1pPr marL="0" indent="0">
              <a:buNone/>
              <a:defRPr>
                <a:solidFill>
                  <a:schemeClr val="bg1">
                    <a:lumMod val="8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Adrian Gould</a:t>
            </a:r>
            <a:endParaRPr lang="en-US" dirty="0"/>
          </a:p>
        </p:txBody>
      </p:sp>
      <p:sp>
        <p:nvSpPr>
          <p:cNvPr id="15" name="Text Placeholder 14"/>
          <p:cNvSpPr>
            <a:spLocks noGrp="1"/>
          </p:cNvSpPr>
          <p:nvPr>
            <p:ph type="body" sz="quarter" idx="15" hasCustomPrompt="1"/>
          </p:nvPr>
        </p:nvSpPr>
        <p:spPr>
          <a:xfrm>
            <a:off x="609600" y="2101835"/>
            <a:ext cx="6207659" cy="333547"/>
          </a:xfrm>
        </p:spPr>
        <p:txBody>
          <a:bodyPr>
            <a:normAutofit/>
          </a:bodyPr>
          <a:lstStyle>
            <a:lvl1pPr marL="0" indent="0">
              <a:buNone/>
              <a:defRPr sz="11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LECTURER SOFTWARE DEVELOPMENT, WEB DEVELOPMENT, IOT</a:t>
            </a:r>
            <a:endParaRPr lang="en-US" dirty="0"/>
          </a:p>
        </p:txBody>
      </p:sp>
    </p:spTree>
    <p:extLst>
      <p:ext uri="{BB962C8B-B14F-4D97-AF65-F5344CB8AC3E}">
        <p14:creationId xmlns:p14="http://schemas.microsoft.com/office/powerpoint/2010/main" val="1663450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2/11/25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4122098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3776"/>
            <a:ext cx="4011084" cy="941324"/>
          </a:xfrm>
          <a:prstGeom prst="rect">
            <a:avLst/>
          </a:prstGeom>
        </p:spPr>
        <p:txBody>
          <a:bodyPr anchor="b"/>
          <a:lstStyle>
            <a:lvl1pPr algn="l">
              <a:defRPr sz="2000" b="1"/>
            </a:lvl1pPr>
          </a:lstStyle>
          <a:p>
            <a:r>
              <a:rPr lang="en-US" noProof="0"/>
              <a:t>Click to edit Master title style</a:t>
            </a:r>
            <a:endParaRPr lang="en-AU" noProof="0"/>
          </a:p>
        </p:txBody>
      </p:sp>
      <p:sp>
        <p:nvSpPr>
          <p:cNvPr id="3" name="Content Placeholder 2"/>
          <p:cNvSpPr>
            <a:spLocks noGrp="1"/>
          </p:cNvSpPr>
          <p:nvPr>
            <p:ph idx="1"/>
          </p:nvPr>
        </p:nvSpPr>
        <p:spPr>
          <a:xfrm>
            <a:off x="4766733" y="493776"/>
            <a:ext cx="6815667" cy="56323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Text Placeholder 3"/>
          <p:cNvSpPr>
            <a:spLocks noGrp="1"/>
          </p:cNvSpPr>
          <p:nvPr>
            <p:ph type="body" sz="half" idx="2"/>
          </p:nvPr>
        </p:nvSpPr>
        <p:spPr>
          <a:xfrm>
            <a:off x="609602" y="1499615"/>
            <a:ext cx="4011084" cy="46265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2/11/25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565291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noProof="0"/>
              <a:t>Click to edit Master title style</a:t>
            </a:r>
            <a:endParaRPr lang="en-AU" noProof="0"/>
          </a:p>
        </p:txBody>
      </p:sp>
      <p:sp>
        <p:nvSpPr>
          <p:cNvPr id="3" name="Picture Placeholder 2"/>
          <p:cNvSpPr>
            <a:spLocks noGrp="1"/>
          </p:cNvSpPr>
          <p:nvPr>
            <p:ph type="pic" idx="1"/>
          </p:nvPr>
        </p:nvSpPr>
        <p:spPr>
          <a:xfrm>
            <a:off x="2389717" y="612775"/>
            <a:ext cx="7315200" cy="4114800"/>
          </a:xfrm>
          <a:prstGeom prst="roundRect">
            <a:avLst>
              <a:gd name="adj" fmla="val 2544"/>
            </a:avLst>
          </a:prstGeom>
          <a:solidFill>
            <a:schemeClr val="tx2">
              <a:lumMod val="60000"/>
              <a:lumOff val="4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AU"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2/11/25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058385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94617"/>
            <a:ext cx="10972800" cy="4563491"/>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2"/>
          </p:nvPr>
        </p:nvSpPr>
        <p:spPr>
          <a:xfrm>
            <a:off x="609600" y="6482040"/>
            <a:ext cx="2844800" cy="301756"/>
          </a:xfrm>
          <a:prstGeom prst="rect">
            <a:avLst/>
          </a:prstGeom>
        </p:spPr>
        <p:txBody>
          <a:bodyPr vert="horz" lIns="91440" tIns="45720" rIns="91440" bIns="45720" rtlCol="0" anchor="ctr"/>
          <a:lstStyle>
            <a:lvl1pPr algn="l">
              <a:defRPr sz="1200" baseline="0">
                <a:solidFill>
                  <a:schemeClr val="accent2">
                    <a:lumMod val="50000"/>
                  </a:schemeClr>
                </a:solidFill>
              </a:defRPr>
            </a:lvl1pPr>
          </a:lstStyle>
          <a:p>
            <a:fld id="{56F489C6-6277-454E-AECF-6C3872A9450F}" type="datetimeFigureOut">
              <a:rPr lang="en-US" smtClean="0"/>
              <a:pPr/>
              <a:t>2/11/25</a:t>
            </a:fld>
            <a:endParaRPr lang="en-US" dirty="0"/>
          </a:p>
        </p:txBody>
      </p:sp>
      <p:sp>
        <p:nvSpPr>
          <p:cNvPr id="5" name="Footer Placeholder 4"/>
          <p:cNvSpPr>
            <a:spLocks noGrp="1"/>
          </p:cNvSpPr>
          <p:nvPr>
            <p:ph type="ftr" sz="quarter" idx="3"/>
          </p:nvPr>
        </p:nvSpPr>
        <p:spPr>
          <a:xfrm>
            <a:off x="4165600" y="6482040"/>
            <a:ext cx="3860800" cy="301756"/>
          </a:xfrm>
          <a:prstGeom prst="rect">
            <a:avLst/>
          </a:prstGeom>
        </p:spPr>
        <p:txBody>
          <a:bodyPr vert="horz" lIns="91440" tIns="45720" rIns="91440" bIns="45720" rtlCol="0" anchor="ctr"/>
          <a:lstStyle>
            <a:lvl1pPr algn="ctr">
              <a:defRPr sz="1200" baseline="0">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8737600" y="6482040"/>
            <a:ext cx="2844800" cy="301756"/>
          </a:xfrm>
          <a:prstGeom prst="rect">
            <a:avLst/>
          </a:prstGeom>
        </p:spPr>
        <p:txBody>
          <a:bodyPr vert="horz" lIns="91440" tIns="45720" rIns="91440" bIns="45720" rtlCol="0" anchor="ctr"/>
          <a:lstStyle>
            <a:lvl1pPr algn="r">
              <a:defRPr sz="1200" baseline="0">
                <a:solidFill>
                  <a:schemeClr val="accent2">
                    <a:lumMod val="50000"/>
                  </a:schemeClr>
                </a:solidFill>
              </a:defRPr>
            </a:lvl1pPr>
          </a:lstStyle>
          <a:p>
            <a:fld id="{741F46F4-8938-5C4A-A3E0-434D3C3588F4}" type="slidenum">
              <a:rPr lang="en-US" smtClean="0"/>
              <a:pPr/>
              <a:t>‹#›</a:t>
            </a:fld>
            <a:endParaRPr lang="en-US" dirty="0"/>
          </a:p>
        </p:txBody>
      </p:sp>
      <p:sp>
        <p:nvSpPr>
          <p:cNvPr id="15" name="Title Placeholder 14">
            <a:extLst>
              <a:ext uri="{FF2B5EF4-FFF2-40B4-BE49-F238E27FC236}">
                <a16:creationId xmlns:a16="http://schemas.microsoft.com/office/drawing/2014/main" id="{ED1A118C-2DC5-9B4D-B303-C0863344BC99}"/>
              </a:ext>
            </a:extLst>
          </p:cNvPr>
          <p:cNvSpPr>
            <a:spLocks noGrp="1"/>
          </p:cNvSpPr>
          <p:nvPr>
            <p:ph type="title"/>
          </p:nvPr>
        </p:nvSpPr>
        <p:spPr>
          <a:xfrm>
            <a:off x="609601" y="477254"/>
            <a:ext cx="10972799" cy="1248943"/>
          </a:xfrm>
          <a:prstGeom prst="rect">
            <a:avLst/>
          </a:prstGeom>
        </p:spPr>
        <p:txBody>
          <a:bodyPr vert="horz" lIns="91440" tIns="45720" rIns="91440" bIns="45720" rtlCol="0" anchor="ctr">
            <a:normAutofit/>
          </a:bodyPr>
          <a:lstStyle/>
          <a:p>
            <a:r>
              <a:rPr lang="en-US" noProof="0"/>
              <a:t>Click to edit Master title style</a:t>
            </a:r>
            <a:endParaRPr lang="en-AU" noProof="0" dirty="0"/>
          </a:p>
        </p:txBody>
      </p:sp>
      <p:sp>
        <p:nvSpPr>
          <p:cNvPr id="2" name="MSIPCMContentMarking" descr="{&quot;HashCode&quot;:-1423410385,&quot;Placement&quot;:&quot;Header&quot;,&quot;Top&quot;:0.0,&quot;Left&quot;:451.105438,&quot;SlideWidth&quot;:960,&quot;SlideHeight&quot;:540}">
            <a:extLst>
              <a:ext uri="{FF2B5EF4-FFF2-40B4-BE49-F238E27FC236}">
                <a16:creationId xmlns:a16="http://schemas.microsoft.com/office/drawing/2014/main" id="{714FD1A7-93E6-7D01-08EF-B76E4202984F}"/>
              </a:ext>
            </a:extLst>
          </p:cNvPr>
          <p:cNvSpPr txBox="1"/>
          <p:nvPr userDrawn="1"/>
        </p:nvSpPr>
        <p:spPr>
          <a:xfrm>
            <a:off x="5729039" y="0"/>
            <a:ext cx="733923" cy="262344"/>
          </a:xfrm>
          <a:prstGeom prst="rect">
            <a:avLst/>
          </a:prstGeom>
          <a:noFill/>
        </p:spPr>
        <p:txBody>
          <a:bodyPr vert="horz" wrap="square" lIns="0" tIns="0" rIns="0" bIns="0" rtlCol="0" anchor="ctr" anchorCtr="1">
            <a:spAutoFit/>
          </a:bodyPr>
          <a:lstStyle/>
          <a:p>
            <a:pPr algn="ctr">
              <a:spcBef>
                <a:spcPts val="0"/>
              </a:spcBef>
              <a:spcAft>
                <a:spcPts val="0"/>
              </a:spcAft>
            </a:pPr>
            <a:r>
              <a:rPr lang="en-AU" sz="1000">
                <a:solidFill>
                  <a:srgbClr val="FF0000"/>
                </a:solidFill>
                <a:latin typeface="Calibri" panose="020F0502020204030204" pitchFamily="34" charset="0"/>
              </a:rPr>
              <a:t>OFFICIAL</a:t>
            </a:r>
          </a:p>
        </p:txBody>
      </p:sp>
    </p:spTree>
    <p:extLst>
      <p:ext uri="{BB962C8B-B14F-4D97-AF65-F5344CB8AC3E}">
        <p14:creationId xmlns:p14="http://schemas.microsoft.com/office/powerpoint/2010/main" val="701323445"/>
      </p:ext>
    </p:extLst>
  </p:cSld>
  <p:clrMap bg1="lt1" tx1="dk1" bg2="lt2" tx2="dk2" accent1="accent1" accent2="accent2" accent3="accent3" accent4="accent4" accent5="accent5" accent6="accent6" hlink="hlink" folHlink="folHlink"/>
  <p:sldLayoutIdLst>
    <p:sldLayoutId id="2147483667" r:id="rId1"/>
    <p:sldLayoutId id="2147483651" r:id="rId2"/>
    <p:sldLayoutId id="2147483650" r:id="rId3"/>
    <p:sldLayoutId id="2147483665" r:id="rId4"/>
    <p:sldLayoutId id="2147483652" r:id="rId5"/>
    <p:sldLayoutId id="2147483653" r:id="rId6"/>
    <p:sldLayoutId id="2147483661" r:id="rId7"/>
    <p:sldLayoutId id="2147483662" r:id="rId8"/>
    <p:sldLayoutId id="2147483654" r:id="rId9"/>
    <p:sldLayoutId id="2147483663" r:id="rId10"/>
    <p:sldLayoutId id="2147483664" r:id="rId11"/>
    <p:sldLayoutId id="2147483660" r:id="rId12"/>
    <p:sldLayoutId id="2147483668" r:id="rId13"/>
    <p:sldLayoutId id="2147483655" r:id="rId14"/>
    <p:sldLayoutId id="2147483656" r:id="rId15"/>
    <p:sldLayoutId id="2147483657" r:id="rId16"/>
  </p:sldLayoutIdLst>
  <p:txStyles>
    <p:title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Intermediate programming</a:t>
            </a:r>
            <a:endParaRPr lang="en-AU" dirty="0"/>
          </a:p>
        </p:txBody>
      </p:sp>
      <p:graphicFrame>
        <p:nvGraphicFramePr>
          <p:cNvPr id="20" name="Table Placeholder 19"/>
          <p:cNvGraphicFramePr>
            <a:graphicFrameLocks noGrp="1"/>
          </p:cNvGraphicFramePr>
          <p:nvPr>
            <p:ph type="tbl" sz="quarter" idx="13"/>
            <p:extLst>
              <p:ext uri="{D42A27DB-BD31-4B8C-83A1-F6EECF244321}">
                <p14:modId xmlns:p14="http://schemas.microsoft.com/office/powerpoint/2010/main" val="1489701313"/>
              </p:ext>
            </p:extLst>
          </p:nvPr>
        </p:nvGraphicFramePr>
        <p:xfrm>
          <a:off x="1050925" y="5448362"/>
          <a:ext cx="10083800" cy="827997"/>
        </p:xfrm>
        <a:graphic>
          <a:graphicData uri="http://schemas.openxmlformats.org/drawingml/2006/table">
            <a:tbl>
              <a:tblPr firstCol="1" bandRow="1">
                <a:tableStyleId>{0E3FDE45-AF77-4B5C-9715-49D594BDF05E}</a:tableStyleId>
              </a:tblPr>
              <a:tblGrid>
                <a:gridCol w="1718238">
                  <a:extLst>
                    <a:ext uri="{9D8B030D-6E8A-4147-A177-3AD203B41FA5}">
                      <a16:colId xmlns:a16="http://schemas.microsoft.com/office/drawing/2014/main" val="1432791058"/>
                    </a:ext>
                  </a:extLst>
                </a:gridCol>
                <a:gridCol w="8365562">
                  <a:extLst>
                    <a:ext uri="{9D8B030D-6E8A-4147-A177-3AD203B41FA5}">
                      <a16:colId xmlns:a16="http://schemas.microsoft.com/office/drawing/2014/main" val="517524959"/>
                    </a:ext>
                  </a:extLst>
                </a:gridCol>
              </a:tblGrid>
              <a:tr h="275999">
                <a:tc>
                  <a:txBody>
                    <a:bodyPr/>
                    <a:lstStyle/>
                    <a:p>
                      <a:pPr>
                        <a:spcBef>
                          <a:spcPts val="300"/>
                        </a:spcBef>
                        <a:spcAft>
                          <a:spcPts val="300"/>
                        </a:spcAft>
                      </a:pPr>
                      <a:r>
                        <a:rPr lang="en-US" sz="1100" dirty="0">
                          <a:solidFill>
                            <a:schemeClr val="bg1">
                              <a:lumMod val="85000"/>
                            </a:schemeClr>
                          </a:solidFill>
                          <a:effectLst/>
                          <a:latin typeface="Arial" panose="020B0604020202020204" pitchFamily="34" charset="0"/>
                          <a:ea typeface="Times New Roman" panose="02020603050405020304" pitchFamily="18" charset="0"/>
                        </a:rPr>
                        <a:t>ICTPRG439</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lnSpc>
                          <a:spcPct val="115000"/>
                        </a:lnSpc>
                      </a:pPr>
                      <a:r>
                        <a:rPr lang="en-AU" sz="1000">
                          <a:solidFill>
                            <a:schemeClr val="bg1">
                              <a:lumMod val="85000"/>
                            </a:schemeClr>
                          </a:solidFill>
                          <a:effectLst/>
                          <a:latin typeface="Arial" panose="020B0604020202020204" pitchFamily="34" charset="0"/>
                          <a:ea typeface="SimSun" panose="02010600030101010101" pitchFamily="2" charset="-122"/>
                        </a:rPr>
                        <a:t>Use pre-existing components</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402270444"/>
                  </a:ext>
                </a:extLst>
              </a:tr>
              <a:tr h="275999">
                <a:tc>
                  <a:txBody>
                    <a:bodyPr/>
                    <a:lstStyle/>
                    <a:p>
                      <a:pPr>
                        <a:spcBef>
                          <a:spcPts val="300"/>
                        </a:spcBef>
                        <a:spcAft>
                          <a:spcPts val="300"/>
                        </a:spcAft>
                      </a:pPr>
                      <a:r>
                        <a:rPr lang="en-US" sz="1100" dirty="0">
                          <a:solidFill>
                            <a:schemeClr val="bg1">
                              <a:lumMod val="85000"/>
                            </a:schemeClr>
                          </a:solidFill>
                          <a:effectLst/>
                          <a:latin typeface="Arial" panose="020B0604020202020204" pitchFamily="34" charset="0"/>
                          <a:ea typeface="Times New Roman" panose="02020603050405020304" pitchFamily="18" charset="0"/>
                        </a:rPr>
                        <a:t>ICTPRG429</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spcBef>
                          <a:spcPts val="300"/>
                        </a:spcBef>
                        <a:spcAft>
                          <a:spcPts val="300"/>
                        </a:spcAft>
                      </a:pPr>
                      <a:r>
                        <a:rPr lang="en-AU" sz="1000">
                          <a:solidFill>
                            <a:schemeClr val="bg1">
                              <a:lumMod val="85000"/>
                            </a:schemeClr>
                          </a:solidFill>
                          <a:effectLst/>
                          <a:latin typeface="Arial" panose="020B0604020202020204" pitchFamily="34" charset="0"/>
                          <a:ea typeface="SimSun" panose="02010600030101010101" pitchFamily="2" charset="-122"/>
                        </a:rPr>
                        <a:t>Maintain open-source code programs</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18773640"/>
                  </a:ext>
                </a:extLst>
              </a:tr>
              <a:tr h="275999">
                <a:tc>
                  <a:txBody>
                    <a:bodyPr/>
                    <a:lstStyle/>
                    <a:p>
                      <a:pPr>
                        <a:spcBef>
                          <a:spcPts val="300"/>
                        </a:spcBef>
                        <a:spcAft>
                          <a:spcPts val="300"/>
                        </a:spcAft>
                      </a:pPr>
                      <a:r>
                        <a:rPr lang="en-US" sz="1100">
                          <a:solidFill>
                            <a:schemeClr val="bg1">
                              <a:lumMod val="85000"/>
                            </a:schemeClr>
                          </a:solidFill>
                          <a:effectLst/>
                          <a:latin typeface="Arial" panose="020B0604020202020204" pitchFamily="34" charset="0"/>
                          <a:ea typeface="Times New Roman" panose="02020603050405020304" pitchFamily="18" charset="0"/>
                        </a:rPr>
                        <a:t>ICTPRG443</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spcBef>
                          <a:spcPts val="300"/>
                        </a:spcBef>
                        <a:spcAft>
                          <a:spcPts val="300"/>
                        </a:spcAft>
                      </a:pPr>
                      <a:r>
                        <a:rPr lang="en-AU" sz="1000" dirty="0">
                          <a:solidFill>
                            <a:schemeClr val="bg1">
                              <a:lumMod val="85000"/>
                            </a:schemeClr>
                          </a:solidFill>
                          <a:effectLst/>
                          <a:latin typeface="Arial" panose="020B0604020202020204" pitchFamily="34" charset="0"/>
                          <a:ea typeface="SimSun" panose="02010600030101010101" pitchFamily="2" charset="-122"/>
                        </a:rPr>
                        <a:t>Apply intermediate programming skills in different languages</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259170586"/>
                  </a:ext>
                </a:extLst>
              </a:tr>
            </a:tbl>
          </a:graphicData>
        </a:graphic>
      </p:graphicFrame>
      <p:sp>
        <p:nvSpPr>
          <p:cNvPr id="17" name="Text Placeholder 16"/>
          <p:cNvSpPr>
            <a:spLocks noGrp="1"/>
          </p:cNvSpPr>
          <p:nvPr>
            <p:ph type="body" sz="quarter" idx="15"/>
          </p:nvPr>
        </p:nvSpPr>
        <p:spPr>
          <a:xfrm>
            <a:off x="1051130" y="5081097"/>
            <a:ext cx="10084038" cy="428986"/>
          </a:xfrm>
        </p:spPr>
        <p:txBody>
          <a:bodyPr/>
          <a:lstStyle/>
          <a:p>
            <a:r>
              <a:rPr lang="en-AU" dirty="0"/>
              <a:t>Cluster: Intermediate programming and open source (IPOS)</a:t>
            </a:r>
          </a:p>
        </p:txBody>
      </p:sp>
      <p:sp>
        <p:nvSpPr>
          <p:cNvPr id="40" name="Text Placeholder 39"/>
          <p:cNvSpPr>
            <a:spLocks noGrp="1"/>
          </p:cNvSpPr>
          <p:nvPr>
            <p:ph type="body" sz="quarter" idx="16"/>
          </p:nvPr>
        </p:nvSpPr>
        <p:spPr>
          <a:xfrm>
            <a:off x="2991027" y="2862840"/>
            <a:ext cx="8144143" cy="1131091"/>
          </a:xfrm>
        </p:spPr>
        <p:txBody>
          <a:bodyPr/>
          <a:lstStyle/>
          <a:p>
            <a:r>
              <a:rPr lang="en-AU" dirty="0"/>
              <a:t>Rafael Avigad</a:t>
            </a:r>
            <a:br>
              <a:rPr lang="en-AU" dirty="0"/>
            </a:br>
            <a:r>
              <a:rPr lang="en-AU" dirty="0"/>
              <a:t>John Robertson</a:t>
            </a:r>
          </a:p>
        </p:txBody>
      </p:sp>
      <p:sp>
        <p:nvSpPr>
          <p:cNvPr id="41" name="Content Placeholder 40"/>
          <p:cNvSpPr>
            <a:spLocks noGrp="1"/>
          </p:cNvSpPr>
          <p:nvPr>
            <p:ph sz="quarter" idx="17"/>
          </p:nvPr>
        </p:nvSpPr>
        <p:spPr>
          <a:xfrm>
            <a:off x="1050925" y="4230443"/>
            <a:ext cx="10083800" cy="602809"/>
          </a:xfrm>
        </p:spPr>
        <p:txBody>
          <a:bodyPr/>
          <a:lstStyle/>
          <a:p>
            <a:r>
              <a:rPr lang="en-AU" dirty="0"/>
              <a:t>ICT40220 Certificate IV in Information Technology (Programming)</a:t>
            </a:r>
          </a:p>
        </p:txBody>
      </p:sp>
      <p:sp>
        <p:nvSpPr>
          <p:cNvPr id="4" name="Text Placeholder 3">
            <a:extLst>
              <a:ext uri="{FF2B5EF4-FFF2-40B4-BE49-F238E27FC236}">
                <a16:creationId xmlns:a16="http://schemas.microsoft.com/office/drawing/2014/main" id="{21F81A4C-2E98-64A7-48E3-0EE8B192F7DC}"/>
              </a:ext>
            </a:extLst>
          </p:cNvPr>
          <p:cNvSpPr>
            <a:spLocks noGrp="1"/>
          </p:cNvSpPr>
          <p:nvPr>
            <p:ph type="body" sz="quarter" idx="14"/>
          </p:nvPr>
        </p:nvSpPr>
        <p:spPr/>
        <p:txBody>
          <a:bodyPr/>
          <a:lstStyle/>
          <a:p>
            <a:r>
              <a:rPr lang="en-US" dirty="0"/>
              <a:t>Session 02</a:t>
            </a:r>
          </a:p>
        </p:txBody>
      </p:sp>
    </p:spTree>
    <p:extLst>
      <p:ext uri="{BB962C8B-B14F-4D97-AF65-F5344CB8AC3E}">
        <p14:creationId xmlns:p14="http://schemas.microsoft.com/office/powerpoint/2010/main" val="91334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48913-DE1D-8542-9FB8-28ADA73D154C}"/>
              </a:ext>
            </a:extLst>
          </p:cNvPr>
          <p:cNvSpPr>
            <a:spLocks noGrp="1"/>
          </p:cNvSpPr>
          <p:nvPr>
            <p:ph type="title"/>
          </p:nvPr>
        </p:nvSpPr>
        <p:spPr/>
        <p:txBody>
          <a:bodyPr/>
          <a:lstStyle/>
          <a:p>
            <a:r>
              <a:rPr lang="en-US" dirty="0"/>
              <a:t>Defining Modular programming</a:t>
            </a:r>
          </a:p>
        </p:txBody>
      </p:sp>
      <p:sp>
        <p:nvSpPr>
          <p:cNvPr id="4" name="Text Placeholder 3">
            <a:extLst>
              <a:ext uri="{FF2B5EF4-FFF2-40B4-BE49-F238E27FC236}">
                <a16:creationId xmlns:a16="http://schemas.microsoft.com/office/drawing/2014/main" id="{172DBA6D-8A01-D52B-2D73-F92728654709}"/>
              </a:ext>
            </a:extLst>
          </p:cNvPr>
          <p:cNvSpPr>
            <a:spLocks noGrp="1"/>
          </p:cNvSpPr>
          <p:nvPr>
            <p:ph type="body" idx="1"/>
          </p:nvPr>
        </p:nvSpPr>
        <p:spPr/>
        <p:txBody>
          <a:bodyPr/>
          <a:lstStyle/>
          <a:p>
            <a:r>
              <a:rPr lang="en-US" dirty="0"/>
              <a:t>Part 1</a:t>
            </a:r>
          </a:p>
        </p:txBody>
      </p:sp>
    </p:spTree>
    <p:extLst>
      <p:ext uri="{BB962C8B-B14F-4D97-AF65-F5344CB8AC3E}">
        <p14:creationId xmlns:p14="http://schemas.microsoft.com/office/powerpoint/2010/main" val="2886078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A Robot Teaches Itself to Play Jenga. But This Is No Game | WIRED">
            <a:extLst>
              <a:ext uri="{FF2B5EF4-FFF2-40B4-BE49-F238E27FC236}">
                <a16:creationId xmlns:a16="http://schemas.microsoft.com/office/drawing/2014/main" id="{39167CCC-6422-CE0C-EE09-B4906B2243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8571" y="0"/>
            <a:ext cx="12344400" cy="92583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7443C18-44CD-C25D-9149-27F15988E323}"/>
              </a:ext>
            </a:extLst>
          </p:cNvPr>
          <p:cNvSpPr/>
          <p:nvPr/>
        </p:nvSpPr>
        <p:spPr>
          <a:xfrm>
            <a:off x="-1" y="2965359"/>
            <a:ext cx="8741229" cy="1197429"/>
          </a:xfrm>
          <a:prstGeom prst="rect">
            <a:avLst/>
          </a:prstGeom>
          <a:solidFill>
            <a:srgbClr val="D92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0184C63-A53C-5CB1-3101-9D009B48AC4F}"/>
              </a:ext>
            </a:extLst>
          </p:cNvPr>
          <p:cNvSpPr txBox="1"/>
          <p:nvPr/>
        </p:nvSpPr>
        <p:spPr>
          <a:xfrm>
            <a:off x="593634" y="3179354"/>
            <a:ext cx="8058616" cy="769441"/>
          </a:xfrm>
          <a:prstGeom prst="rect">
            <a:avLst/>
          </a:prstGeom>
          <a:noFill/>
        </p:spPr>
        <p:txBody>
          <a:bodyPr wrap="none" rtlCol="0">
            <a:spAutoFit/>
          </a:bodyPr>
          <a:lstStyle/>
          <a:p>
            <a:r>
              <a:rPr lang="en-US" sz="4400" dirty="0">
                <a:solidFill>
                  <a:schemeClr val="bg1">
                    <a:lumMod val="85000"/>
                  </a:schemeClr>
                </a:solidFill>
              </a:rPr>
              <a:t>What is modular programming?</a:t>
            </a:r>
          </a:p>
        </p:txBody>
      </p:sp>
    </p:spTree>
    <p:extLst>
      <p:ext uri="{BB962C8B-B14F-4D97-AF65-F5344CB8AC3E}">
        <p14:creationId xmlns:p14="http://schemas.microsoft.com/office/powerpoint/2010/main" val="383322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legos" descr="How Many Combinations Are Possible Using 6 LEGO Bricks? | Mental Floss">
            <a:extLst>
              <a:ext uri="{FF2B5EF4-FFF2-40B4-BE49-F238E27FC236}">
                <a16:creationId xmlns:a16="http://schemas.microsoft.com/office/drawing/2014/main" id="{B2E5823B-CB8A-5017-7739-131551ACAA47}"/>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0" y="781049"/>
            <a:ext cx="2907696" cy="163557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C4AAACC-6E02-272F-A686-E07F1258AC9F}"/>
              </a:ext>
            </a:extLst>
          </p:cNvPr>
          <p:cNvSpPr txBox="1"/>
          <p:nvPr/>
        </p:nvSpPr>
        <p:spPr>
          <a:xfrm>
            <a:off x="2759892" y="1214117"/>
            <a:ext cx="2225289" cy="769441"/>
          </a:xfrm>
          <a:prstGeom prst="rect">
            <a:avLst/>
          </a:prstGeom>
          <a:noFill/>
        </p:spPr>
        <p:txBody>
          <a:bodyPr wrap="none" rtlCol="0">
            <a:spAutoFit/>
          </a:bodyPr>
          <a:lstStyle/>
          <a:p>
            <a:r>
              <a:rPr lang="en-US" sz="4400" dirty="0">
                <a:solidFill>
                  <a:schemeClr val="bg1">
                    <a:lumMod val="85000"/>
                  </a:schemeClr>
                </a:solidFill>
              </a:rPr>
              <a:t>Benefits</a:t>
            </a:r>
          </a:p>
        </p:txBody>
      </p:sp>
      <p:sp>
        <p:nvSpPr>
          <p:cNvPr id="5" name="Content Placeholder 4">
            <a:extLst>
              <a:ext uri="{FF2B5EF4-FFF2-40B4-BE49-F238E27FC236}">
                <a16:creationId xmlns:a16="http://schemas.microsoft.com/office/drawing/2014/main" id="{E329C072-4D1B-9655-D7C4-3A7322C8A0ED}"/>
              </a:ext>
            </a:extLst>
          </p:cNvPr>
          <p:cNvSpPr>
            <a:spLocks noGrp="1"/>
          </p:cNvSpPr>
          <p:nvPr>
            <p:ph idx="1"/>
          </p:nvPr>
        </p:nvSpPr>
        <p:spPr>
          <a:xfrm>
            <a:off x="2759892" y="2416626"/>
            <a:ext cx="9168799" cy="4563491"/>
          </a:xfrm>
        </p:spPr>
        <p:txBody>
          <a:bodyPr/>
          <a:lstStyle/>
          <a:p>
            <a:r>
              <a:rPr lang="en-US" dirty="0"/>
              <a:t>Reusability</a:t>
            </a:r>
          </a:p>
          <a:p>
            <a:r>
              <a:rPr lang="en-US" dirty="0"/>
              <a:t>Maintainability</a:t>
            </a:r>
          </a:p>
          <a:p>
            <a:r>
              <a:rPr lang="en-US" dirty="0"/>
              <a:t>Testing and debugging</a:t>
            </a:r>
          </a:p>
          <a:p>
            <a:r>
              <a:rPr lang="en-US" dirty="0"/>
              <a:t>Collaboration</a:t>
            </a:r>
            <a:br>
              <a:rPr lang="en-US" dirty="0"/>
            </a:br>
            <a:endParaRPr lang="en-US" dirty="0"/>
          </a:p>
          <a:p>
            <a:endParaRPr lang="en-US" dirty="0"/>
          </a:p>
        </p:txBody>
      </p:sp>
    </p:spTree>
    <p:extLst>
      <p:ext uri="{BB962C8B-B14F-4D97-AF65-F5344CB8AC3E}">
        <p14:creationId xmlns:p14="http://schemas.microsoft.com/office/powerpoint/2010/main" val="3144468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dissolv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dissolv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legos" descr="How Many Combinations Are Possible Using 6 LEGO Bricks? | Mental Floss">
            <a:extLst>
              <a:ext uri="{FF2B5EF4-FFF2-40B4-BE49-F238E27FC236}">
                <a16:creationId xmlns:a16="http://schemas.microsoft.com/office/drawing/2014/main" id="{B2E5823B-CB8A-5017-7739-131551ACAA47}"/>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6491" y="888431"/>
            <a:ext cx="2907696" cy="163557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C4AAACC-6E02-272F-A686-E07F1258AC9F}"/>
              </a:ext>
            </a:extLst>
          </p:cNvPr>
          <p:cNvSpPr txBox="1"/>
          <p:nvPr/>
        </p:nvSpPr>
        <p:spPr>
          <a:xfrm>
            <a:off x="2759892" y="1214117"/>
            <a:ext cx="2945037" cy="769441"/>
          </a:xfrm>
          <a:prstGeom prst="rect">
            <a:avLst/>
          </a:prstGeom>
          <a:noFill/>
        </p:spPr>
        <p:txBody>
          <a:bodyPr wrap="none" rtlCol="0">
            <a:spAutoFit/>
          </a:bodyPr>
          <a:lstStyle/>
          <a:p>
            <a:r>
              <a:rPr lang="en-US" sz="4400" dirty="0">
                <a:solidFill>
                  <a:schemeClr val="bg1">
                    <a:lumMod val="85000"/>
                  </a:schemeClr>
                </a:solidFill>
              </a:rPr>
              <a:t>Downsides</a:t>
            </a:r>
          </a:p>
        </p:txBody>
      </p:sp>
      <p:sp>
        <p:nvSpPr>
          <p:cNvPr id="5" name="Content Placeholder 4">
            <a:extLst>
              <a:ext uri="{FF2B5EF4-FFF2-40B4-BE49-F238E27FC236}">
                <a16:creationId xmlns:a16="http://schemas.microsoft.com/office/drawing/2014/main" id="{E329C072-4D1B-9655-D7C4-3A7322C8A0ED}"/>
              </a:ext>
            </a:extLst>
          </p:cNvPr>
          <p:cNvSpPr>
            <a:spLocks noGrp="1"/>
          </p:cNvSpPr>
          <p:nvPr>
            <p:ph idx="1"/>
          </p:nvPr>
        </p:nvSpPr>
        <p:spPr>
          <a:xfrm>
            <a:off x="2755202" y="2123612"/>
            <a:ext cx="9168799" cy="4563491"/>
          </a:xfrm>
        </p:spPr>
        <p:txBody>
          <a:bodyPr/>
          <a:lstStyle/>
          <a:p>
            <a:r>
              <a:rPr lang="en-US" dirty="0"/>
              <a:t>Complexity</a:t>
            </a:r>
          </a:p>
          <a:p>
            <a:r>
              <a:rPr lang="en-US" dirty="0"/>
              <a:t>Testing and debugging </a:t>
            </a:r>
            <a:br>
              <a:rPr lang="en-US" dirty="0"/>
            </a:br>
            <a:r>
              <a:rPr lang="en-US" dirty="0"/>
              <a:t>(weren’t you on the other slide???)</a:t>
            </a:r>
          </a:p>
          <a:p>
            <a:r>
              <a:rPr lang="en-US" dirty="0"/>
              <a:t>Integration/version control</a:t>
            </a:r>
            <a:br>
              <a:rPr lang="en-US" dirty="0"/>
            </a:br>
            <a:endParaRPr lang="en-US" dirty="0"/>
          </a:p>
          <a:p>
            <a:endParaRPr lang="en-US" dirty="0"/>
          </a:p>
        </p:txBody>
      </p:sp>
      <p:pic>
        <p:nvPicPr>
          <p:cNvPr id="2" name="!!legos" descr="How Many Combinations Are Possible Using 6 LEGO Bricks? | Mental Floss">
            <a:extLst>
              <a:ext uri="{FF2B5EF4-FFF2-40B4-BE49-F238E27FC236}">
                <a16:creationId xmlns:a16="http://schemas.microsoft.com/office/drawing/2014/main" id="{0BFD5AAB-929A-A2EC-FE84-D080FA217327}"/>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63527" y="1983558"/>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4" name="!!legos" descr="How Many Combinations Are Possible Using 6 LEGO Bricks? | Mental Floss">
            <a:extLst>
              <a:ext uri="{FF2B5EF4-FFF2-40B4-BE49-F238E27FC236}">
                <a16:creationId xmlns:a16="http://schemas.microsoft.com/office/drawing/2014/main" id="{6ECCA2EA-36C9-7535-E053-0E5E6FBFABA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11331" y="3963139"/>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6" name="!!legos" descr="How Many Combinations Are Possible Using 6 LEGO Bricks? | Mental Floss">
            <a:extLst>
              <a:ext uri="{FF2B5EF4-FFF2-40B4-BE49-F238E27FC236}">
                <a16:creationId xmlns:a16="http://schemas.microsoft.com/office/drawing/2014/main" id="{A5979E3D-E038-B11B-ED4E-9BACB599004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4269" y="3402054"/>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7" name="!!legos" descr="How Many Combinations Are Possible Using 6 LEGO Bricks? | Mental Floss">
            <a:extLst>
              <a:ext uri="{FF2B5EF4-FFF2-40B4-BE49-F238E27FC236}">
                <a16:creationId xmlns:a16="http://schemas.microsoft.com/office/drawing/2014/main" id="{E55C56DE-A021-188D-FB63-FE34F5CDB8B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89556" y="5051524"/>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8" name="!!legos" descr="How Many Combinations Are Possible Using 6 LEGO Bricks? | Mental Floss">
            <a:extLst>
              <a:ext uri="{FF2B5EF4-FFF2-40B4-BE49-F238E27FC236}">
                <a16:creationId xmlns:a16="http://schemas.microsoft.com/office/drawing/2014/main" id="{99EFCA22-B3E8-F6C0-F89E-BB26EC1F7BC9}"/>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809898" y="4760296"/>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9" name="!!legos" descr="How Many Combinations Are Possible Using 6 LEGO Bricks? | Mental Floss">
            <a:extLst>
              <a:ext uri="{FF2B5EF4-FFF2-40B4-BE49-F238E27FC236}">
                <a16:creationId xmlns:a16="http://schemas.microsoft.com/office/drawing/2014/main" id="{B404A050-B8F5-FBDB-8A95-46438FBFC4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263746" y="5017822"/>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10" name="!!legos" descr="How Many Combinations Are Possible Using 6 LEGO Bricks? | Mental Floss">
            <a:extLst>
              <a:ext uri="{FF2B5EF4-FFF2-40B4-BE49-F238E27FC236}">
                <a16:creationId xmlns:a16="http://schemas.microsoft.com/office/drawing/2014/main" id="{FD582DA4-9468-EB65-5CA8-FDFB7BE4BAE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717594" y="5275348"/>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11" name="!!legos" descr="How Many Combinations Are Possible Using 6 LEGO Bricks? | Mental Floss">
            <a:extLst>
              <a:ext uri="{FF2B5EF4-FFF2-40B4-BE49-F238E27FC236}">
                <a16:creationId xmlns:a16="http://schemas.microsoft.com/office/drawing/2014/main" id="{7B0CDAC7-1274-1686-7296-C53BC18AA90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94175" y="5263538"/>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12" name="!!legos" descr="How Many Combinations Are Possible Using 6 LEGO Bricks? | Mental Floss">
            <a:extLst>
              <a:ext uri="{FF2B5EF4-FFF2-40B4-BE49-F238E27FC236}">
                <a16:creationId xmlns:a16="http://schemas.microsoft.com/office/drawing/2014/main" id="{4B2A2898-0350-D219-3F3C-C625FAF59059}"/>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576295" y="4650819"/>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13" name="!!legos" descr="How Many Combinations Are Possible Using 6 LEGO Bricks? | Mental Floss">
            <a:extLst>
              <a:ext uri="{FF2B5EF4-FFF2-40B4-BE49-F238E27FC236}">
                <a16:creationId xmlns:a16="http://schemas.microsoft.com/office/drawing/2014/main" id="{3B13D0A9-C030-2712-32C7-C71DE39F70C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711675" y="4710012"/>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14" name="!!legos" descr="How Many Combinations Are Possible Using 6 LEGO Bricks? | Mental Floss">
            <a:extLst>
              <a:ext uri="{FF2B5EF4-FFF2-40B4-BE49-F238E27FC236}">
                <a16:creationId xmlns:a16="http://schemas.microsoft.com/office/drawing/2014/main" id="{81C97E19-D13F-826D-C764-D8D27015CC4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6276948" y="5344538"/>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15" name="!!legos" descr="How Many Combinations Are Possible Using 6 LEGO Bricks? | Mental Floss">
            <a:extLst>
              <a:ext uri="{FF2B5EF4-FFF2-40B4-BE49-F238E27FC236}">
                <a16:creationId xmlns:a16="http://schemas.microsoft.com/office/drawing/2014/main" id="{24E9E5CE-7AB2-0E22-0E5B-EF3A711788C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74858" y="2604897"/>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16" name="!!legos" descr="How Many Combinations Are Possible Using 6 LEGO Bricks? | Mental Floss">
            <a:extLst>
              <a:ext uri="{FF2B5EF4-FFF2-40B4-BE49-F238E27FC236}">
                <a16:creationId xmlns:a16="http://schemas.microsoft.com/office/drawing/2014/main" id="{4674B4AE-6CFE-834C-F1B4-0C7A026F3B7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259759" y="4569819"/>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17" name="!!legos" descr="How Many Combinations Are Possible Using 6 LEGO Bricks? | Mental Floss">
            <a:extLst>
              <a:ext uri="{FF2B5EF4-FFF2-40B4-BE49-F238E27FC236}">
                <a16:creationId xmlns:a16="http://schemas.microsoft.com/office/drawing/2014/main" id="{B39C64F5-8F1C-62BF-010F-E40F760D022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904725" y="5017821"/>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18" name="!!legos" descr="How Many Combinations Are Possible Using 6 LEGO Bricks? | Mental Floss">
            <a:extLst>
              <a:ext uri="{FF2B5EF4-FFF2-40B4-BE49-F238E27FC236}">
                <a16:creationId xmlns:a16="http://schemas.microsoft.com/office/drawing/2014/main" id="{85075ABE-9143-E42D-3B9C-70CA5D6E2FE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032350" y="5325630"/>
            <a:ext cx="2907696" cy="1635579"/>
          </a:xfrm>
          <a:prstGeom prst="rect">
            <a:avLst/>
          </a:prstGeom>
          <a:noFill/>
          <a:extLst>
            <a:ext uri="{909E8E84-426E-40DD-AFC4-6F175D3DCCD1}">
              <a14:hiddenFill xmlns:a14="http://schemas.microsoft.com/office/drawing/2010/main">
                <a:solidFill>
                  <a:srgbClr val="FFFFFF"/>
                </a:solidFill>
              </a14:hiddenFill>
            </a:ext>
          </a:extLst>
        </p:spPr>
      </p:pic>
      <p:pic>
        <p:nvPicPr>
          <p:cNvPr id="19" name="!!legos" descr="How Many Combinations Are Possible Using 6 LEGO Bricks? | Mental Floss">
            <a:extLst>
              <a:ext uri="{FF2B5EF4-FFF2-40B4-BE49-F238E27FC236}">
                <a16:creationId xmlns:a16="http://schemas.microsoft.com/office/drawing/2014/main" id="{6345F4E2-707A-AF67-7124-471AFF0BBA53}"/>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3407096" y="5468609"/>
            <a:ext cx="2907696" cy="1635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977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2000"/>
                                        <p:tgtEl>
                                          <p:spTgt spid="5">
                                            <p:txEl>
                                              <p:pRg st="0" end="0"/>
                                            </p:txEl>
                                          </p:spTgt>
                                        </p:tgtEl>
                                      </p:cBhvr>
                                    </p:animEffect>
                                  </p:childTnLst>
                                </p:cTn>
                              </p:par>
                              <p:par>
                                <p:cTn id="8" presetID="9" presetClass="entr" presetSubtype="0" fill="hold" nodeType="withEffect">
                                  <p:stCondLst>
                                    <p:cond delay="50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dissolve">
                                      <p:cBhvr>
                                        <p:cTn id="10" dur="500"/>
                                        <p:tgtEl>
                                          <p:spTgt spid="5">
                                            <p:txEl>
                                              <p:pRg st="1" end="1"/>
                                            </p:txEl>
                                          </p:spTgt>
                                        </p:tgtEl>
                                      </p:cBhvr>
                                    </p:animEffect>
                                  </p:childTnLst>
                                </p:cTn>
                              </p:par>
                              <p:par>
                                <p:cTn id="11" presetID="9" presetClass="entr" presetSubtype="0" fill="hold" nodeType="withEffect">
                                  <p:stCondLst>
                                    <p:cond delay="10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dissolve">
                                      <p:cBhvr>
                                        <p:cTn id="13" dur="500"/>
                                        <p:tgtEl>
                                          <p:spTgt spid="5">
                                            <p:txEl>
                                              <p:pRg st="2" end="2"/>
                                            </p:txEl>
                                          </p:spTgt>
                                        </p:tgtEl>
                                      </p:cBhvr>
                                    </p:animEffect>
                                  </p:childTnLst>
                                </p:cTn>
                              </p:par>
                              <p:par>
                                <p:cTn id="14" presetID="2" presetClass="entr" presetSubtype="4" fill="hold" nodeType="withEffect">
                                  <p:stCondLst>
                                    <p:cond delay="500"/>
                                  </p:stCondLst>
                                  <p:childTnLst>
                                    <p:set>
                                      <p:cBhvr>
                                        <p:cTn id="15" dur="1" fill="hold">
                                          <p:stCondLst>
                                            <p:cond delay="0"/>
                                          </p:stCondLst>
                                        </p:cTn>
                                        <p:tgtEl>
                                          <p:spTgt spid="2052"/>
                                        </p:tgtEl>
                                        <p:attrNameLst>
                                          <p:attrName>style.visibility</p:attrName>
                                        </p:attrNameLst>
                                      </p:cBhvr>
                                      <p:to>
                                        <p:strVal val="visible"/>
                                      </p:to>
                                    </p:set>
                                    <p:anim calcmode="lin" valueType="num">
                                      <p:cBhvr additive="base">
                                        <p:cTn id="16" dur="500" fill="hold"/>
                                        <p:tgtEl>
                                          <p:spTgt spid="2052"/>
                                        </p:tgtEl>
                                        <p:attrNameLst>
                                          <p:attrName>ppt_x</p:attrName>
                                        </p:attrNameLst>
                                      </p:cBhvr>
                                      <p:tavLst>
                                        <p:tav tm="0">
                                          <p:val>
                                            <p:strVal val="#ppt_x"/>
                                          </p:val>
                                        </p:tav>
                                        <p:tav tm="100000">
                                          <p:val>
                                            <p:strVal val="#ppt_x"/>
                                          </p:val>
                                        </p:tav>
                                      </p:tavLst>
                                    </p:anim>
                                    <p:anim calcmode="lin" valueType="num">
                                      <p:cBhvr additive="base">
                                        <p:cTn id="17" dur="500" fill="hold"/>
                                        <p:tgtEl>
                                          <p:spTgt spid="2052"/>
                                        </p:tgtEl>
                                        <p:attrNameLst>
                                          <p:attrName>ppt_y</p:attrName>
                                        </p:attrNameLst>
                                      </p:cBhvr>
                                      <p:tavLst>
                                        <p:tav tm="0">
                                          <p:val>
                                            <p:strVal val="1+#ppt_h/2"/>
                                          </p:val>
                                        </p:tav>
                                        <p:tav tm="100000">
                                          <p:val>
                                            <p:strVal val="#ppt_y"/>
                                          </p:val>
                                        </p:tav>
                                      </p:tavLst>
                                    </p:anim>
                                  </p:childTnLst>
                                </p:cTn>
                              </p:par>
                            </p:childTnLst>
                          </p:cTn>
                        </p:par>
                        <p:par>
                          <p:cTn id="18" fill="hold">
                            <p:stCondLst>
                              <p:cond delay="2000"/>
                            </p:stCondLst>
                            <p:childTnLst>
                              <p:par>
                                <p:cTn id="19" presetID="2" presetClass="entr" presetSubtype="8"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0-#ppt_w/2"/>
                                          </p:val>
                                        </p:tav>
                                        <p:tav tm="100000">
                                          <p:val>
                                            <p:strVal val="#ppt_x"/>
                                          </p:val>
                                        </p:tav>
                                      </p:tavLst>
                                    </p:anim>
                                    <p:anim calcmode="lin" valueType="num">
                                      <p:cBhvr additive="base">
                                        <p:cTn id="22" dur="500" fill="hold"/>
                                        <p:tgtEl>
                                          <p:spTgt spid="2"/>
                                        </p:tgtEl>
                                        <p:attrNameLst>
                                          <p:attrName>ppt_y</p:attrName>
                                        </p:attrNameLst>
                                      </p:cBhvr>
                                      <p:tavLst>
                                        <p:tav tm="0">
                                          <p:val>
                                            <p:strVal val="#ppt_y"/>
                                          </p:val>
                                        </p:tav>
                                        <p:tav tm="100000">
                                          <p:val>
                                            <p:strVal val="#ppt_y"/>
                                          </p:val>
                                        </p:tav>
                                      </p:tavLst>
                                    </p:anim>
                                  </p:childTnLst>
                                </p:cTn>
                              </p:par>
                            </p:childTnLst>
                          </p:cTn>
                        </p:par>
                        <p:par>
                          <p:cTn id="23" fill="hold">
                            <p:stCondLst>
                              <p:cond delay="2500"/>
                            </p:stCondLst>
                            <p:childTnLst>
                              <p:par>
                                <p:cTn id="24" presetID="2" presetClass="entr" presetSubtype="8" fill="hold" nodeType="afterEffect">
                                  <p:stCondLst>
                                    <p:cond delay="50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fill="hold"/>
                                        <p:tgtEl>
                                          <p:spTgt spid="4"/>
                                        </p:tgtEl>
                                        <p:attrNameLst>
                                          <p:attrName>ppt_x</p:attrName>
                                        </p:attrNameLst>
                                      </p:cBhvr>
                                      <p:tavLst>
                                        <p:tav tm="0">
                                          <p:val>
                                            <p:strVal val="0-#ppt_w/2"/>
                                          </p:val>
                                        </p:tav>
                                        <p:tav tm="100000">
                                          <p:val>
                                            <p:strVal val="#ppt_x"/>
                                          </p:val>
                                        </p:tav>
                                      </p:tavLst>
                                    </p:anim>
                                    <p:anim calcmode="lin" valueType="num">
                                      <p:cBhvr additive="base">
                                        <p:cTn id="27" dur="500" fill="hold"/>
                                        <p:tgtEl>
                                          <p:spTgt spid="4"/>
                                        </p:tgtEl>
                                        <p:attrNameLst>
                                          <p:attrName>ppt_y</p:attrName>
                                        </p:attrNameLst>
                                      </p:cBhvr>
                                      <p:tavLst>
                                        <p:tav tm="0">
                                          <p:val>
                                            <p:strVal val="#ppt_y"/>
                                          </p:val>
                                        </p:tav>
                                        <p:tav tm="100000">
                                          <p:val>
                                            <p:strVal val="#ppt_y"/>
                                          </p:val>
                                        </p:tav>
                                      </p:tavLst>
                                    </p:anim>
                                  </p:childTnLst>
                                </p:cTn>
                              </p:par>
                            </p:childTnLst>
                          </p:cTn>
                        </p:par>
                        <p:par>
                          <p:cTn id="28" fill="hold">
                            <p:stCondLst>
                              <p:cond delay="3500"/>
                            </p:stCondLst>
                            <p:childTnLst>
                              <p:par>
                                <p:cTn id="29" presetID="2" presetClass="entr" presetSubtype="8"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0-#ppt_w/2"/>
                                          </p:val>
                                        </p:tav>
                                        <p:tav tm="100000">
                                          <p:val>
                                            <p:strVal val="#ppt_x"/>
                                          </p:val>
                                        </p:tav>
                                      </p:tavLst>
                                    </p:anim>
                                    <p:anim calcmode="lin" valueType="num">
                                      <p:cBhvr additive="base">
                                        <p:cTn id="32" dur="500" fill="hold"/>
                                        <p:tgtEl>
                                          <p:spTgt spid="6"/>
                                        </p:tgtEl>
                                        <p:attrNameLst>
                                          <p:attrName>ppt_y</p:attrName>
                                        </p:attrNameLst>
                                      </p:cBhvr>
                                      <p:tavLst>
                                        <p:tav tm="0">
                                          <p:val>
                                            <p:strVal val="#ppt_y"/>
                                          </p:val>
                                        </p:tav>
                                        <p:tav tm="100000">
                                          <p:val>
                                            <p:strVal val="#ppt_y"/>
                                          </p:val>
                                        </p:tav>
                                      </p:tavLst>
                                    </p:anim>
                                  </p:childTnLst>
                                </p:cTn>
                              </p:par>
                            </p:childTnLst>
                          </p:cTn>
                        </p:par>
                        <p:par>
                          <p:cTn id="33" fill="hold">
                            <p:stCondLst>
                              <p:cond delay="4000"/>
                            </p:stCondLst>
                            <p:childTnLst>
                              <p:par>
                                <p:cTn id="34" presetID="2" presetClass="entr" presetSubtype="8" fill="hold" nodeType="after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0-#ppt_w/2"/>
                                          </p:val>
                                        </p:tav>
                                        <p:tav tm="100000">
                                          <p:val>
                                            <p:strVal val="#ppt_x"/>
                                          </p:val>
                                        </p:tav>
                                      </p:tavLst>
                                    </p:anim>
                                    <p:anim calcmode="lin" valueType="num">
                                      <p:cBhvr additive="base">
                                        <p:cTn id="37" dur="500" fill="hold"/>
                                        <p:tgtEl>
                                          <p:spTgt spid="7"/>
                                        </p:tgtEl>
                                        <p:attrNameLst>
                                          <p:attrName>ppt_y</p:attrName>
                                        </p:attrNameLst>
                                      </p:cBhvr>
                                      <p:tavLst>
                                        <p:tav tm="0">
                                          <p:val>
                                            <p:strVal val="#ppt_y"/>
                                          </p:val>
                                        </p:tav>
                                        <p:tav tm="100000">
                                          <p:val>
                                            <p:strVal val="#ppt_y"/>
                                          </p:val>
                                        </p:tav>
                                      </p:tavLst>
                                    </p:anim>
                                  </p:childTnLst>
                                </p:cTn>
                              </p:par>
                            </p:childTnLst>
                          </p:cTn>
                        </p:par>
                        <p:par>
                          <p:cTn id="38" fill="hold">
                            <p:stCondLst>
                              <p:cond delay="4500"/>
                            </p:stCondLst>
                            <p:childTnLst>
                              <p:par>
                                <p:cTn id="39" presetID="2" presetClass="entr" presetSubtype="8" fill="hold" nodeType="after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0-#ppt_w/2"/>
                                          </p:val>
                                        </p:tav>
                                        <p:tav tm="100000">
                                          <p:val>
                                            <p:strVal val="#ppt_x"/>
                                          </p:val>
                                        </p:tav>
                                      </p:tavLst>
                                    </p:anim>
                                    <p:anim calcmode="lin" valueType="num">
                                      <p:cBhvr additive="base">
                                        <p:cTn id="42" dur="500" fill="hold"/>
                                        <p:tgtEl>
                                          <p:spTgt spid="11"/>
                                        </p:tgtEl>
                                        <p:attrNameLst>
                                          <p:attrName>ppt_y</p:attrName>
                                        </p:attrNameLst>
                                      </p:cBhvr>
                                      <p:tavLst>
                                        <p:tav tm="0">
                                          <p:val>
                                            <p:strVal val="#ppt_y"/>
                                          </p:val>
                                        </p:tav>
                                        <p:tav tm="100000">
                                          <p:val>
                                            <p:strVal val="#ppt_y"/>
                                          </p:val>
                                        </p:tav>
                                      </p:tavLst>
                                    </p:anim>
                                  </p:childTnLst>
                                </p:cTn>
                              </p:par>
                              <p:par>
                                <p:cTn id="43" presetID="2" presetClass="entr" presetSubtype="4" fill="hold" nodeType="withEffect">
                                  <p:stCondLst>
                                    <p:cond delay="50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500" fill="hold"/>
                                        <p:tgtEl>
                                          <p:spTgt spid="8"/>
                                        </p:tgtEl>
                                        <p:attrNameLst>
                                          <p:attrName>ppt_x</p:attrName>
                                        </p:attrNameLst>
                                      </p:cBhvr>
                                      <p:tavLst>
                                        <p:tav tm="0">
                                          <p:val>
                                            <p:strVal val="#ppt_x"/>
                                          </p:val>
                                        </p:tav>
                                        <p:tav tm="100000">
                                          <p:val>
                                            <p:strVal val="#ppt_x"/>
                                          </p:val>
                                        </p:tav>
                                      </p:tavLst>
                                    </p:anim>
                                    <p:anim calcmode="lin" valueType="num">
                                      <p:cBhvr additive="base">
                                        <p:cTn id="46" dur="500" fill="hold"/>
                                        <p:tgtEl>
                                          <p:spTgt spid="8"/>
                                        </p:tgtEl>
                                        <p:attrNameLst>
                                          <p:attrName>ppt_y</p:attrName>
                                        </p:attrNameLst>
                                      </p:cBhvr>
                                      <p:tavLst>
                                        <p:tav tm="0">
                                          <p:val>
                                            <p:strVal val="1+#ppt_h/2"/>
                                          </p:val>
                                        </p:tav>
                                        <p:tav tm="100000">
                                          <p:val>
                                            <p:strVal val="#ppt_y"/>
                                          </p:val>
                                        </p:tav>
                                      </p:tavLst>
                                    </p:anim>
                                  </p:childTnLst>
                                </p:cTn>
                              </p:par>
                            </p:childTnLst>
                          </p:cTn>
                        </p:par>
                        <p:par>
                          <p:cTn id="47" fill="hold">
                            <p:stCondLst>
                              <p:cond delay="5500"/>
                            </p:stCondLst>
                            <p:childTnLst>
                              <p:par>
                                <p:cTn id="48" presetID="2" presetClass="entr" presetSubtype="8" fill="hold" nodeType="afterEffect">
                                  <p:stCondLst>
                                    <p:cond delay="500"/>
                                  </p:stCondLst>
                                  <p:childTnLst>
                                    <p:set>
                                      <p:cBhvr>
                                        <p:cTn id="49" dur="1" fill="hold">
                                          <p:stCondLst>
                                            <p:cond delay="0"/>
                                          </p:stCondLst>
                                        </p:cTn>
                                        <p:tgtEl>
                                          <p:spTgt spid="9"/>
                                        </p:tgtEl>
                                        <p:attrNameLst>
                                          <p:attrName>style.visibility</p:attrName>
                                        </p:attrNameLst>
                                      </p:cBhvr>
                                      <p:to>
                                        <p:strVal val="visible"/>
                                      </p:to>
                                    </p:set>
                                    <p:anim calcmode="lin" valueType="num">
                                      <p:cBhvr additive="base">
                                        <p:cTn id="50" dur="1000" fill="hold"/>
                                        <p:tgtEl>
                                          <p:spTgt spid="9"/>
                                        </p:tgtEl>
                                        <p:attrNameLst>
                                          <p:attrName>ppt_x</p:attrName>
                                        </p:attrNameLst>
                                      </p:cBhvr>
                                      <p:tavLst>
                                        <p:tav tm="0">
                                          <p:val>
                                            <p:strVal val="0-#ppt_w/2"/>
                                          </p:val>
                                        </p:tav>
                                        <p:tav tm="100000">
                                          <p:val>
                                            <p:strVal val="#ppt_x"/>
                                          </p:val>
                                        </p:tav>
                                      </p:tavLst>
                                    </p:anim>
                                    <p:anim calcmode="lin" valueType="num">
                                      <p:cBhvr additive="base">
                                        <p:cTn id="51" dur="1000" fill="hold"/>
                                        <p:tgtEl>
                                          <p:spTgt spid="9"/>
                                        </p:tgtEl>
                                        <p:attrNameLst>
                                          <p:attrName>ppt_y</p:attrName>
                                        </p:attrNameLst>
                                      </p:cBhvr>
                                      <p:tavLst>
                                        <p:tav tm="0">
                                          <p:val>
                                            <p:strVal val="#ppt_y"/>
                                          </p:val>
                                        </p:tav>
                                        <p:tav tm="100000">
                                          <p:val>
                                            <p:strVal val="#ppt_y"/>
                                          </p:val>
                                        </p:tav>
                                      </p:tavLst>
                                    </p:anim>
                                  </p:childTnLst>
                                </p:cTn>
                              </p:par>
                            </p:childTnLst>
                          </p:cTn>
                        </p:par>
                        <p:par>
                          <p:cTn id="52" fill="hold">
                            <p:stCondLst>
                              <p:cond delay="7000"/>
                            </p:stCondLst>
                            <p:childTnLst>
                              <p:par>
                                <p:cTn id="53" presetID="2" presetClass="entr" presetSubtype="8" fill="hold" nodeType="afterEffect">
                                  <p:stCondLst>
                                    <p:cond delay="50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1000" fill="hold"/>
                                        <p:tgtEl>
                                          <p:spTgt spid="10"/>
                                        </p:tgtEl>
                                        <p:attrNameLst>
                                          <p:attrName>ppt_x</p:attrName>
                                        </p:attrNameLst>
                                      </p:cBhvr>
                                      <p:tavLst>
                                        <p:tav tm="0">
                                          <p:val>
                                            <p:strVal val="0-#ppt_w/2"/>
                                          </p:val>
                                        </p:tav>
                                        <p:tav tm="100000">
                                          <p:val>
                                            <p:strVal val="#ppt_x"/>
                                          </p:val>
                                        </p:tav>
                                      </p:tavLst>
                                    </p:anim>
                                    <p:anim calcmode="lin" valueType="num">
                                      <p:cBhvr additive="base">
                                        <p:cTn id="56" dur="1000" fill="hold"/>
                                        <p:tgtEl>
                                          <p:spTgt spid="10"/>
                                        </p:tgtEl>
                                        <p:attrNameLst>
                                          <p:attrName>ppt_y</p:attrName>
                                        </p:attrNameLst>
                                      </p:cBhvr>
                                      <p:tavLst>
                                        <p:tav tm="0">
                                          <p:val>
                                            <p:strVal val="#ppt_y"/>
                                          </p:val>
                                        </p:tav>
                                        <p:tav tm="100000">
                                          <p:val>
                                            <p:strVal val="#ppt_y"/>
                                          </p:val>
                                        </p:tav>
                                      </p:tavLst>
                                    </p:anim>
                                  </p:childTnLst>
                                </p:cTn>
                              </p:par>
                            </p:childTnLst>
                          </p:cTn>
                        </p:par>
                        <p:par>
                          <p:cTn id="57" fill="hold">
                            <p:stCondLst>
                              <p:cond delay="8500"/>
                            </p:stCondLst>
                            <p:childTnLst>
                              <p:par>
                                <p:cTn id="58" presetID="2" presetClass="entr" presetSubtype="8" fill="hold" nodeType="afterEffect">
                                  <p:stCondLst>
                                    <p:cond delay="500"/>
                                  </p:stCondLst>
                                  <p:childTnLst>
                                    <p:set>
                                      <p:cBhvr>
                                        <p:cTn id="59" dur="1" fill="hold">
                                          <p:stCondLst>
                                            <p:cond delay="0"/>
                                          </p:stCondLst>
                                        </p:cTn>
                                        <p:tgtEl>
                                          <p:spTgt spid="12"/>
                                        </p:tgtEl>
                                        <p:attrNameLst>
                                          <p:attrName>style.visibility</p:attrName>
                                        </p:attrNameLst>
                                      </p:cBhvr>
                                      <p:to>
                                        <p:strVal val="visible"/>
                                      </p:to>
                                    </p:set>
                                    <p:anim calcmode="lin" valueType="num">
                                      <p:cBhvr additive="base">
                                        <p:cTn id="60" dur="1000" fill="hold"/>
                                        <p:tgtEl>
                                          <p:spTgt spid="12"/>
                                        </p:tgtEl>
                                        <p:attrNameLst>
                                          <p:attrName>ppt_x</p:attrName>
                                        </p:attrNameLst>
                                      </p:cBhvr>
                                      <p:tavLst>
                                        <p:tav tm="0">
                                          <p:val>
                                            <p:strVal val="0-#ppt_w/2"/>
                                          </p:val>
                                        </p:tav>
                                        <p:tav tm="100000">
                                          <p:val>
                                            <p:strVal val="#ppt_x"/>
                                          </p:val>
                                        </p:tav>
                                      </p:tavLst>
                                    </p:anim>
                                    <p:anim calcmode="lin" valueType="num">
                                      <p:cBhvr additive="base">
                                        <p:cTn id="61" dur="1000" fill="hold"/>
                                        <p:tgtEl>
                                          <p:spTgt spid="12"/>
                                        </p:tgtEl>
                                        <p:attrNameLst>
                                          <p:attrName>ppt_y</p:attrName>
                                        </p:attrNameLst>
                                      </p:cBhvr>
                                      <p:tavLst>
                                        <p:tav tm="0">
                                          <p:val>
                                            <p:strVal val="#ppt_y"/>
                                          </p:val>
                                        </p:tav>
                                        <p:tav tm="100000">
                                          <p:val>
                                            <p:strVal val="#ppt_y"/>
                                          </p:val>
                                        </p:tav>
                                      </p:tavLst>
                                    </p:anim>
                                  </p:childTnLst>
                                </p:cTn>
                              </p:par>
                            </p:childTnLst>
                          </p:cTn>
                        </p:par>
                        <p:par>
                          <p:cTn id="62" fill="hold">
                            <p:stCondLst>
                              <p:cond delay="10000"/>
                            </p:stCondLst>
                            <p:childTnLst>
                              <p:par>
                                <p:cTn id="63" presetID="2" presetClass="entr" presetSubtype="8" fill="hold" nodeType="afterEffect">
                                  <p:stCondLst>
                                    <p:cond delay="500"/>
                                  </p:stCondLst>
                                  <p:childTnLst>
                                    <p:set>
                                      <p:cBhvr>
                                        <p:cTn id="64" dur="1" fill="hold">
                                          <p:stCondLst>
                                            <p:cond delay="0"/>
                                          </p:stCondLst>
                                        </p:cTn>
                                        <p:tgtEl>
                                          <p:spTgt spid="13"/>
                                        </p:tgtEl>
                                        <p:attrNameLst>
                                          <p:attrName>style.visibility</p:attrName>
                                        </p:attrNameLst>
                                      </p:cBhvr>
                                      <p:to>
                                        <p:strVal val="visible"/>
                                      </p:to>
                                    </p:set>
                                    <p:anim calcmode="lin" valueType="num">
                                      <p:cBhvr additive="base">
                                        <p:cTn id="65" dur="1000" fill="hold"/>
                                        <p:tgtEl>
                                          <p:spTgt spid="13"/>
                                        </p:tgtEl>
                                        <p:attrNameLst>
                                          <p:attrName>ppt_x</p:attrName>
                                        </p:attrNameLst>
                                      </p:cBhvr>
                                      <p:tavLst>
                                        <p:tav tm="0">
                                          <p:val>
                                            <p:strVal val="0-#ppt_w/2"/>
                                          </p:val>
                                        </p:tav>
                                        <p:tav tm="100000">
                                          <p:val>
                                            <p:strVal val="#ppt_x"/>
                                          </p:val>
                                        </p:tav>
                                      </p:tavLst>
                                    </p:anim>
                                    <p:anim calcmode="lin" valueType="num">
                                      <p:cBhvr additive="base">
                                        <p:cTn id="66" dur="1000" fill="hold"/>
                                        <p:tgtEl>
                                          <p:spTgt spid="13"/>
                                        </p:tgtEl>
                                        <p:attrNameLst>
                                          <p:attrName>ppt_y</p:attrName>
                                        </p:attrNameLst>
                                      </p:cBhvr>
                                      <p:tavLst>
                                        <p:tav tm="0">
                                          <p:val>
                                            <p:strVal val="#ppt_y"/>
                                          </p:val>
                                        </p:tav>
                                        <p:tav tm="100000">
                                          <p:val>
                                            <p:strVal val="#ppt_y"/>
                                          </p:val>
                                        </p:tav>
                                      </p:tavLst>
                                    </p:anim>
                                  </p:childTnLst>
                                </p:cTn>
                              </p:par>
                              <p:par>
                                <p:cTn id="67" presetID="2" presetClass="entr" presetSubtype="4" fill="hold" nodeType="withEffect">
                                  <p:stCondLst>
                                    <p:cond delay="500"/>
                                  </p:stCondLst>
                                  <p:childTnLst>
                                    <p:set>
                                      <p:cBhvr>
                                        <p:cTn id="68" dur="1" fill="hold">
                                          <p:stCondLst>
                                            <p:cond delay="0"/>
                                          </p:stCondLst>
                                        </p:cTn>
                                        <p:tgtEl>
                                          <p:spTgt spid="14"/>
                                        </p:tgtEl>
                                        <p:attrNameLst>
                                          <p:attrName>style.visibility</p:attrName>
                                        </p:attrNameLst>
                                      </p:cBhvr>
                                      <p:to>
                                        <p:strVal val="visible"/>
                                      </p:to>
                                    </p:set>
                                    <p:anim calcmode="lin" valueType="num">
                                      <p:cBhvr additive="base">
                                        <p:cTn id="69" dur="500" fill="hold"/>
                                        <p:tgtEl>
                                          <p:spTgt spid="14"/>
                                        </p:tgtEl>
                                        <p:attrNameLst>
                                          <p:attrName>ppt_x</p:attrName>
                                        </p:attrNameLst>
                                      </p:cBhvr>
                                      <p:tavLst>
                                        <p:tav tm="0">
                                          <p:val>
                                            <p:strVal val="#ppt_x"/>
                                          </p:val>
                                        </p:tav>
                                        <p:tav tm="100000">
                                          <p:val>
                                            <p:strVal val="#ppt_x"/>
                                          </p:val>
                                        </p:tav>
                                      </p:tavLst>
                                    </p:anim>
                                    <p:anim calcmode="lin" valueType="num">
                                      <p:cBhvr additive="base">
                                        <p:cTn id="7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15"/>
                                        </p:tgtEl>
                                        <p:attrNameLst>
                                          <p:attrName>style.visibility</p:attrName>
                                        </p:attrNameLst>
                                      </p:cBhvr>
                                      <p:to>
                                        <p:strVal val="visible"/>
                                      </p:to>
                                    </p:set>
                                    <p:anim calcmode="lin" valueType="num">
                                      <p:cBhvr additive="base">
                                        <p:cTn id="75" dur="500" fill="hold"/>
                                        <p:tgtEl>
                                          <p:spTgt spid="15"/>
                                        </p:tgtEl>
                                        <p:attrNameLst>
                                          <p:attrName>ppt_x</p:attrName>
                                        </p:attrNameLst>
                                      </p:cBhvr>
                                      <p:tavLst>
                                        <p:tav tm="0">
                                          <p:val>
                                            <p:strVal val="#ppt_x"/>
                                          </p:val>
                                        </p:tav>
                                        <p:tav tm="100000">
                                          <p:val>
                                            <p:strVal val="#ppt_x"/>
                                          </p:val>
                                        </p:tav>
                                      </p:tavLst>
                                    </p:anim>
                                    <p:anim calcmode="lin" valueType="num">
                                      <p:cBhvr additive="base">
                                        <p:cTn id="76" dur="500" fill="hold"/>
                                        <p:tgtEl>
                                          <p:spTgt spid="15"/>
                                        </p:tgtEl>
                                        <p:attrNameLst>
                                          <p:attrName>ppt_y</p:attrName>
                                        </p:attrNameLst>
                                      </p:cBhvr>
                                      <p:tavLst>
                                        <p:tav tm="0">
                                          <p:val>
                                            <p:strVal val="1+#ppt_h/2"/>
                                          </p:val>
                                        </p:tav>
                                        <p:tav tm="100000">
                                          <p:val>
                                            <p:strVal val="#ppt_y"/>
                                          </p:val>
                                        </p:tav>
                                      </p:tavLst>
                                    </p:anim>
                                  </p:childTnLst>
                                </p:cTn>
                              </p:par>
                            </p:childTnLst>
                          </p:cTn>
                        </p:par>
                        <p:par>
                          <p:cTn id="77" fill="hold">
                            <p:stCondLst>
                              <p:cond delay="500"/>
                            </p:stCondLst>
                            <p:childTnLst>
                              <p:par>
                                <p:cTn id="78" presetID="2" presetClass="entr" presetSubtype="8" fill="hold" nodeType="afterEffect">
                                  <p:stCondLst>
                                    <p:cond delay="0"/>
                                  </p:stCondLst>
                                  <p:childTnLst>
                                    <p:set>
                                      <p:cBhvr>
                                        <p:cTn id="79" dur="1" fill="hold">
                                          <p:stCondLst>
                                            <p:cond delay="0"/>
                                          </p:stCondLst>
                                        </p:cTn>
                                        <p:tgtEl>
                                          <p:spTgt spid="16"/>
                                        </p:tgtEl>
                                        <p:attrNameLst>
                                          <p:attrName>style.visibility</p:attrName>
                                        </p:attrNameLst>
                                      </p:cBhvr>
                                      <p:to>
                                        <p:strVal val="visible"/>
                                      </p:to>
                                    </p:set>
                                    <p:anim calcmode="lin" valueType="num">
                                      <p:cBhvr additive="base">
                                        <p:cTn id="80" dur="500" fill="hold"/>
                                        <p:tgtEl>
                                          <p:spTgt spid="16"/>
                                        </p:tgtEl>
                                        <p:attrNameLst>
                                          <p:attrName>ppt_x</p:attrName>
                                        </p:attrNameLst>
                                      </p:cBhvr>
                                      <p:tavLst>
                                        <p:tav tm="0">
                                          <p:val>
                                            <p:strVal val="0-#ppt_w/2"/>
                                          </p:val>
                                        </p:tav>
                                        <p:tav tm="100000">
                                          <p:val>
                                            <p:strVal val="#ppt_x"/>
                                          </p:val>
                                        </p:tav>
                                      </p:tavLst>
                                    </p:anim>
                                    <p:anim calcmode="lin" valueType="num">
                                      <p:cBhvr additive="base">
                                        <p:cTn id="81" dur="500" fill="hold"/>
                                        <p:tgtEl>
                                          <p:spTgt spid="16"/>
                                        </p:tgtEl>
                                        <p:attrNameLst>
                                          <p:attrName>ppt_y</p:attrName>
                                        </p:attrNameLst>
                                      </p:cBhvr>
                                      <p:tavLst>
                                        <p:tav tm="0">
                                          <p:val>
                                            <p:strVal val="#ppt_y"/>
                                          </p:val>
                                        </p:tav>
                                        <p:tav tm="100000">
                                          <p:val>
                                            <p:strVal val="#ppt_y"/>
                                          </p:val>
                                        </p:tav>
                                      </p:tavLst>
                                    </p:anim>
                                  </p:childTnLst>
                                </p:cTn>
                              </p:par>
                            </p:childTnLst>
                          </p:cTn>
                        </p:par>
                        <p:par>
                          <p:cTn id="82" fill="hold">
                            <p:stCondLst>
                              <p:cond delay="1000"/>
                            </p:stCondLst>
                            <p:childTnLst>
                              <p:par>
                                <p:cTn id="83" presetID="2" presetClass="entr" presetSubtype="8" fill="hold" nodeType="afterEffect">
                                  <p:stCondLst>
                                    <p:cond delay="0"/>
                                  </p:stCondLst>
                                  <p:childTnLst>
                                    <p:set>
                                      <p:cBhvr>
                                        <p:cTn id="84" dur="1" fill="hold">
                                          <p:stCondLst>
                                            <p:cond delay="0"/>
                                          </p:stCondLst>
                                        </p:cTn>
                                        <p:tgtEl>
                                          <p:spTgt spid="17"/>
                                        </p:tgtEl>
                                        <p:attrNameLst>
                                          <p:attrName>style.visibility</p:attrName>
                                        </p:attrNameLst>
                                      </p:cBhvr>
                                      <p:to>
                                        <p:strVal val="visible"/>
                                      </p:to>
                                    </p:set>
                                    <p:anim calcmode="lin" valueType="num">
                                      <p:cBhvr additive="base">
                                        <p:cTn id="85" dur="500" fill="hold"/>
                                        <p:tgtEl>
                                          <p:spTgt spid="17"/>
                                        </p:tgtEl>
                                        <p:attrNameLst>
                                          <p:attrName>ppt_x</p:attrName>
                                        </p:attrNameLst>
                                      </p:cBhvr>
                                      <p:tavLst>
                                        <p:tav tm="0">
                                          <p:val>
                                            <p:strVal val="0-#ppt_w/2"/>
                                          </p:val>
                                        </p:tav>
                                        <p:tav tm="100000">
                                          <p:val>
                                            <p:strVal val="#ppt_x"/>
                                          </p:val>
                                        </p:tav>
                                      </p:tavLst>
                                    </p:anim>
                                    <p:anim calcmode="lin" valueType="num">
                                      <p:cBhvr additive="base">
                                        <p:cTn id="86" dur="500" fill="hold"/>
                                        <p:tgtEl>
                                          <p:spTgt spid="17"/>
                                        </p:tgtEl>
                                        <p:attrNameLst>
                                          <p:attrName>ppt_y</p:attrName>
                                        </p:attrNameLst>
                                      </p:cBhvr>
                                      <p:tavLst>
                                        <p:tav tm="0">
                                          <p:val>
                                            <p:strVal val="#ppt_y"/>
                                          </p:val>
                                        </p:tav>
                                        <p:tav tm="100000">
                                          <p:val>
                                            <p:strVal val="#ppt_y"/>
                                          </p:val>
                                        </p:tav>
                                      </p:tavLst>
                                    </p:anim>
                                  </p:childTnLst>
                                </p:cTn>
                              </p:par>
                            </p:childTnLst>
                          </p:cTn>
                        </p:par>
                        <p:par>
                          <p:cTn id="87" fill="hold">
                            <p:stCondLst>
                              <p:cond delay="1500"/>
                            </p:stCondLst>
                            <p:childTnLst>
                              <p:par>
                                <p:cTn id="88" presetID="2" presetClass="entr" presetSubtype="8" fill="hold" nodeType="afterEffect">
                                  <p:stCondLst>
                                    <p:cond delay="500"/>
                                  </p:stCondLst>
                                  <p:childTnLst>
                                    <p:set>
                                      <p:cBhvr>
                                        <p:cTn id="89" dur="1" fill="hold">
                                          <p:stCondLst>
                                            <p:cond delay="0"/>
                                          </p:stCondLst>
                                        </p:cTn>
                                        <p:tgtEl>
                                          <p:spTgt spid="18"/>
                                        </p:tgtEl>
                                        <p:attrNameLst>
                                          <p:attrName>style.visibility</p:attrName>
                                        </p:attrNameLst>
                                      </p:cBhvr>
                                      <p:to>
                                        <p:strVal val="visible"/>
                                      </p:to>
                                    </p:set>
                                    <p:anim calcmode="lin" valueType="num">
                                      <p:cBhvr additive="base">
                                        <p:cTn id="90" dur="1000" fill="hold"/>
                                        <p:tgtEl>
                                          <p:spTgt spid="18"/>
                                        </p:tgtEl>
                                        <p:attrNameLst>
                                          <p:attrName>ppt_x</p:attrName>
                                        </p:attrNameLst>
                                      </p:cBhvr>
                                      <p:tavLst>
                                        <p:tav tm="0">
                                          <p:val>
                                            <p:strVal val="0-#ppt_w/2"/>
                                          </p:val>
                                        </p:tav>
                                        <p:tav tm="100000">
                                          <p:val>
                                            <p:strVal val="#ppt_x"/>
                                          </p:val>
                                        </p:tav>
                                      </p:tavLst>
                                    </p:anim>
                                    <p:anim calcmode="lin" valueType="num">
                                      <p:cBhvr additive="base">
                                        <p:cTn id="91" dur="1000" fill="hold"/>
                                        <p:tgtEl>
                                          <p:spTgt spid="18"/>
                                        </p:tgtEl>
                                        <p:attrNameLst>
                                          <p:attrName>ppt_y</p:attrName>
                                        </p:attrNameLst>
                                      </p:cBhvr>
                                      <p:tavLst>
                                        <p:tav tm="0">
                                          <p:val>
                                            <p:strVal val="#ppt_y"/>
                                          </p:val>
                                        </p:tav>
                                        <p:tav tm="100000">
                                          <p:val>
                                            <p:strVal val="#ppt_y"/>
                                          </p:val>
                                        </p:tav>
                                      </p:tavLst>
                                    </p:anim>
                                  </p:childTnLst>
                                </p:cTn>
                              </p:par>
                              <p:par>
                                <p:cTn id="92" presetID="2" presetClass="entr" presetSubtype="4" fill="hold" nodeType="withEffect">
                                  <p:stCondLst>
                                    <p:cond delay="500"/>
                                  </p:stCondLst>
                                  <p:childTnLst>
                                    <p:set>
                                      <p:cBhvr>
                                        <p:cTn id="93" dur="1" fill="hold">
                                          <p:stCondLst>
                                            <p:cond delay="0"/>
                                          </p:stCondLst>
                                        </p:cTn>
                                        <p:tgtEl>
                                          <p:spTgt spid="19"/>
                                        </p:tgtEl>
                                        <p:attrNameLst>
                                          <p:attrName>style.visibility</p:attrName>
                                        </p:attrNameLst>
                                      </p:cBhvr>
                                      <p:to>
                                        <p:strVal val="visible"/>
                                      </p:to>
                                    </p:set>
                                    <p:anim calcmode="lin" valueType="num">
                                      <p:cBhvr additive="base">
                                        <p:cTn id="94" dur="500" fill="hold"/>
                                        <p:tgtEl>
                                          <p:spTgt spid="19"/>
                                        </p:tgtEl>
                                        <p:attrNameLst>
                                          <p:attrName>ppt_x</p:attrName>
                                        </p:attrNameLst>
                                      </p:cBhvr>
                                      <p:tavLst>
                                        <p:tav tm="0">
                                          <p:val>
                                            <p:strVal val="#ppt_x"/>
                                          </p:val>
                                        </p:tav>
                                        <p:tav tm="100000">
                                          <p:val>
                                            <p:strVal val="#ppt_x"/>
                                          </p:val>
                                        </p:tav>
                                      </p:tavLst>
                                    </p:anim>
                                    <p:anim calcmode="lin" valueType="num">
                                      <p:cBhvr additive="base">
                                        <p:cTn id="95"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EGO® DUPLO® - LEGO® History - LEGO.com US">
            <a:extLst>
              <a:ext uri="{FF2B5EF4-FFF2-40B4-BE49-F238E27FC236}">
                <a16:creationId xmlns:a16="http://schemas.microsoft.com/office/drawing/2014/main" id="{CC45B68D-E2F9-D468-2292-E128EF5DDA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086" y="724577"/>
            <a:ext cx="9019495" cy="450428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AD87CF6-805D-5E26-D097-3B5312CCA5FB}"/>
              </a:ext>
            </a:extLst>
          </p:cNvPr>
          <p:cNvSpPr/>
          <p:nvPr/>
        </p:nvSpPr>
        <p:spPr>
          <a:xfrm>
            <a:off x="468086" y="5283289"/>
            <a:ext cx="9019495" cy="1197429"/>
          </a:xfrm>
          <a:prstGeom prst="rect">
            <a:avLst/>
          </a:prstGeom>
          <a:solidFill>
            <a:srgbClr val="D92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4411AF0-A85A-FA18-6CD0-77D9AB98AB44}"/>
              </a:ext>
            </a:extLst>
          </p:cNvPr>
          <p:cNvSpPr txBox="1"/>
          <p:nvPr/>
        </p:nvSpPr>
        <p:spPr>
          <a:xfrm>
            <a:off x="593635" y="5363981"/>
            <a:ext cx="3849264" cy="769441"/>
          </a:xfrm>
          <a:prstGeom prst="rect">
            <a:avLst/>
          </a:prstGeom>
          <a:noFill/>
        </p:spPr>
        <p:txBody>
          <a:bodyPr wrap="square" rtlCol="0">
            <a:spAutoFit/>
          </a:bodyPr>
          <a:lstStyle/>
          <a:p>
            <a:r>
              <a:rPr lang="en-US" sz="4400" dirty="0">
                <a:solidFill>
                  <a:schemeClr val="bg1">
                    <a:lumMod val="85000"/>
                  </a:schemeClr>
                </a:solidFill>
              </a:rPr>
              <a:t>Making a start</a:t>
            </a:r>
          </a:p>
        </p:txBody>
      </p:sp>
      <p:pic>
        <p:nvPicPr>
          <p:cNvPr id="6" name="Picture 2" descr="LEGO® DUPLO® - LEGO® History - LEGO.com US">
            <a:extLst>
              <a:ext uri="{FF2B5EF4-FFF2-40B4-BE49-F238E27FC236}">
                <a16:creationId xmlns:a16="http://schemas.microsoft.com/office/drawing/2014/main" id="{F76F18AE-75DB-31BC-5877-50B92BACC5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3090" r="87569"/>
          <a:stretch/>
        </p:blipFill>
        <p:spPr bwMode="auto">
          <a:xfrm>
            <a:off x="468085" y="4031430"/>
            <a:ext cx="1121229" cy="1197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5553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48913-DE1D-8542-9FB8-28ADA73D154C}"/>
              </a:ext>
            </a:extLst>
          </p:cNvPr>
          <p:cNvSpPr>
            <a:spLocks noGrp="1"/>
          </p:cNvSpPr>
          <p:nvPr>
            <p:ph type="title"/>
          </p:nvPr>
        </p:nvSpPr>
        <p:spPr/>
        <p:txBody>
          <a:bodyPr/>
          <a:lstStyle/>
          <a:p>
            <a:r>
              <a:rPr lang="en-US" dirty="0"/>
              <a:t>Pass-by-reference</a:t>
            </a:r>
          </a:p>
        </p:txBody>
      </p:sp>
      <p:sp>
        <p:nvSpPr>
          <p:cNvPr id="4" name="Text Placeholder 3">
            <a:extLst>
              <a:ext uri="{FF2B5EF4-FFF2-40B4-BE49-F238E27FC236}">
                <a16:creationId xmlns:a16="http://schemas.microsoft.com/office/drawing/2014/main" id="{172DBA6D-8A01-D52B-2D73-F92728654709}"/>
              </a:ext>
            </a:extLst>
          </p:cNvPr>
          <p:cNvSpPr>
            <a:spLocks noGrp="1"/>
          </p:cNvSpPr>
          <p:nvPr>
            <p:ph type="body" idx="1"/>
          </p:nvPr>
        </p:nvSpPr>
        <p:spPr/>
        <p:txBody>
          <a:bodyPr/>
          <a:lstStyle/>
          <a:p>
            <a:r>
              <a:rPr lang="en-US" dirty="0"/>
              <a:t>Part 2</a:t>
            </a:r>
          </a:p>
        </p:txBody>
      </p:sp>
    </p:spTree>
    <p:extLst>
      <p:ext uri="{BB962C8B-B14F-4D97-AF65-F5344CB8AC3E}">
        <p14:creationId xmlns:p14="http://schemas.microsoft.com/office/powerpoint/2010/main" val="4287473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1246FE-A4D1-DF84-E6E3-748FEEB42A7E}"/>
              </a:ext>
            </a:extLst>
          </p:cNvPr>
          <p:cNvSpPr>
            <a:spLocks noGrp="1"/>
          </p:cNvSpPr>
          <p:nvPr>
            <p:ph type="title"/>
          </p:nvPr>
        </p:nvSpPr>
        <p:spPr/>
        <p:txBody>
          <a:bodyPr/>
          <a:lstStyle/>
          <a:p>
            <a:r>
              <a:rPr lang="en-US" dirty="0"/>
              <a:t>What.</a:t>
            </a:r>
          </a:p>
        </p:txBody>
      </p:sp>
      <p:sp>
        <p:nvSpPr>
          <p:cNvPr id="5" name="Content Placeholder 4">
            <a:extLst>
              <a:ext uri="{FF2B5EF4-FFF2-40B4-BE49-F238E27FC236}">
                <a16:creationId xmlns:a16="http://schemas.microsoft.com/office/drawing/2014/main" id="{A0FA378B-BAB4-09E4-8614-DCF88CC934C9}"/>
              </a:ext>
            </a:extLst>
          </p:cNvPr>
          <p:cNvSpPr>
            <a:spLocks noGrp="1"/>
          </p:cNvSpPr>
          <p:nvPr>
            <p:ph idx="1"/>
          </p:nvPr>
        </p:nvSpPr>
        <p:spPr/>
        <p:txBody>
          <a:bodyPr>
            <a:normAutofit/>
          </a:bodyPr>
          <a:lstStyle/>
          <a:p>
            <a:r>
              <a:rPr lang="en-US" b="1" dirty="0"/>
              <a:t>Recall</a:t>
            </a:r>
            <a:r>
              <a:rPr lang="en-US" dirty="0"/>
              <a:t>: variables created in a function stay in the function (true of most languages)</a:t>
            </a:r>
          </a:p>
          <a:p>
            <a:r>
              <a:rPr lang="en-US" b="1" dirty="0"/>
              <a:t>But,</a:t>
            </a:r>
            <a:r>
              <a:rPr lang="en-US" dirty="0"/>
              <a:t> in low level languages, when we call a function with arguments, the parameters can:</a:t>
            </a:r>
          </a:p>
          <a:p>
            <a:pPr lvl="1"/>
            <a:r>
              <a:rPr lang="en-US" dirty="0"/>
              <a:t>Provide the address in memory of something (a reference)</a:t>
            </a:r>
          </a:p>
          <a:p>
            <a:pPr lvl="1"/>
            <a:r>
              <a:rPr lang="en-US" dirty="0"/>
              <a:t>Provide the something (a value)</a:t>
            </a:r>
          </a:p>
          <a:p>
            <a:r>
              <a:rPr lang="en-US" b="1" dirty="0"/>
              <a:t>Discuss</a:t>
            </a:r>
            <a:r>
              <a:rPr lang="en-US" dirty="0"/>
              <a:t>: consider how the above relates to whether functions can change (mutate) things outside their scope</a:t>
            </a:r>
          </a:p>
          <a:p>
            <a:endParaRPr lang="en-US" dirty="0"/>
          </a:p>
        </p:txBody>
      </p:sp>
    </p:spTree>
    <p:extLst>
      <p:ext uri="{BB962C8B-B14F-4D97-AF65-F5344CB8AC3E}">
        <p14:creationId xmlns:p14="http://schemas.microsoft.com/office/powerpoint/2010/main" val="3073134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3744BB-C9EB-29B1-9B4E-4C06A6C29DA9}"/>
              </a:ext>
            </a:extLst>
          </p:cNvPr>
          <p:cNvSpPr/>
          <p:nvPr/>
        </p:nvSpPr>
        <p:spPr>
          <a:xfrm>
            <a:off x="1132114" y="1197429"/>
            <a:ext cx="2002972" cy="49203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5" name="Rectangle 4">
            <a:extLst>
              <a:ext uri="{FF2B5EF4-FFF2-40B4-BE49-F238E27FC236}">
                <a16:creationId xmlns:a16="http://schemas.microsoft.com/office/drawing/2014/main" id="{B10E44F0-DB1B-E314-BC77-202DD6A9ADC2}"/>
              </a:ext>
            </a:extLst>
          </p:cNvPr>
          <p:cNvSpPr/>
          <p:nvPr/>
        </p:nvSpPr>
        <p:spPr>
          <a:xfrm>
            <a:off x="1132114" y="55081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1FB1CBF8-2235-89AA-4614-F94188F5E6F3}"/>
              </a:ext>
            </a:extLst>
          </p:cNvPr>
          <p:cNvSpPr/>
          <p:nvPr/>
        </p:nvSpPr>
        <p:spPr>
          <a:xfrm>
            <a:off x="1132114" y="48985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4EB737EE-8F90-6525-442B-FBF181BF12F8}"/>
              </a:ext>
            </a:extLst>
          </p:cNvPr>
          <p:cNvSpPr/>
          <p:nvPr/>
        </p:nvSpPr>
        <p:spPr>
          <a:xfrm>
            <a:off x="1132114" y="42889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F827E646-1B1F-5097-7FB1-CF5FC2D48F17}"/>
              </a:ext>
            </a:extLst>
          </p:cNvPr>
          <p:cNvSpPr/>
          <p:nvPr/>
        </p:nvSpPr>
        <p:spPr>
          <a:xfrm>
            <a:off x="1132114" y="36793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11DC6C23-AC04-7043-8EBB-B91A5B7A778D}"/>
              </a:ext>
            </a:extLst>
          </p:cNvPr>
          <p:cNvSpPr/>
          <p:nvPr/>
        </p:nvSpPr>
        <p:spPr>
          <a:xfrm>
            <a:off x="1132114" y="30697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8DD6FD0F-DB94-DA6B-62E5-FBF5787A025E}"/>
              </a:ext>
            </a:extLst>
          </p:cNvPr>
          <p:cNvSpPr txBox="1"/>
          <p:nvPr/>
        </p:nvSpPr>
        <p:spPr>
          <a:xfrm>
            <a:off x="1132114" y="707963"/>
            <a:ext cx="1223412" cy="369332"/>
          </a:xfrm>
          <a:prstGeom prst="rect">
            <a:avLst/>
          </a:prstGeom>
          <a:noFill/>
        </p:spPr>
        <p:txBody>
          <a:bodyPr wrap="none" rtlCol="0">
            <a:spAutoFit/>
          </a:bodyPr>
          <a:lstStyle/>
          <a:p>
            <a:r>
              <a:rPr lang="en-AU" dirty="0">
                <a:solidFill>
                  <a:schemeClr val="bg1"/>
                </a:solidFill>
              </a:rPr>
              <a:t>Call Stack</a:t>
            </a:r>
          </a:p>
        </p:txBody>
      </p:sp>
      <p:sp>
        <p:nvSpPr>
          <p:cNvPr id="11" name="TextBox 10">
            <a:extLst>
              <a:ext uri="{FF2B5EF4-FFF2-40B4-BE49-F238E27FC236}">
                <a16:creationId xmlns:a16="http://schemas.microsoft.com/office/drawing/2014/main" id="{04BA416E-9301-148B-9277-D59B401B1AB2}"/>
              </a:ext>
            </a:extLst>
          </p:cNvPr>
          <p:cNvSpPr txBox="1"/>
          <p:nvPr/>
        </p:nvSpPr>
        <p:spPr>
          <a:xfrm>
            <a:off x="3309257" y="5661353"/>
            <a:ext cx="684803" cy="369332"/>
          </a:xfrm>
          <a:prstGeom prst="rect">
            <a:avLst/>
          </a:prstGeom>
          <a:noFill/>
        </p:spPr>
        <p:txBody>
          <a:bodyPr wrap="none" rtlCol="0">
            <a:spAutoFit/>
          </a:bodyPr>
          <a:lstStyle/>
          <a:p>
            <a:r>
              <a:rPr lang="en-AU" dirty="0">
                <a:solidFill>
                  <a:schemeClr val="bg1"/>
                </a:solidFill>
              </a:rPr>
              <a:t>main</a:t>
            </a:r>
          </a:p>
        </p:txBody>
      </p:sp>
      <p:sp>
        <p:nvSpPr>
          <p:cNvPr id="12" name="Rectangle 11">
            <a:extLst>
              <a:ext uri="{FF2B5EF4-FFF2-40B4-BE49-F238E27FC236}">
                <a16:creationId xmlns:a16="http://schemas.microsoft.com/office/drawing/2014/main" id="{123C1678-7719-4746-D8BF-E2937C26FD38}"/>
              </a:ext>
            </a:extLst>
          </p:cNvPr>
          <p:cNvSpPr/>
          <p:nvPr/>
        </p:nvSpPr>
        <p:spPr>
          <a:xfrm>
            <a:off x="4354285" y="1219200"/>
            <a:ext cx="45719" cy="49203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1E94B2AA-DA1F-F93B-1D2D-22F0B8441CE7}"/>
              </a:ext>
            </a:extLst>
          </p:cNvPr>
          <p:cNvSpPr txBox="1"/>
          <p:nvPr/>
        </p:nvSpPr>
        <p:spPr>
          <a:xfrm>
            <a:off x="4310742" y="675697"/>
            <a:ext cx="736099" cy="369332"/>
          </a:xfrm>
          <a:prstGeom prst="rect">
            <a:avLst/>
          </a:prstGeom>
          <a:noFill/>
        </p:spPr>
        <p:txBody>
          <a:bodyPr wrap="none" rtlCol="0">
            <a:spAutoFit/>
          </a:bodyPr>
          <a:lstStyle/>
          <a:p>
            <a:r>
              <a:rPr lang="en-AU" dirty="0">
                <a:solidFill>
                  <a:schemeClr val="bg1"/>
                </a:solidFill>
              </a:rPr>
              <a:t>Heap</a:t>
            </a:r>
          </a:p>
        </p:txBody>
      </p:sp>
    </p:spTree>
    <p:extLst>
      <p:ext uri="{BB962C8B-B14F-4D97-AF65-F5344CB8AC3E}">
        <p14:creationId xmlns:p14="http://schemas.microsoft.com/office/powerpoint/2010/main" val="2709839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3744BB-C9EB-29B1-9B4E-4C06A6C29DA9}"/>
              </a:ext>
            </a:extLst>
          </p:cNvPr>
          <p:cNvSpPr/>
          <p:nvPr/>
        </p:nvSpPr>
        <p:spPr>
          <a:xfrm>
            <a:off x="1132114" y="1197429"/>
            <a:ext cx="2002972" cy="49203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5" name="Rectangle 4">
            <a:extLst>
              <a:ext uri="{FF2B5EF4-FFF2-40B4-BE49-F238E27FC236}">
                <a16:creationId xmlns:a16="http://schemas.microsoft.com/office/drawing/2014/main" id="{B10E44F0-DB1B-E314-BC77-202DD6A9ADC2}"/>
              </a:ext>
            </a:extLst>
          </p:cNvPr>
          <p:cNvSpPr/>
          <p:nvPr/>
        </p:nvSpPr>
        <p:spPr>
          <a:xfrm>
            <a:off x="1132114" y="55081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1FB1CBF8-2235-89AA-4614-F94188F5E6F3}"/>
              </a:ext>
            </a:extLst>
          </p:cNvPr>
          <p:cNvSpPr/>
          <p:nvPr/>
        </p:nvSpPr>
        <p:spPr>
          <a:xfrm>
            <a:off x="1132114" y="48985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4EB737EE-8F90-6525-442B-FBF181BF12F8}"/>
              </a:ext>
            </a:extLst>
          </p:cNvPr>
          <p:cNvSpPr/>
          <p:nvPr/>
        </p:nvSpPr>
        <p:spPr>
          <a:xfrm>
            <a:off x="1132114" y="42889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F827E646-1B1F-5097-7FB1-CF5FC2D48F17}"/>
              </a:ext>
            </a:extLst>
          </p:cNvPr>
          <p:cNvSpPr/>
          <p:nvPr/>
        </p:nvSpPr>
        <p:spPr>
          <a:xfrm>
            <a:off x="1132114" y="36793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11DC6C23-AC04-7043-8EBB-B91A5B7A778D}"/>
              </a:ext>
            </a:extLst>
          </p:cNvPr>
          <p:cNvSpPr/>
          <p:nvPr/>
        </p:nvSpPr>
        <p:spPr>
          <a:xfrm>
            <a:off x="1132114" y="30697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8DD6FD0F-DB94-DA6B-62E5-FBF5787A025E}"/>
              </a:ext>
            </a:extLst>
          </p:cNvPr>
          <p:cNvSpPr txBox="1"/>
          <p:nvPr/>
        </p:nvSpPr>
        <p:spPr>
          <a:xfrm>
            <a:off x="1132114" y="707963"/>
            <a:ext cx="1223412" cy="369332"/>
          </a:xfrm>
          <a:prstGeom prst="rect">
            <a:avLst/>
          </a:prstGeom>
          <a:noFill/>
        </p:spPr>
        <p:txBody>
          <a:bodyPr wrap="none" rtlCol="0">
            <a:spAutoFit/>
          </a:bodyPr>
          <a:lstStyle/>
          <a:p>
            <a:r>
              <a:rPr lang="en-AU" dirty="0">
                <a:solidFill>
                  <a:schemeClr val="bg1"/>
                </a:solidFill>
              </a:rPr>
              <a:t>Call Stack</a:t>
            </a:r>
          </a:p>
        </p:txBody>
      </p:sp>
      <p:sp>
        <p:nvSpPr>
          <p:cNvPr id="11" name="TextBox 10">
            <a:extLst>
              <a:ext uri="{FF2B5EF4-FFF2-40B4-BE49-F238E27FC236}">
                <a16:creationId xmlns:a16="http://schemas.microsoft.com/office/drawing/2014/main" id="{04BA416E-9301-148B-9277-D59B401B1AB2}"/>
              </a:ext>
            </a:extLst>
          </p:cNvPr>
          <p:cNvSpPr txBox="1"/>
          <p:nvPr/>
        </p:nvSpPr>
        <p:spPr>
          <a:xfrm>
            <a:off x="3309257" y="5661353"/>
            <a:ext cx="684803" cy="369332"/>
          </a:xfrm>
          <a:prstGeom prst="rect">
            <a:avLst/>
          </a:prstGeom>
          <a:noFill/>
        </p:spPr>
        <p:txBody>
          <a:bodyPr wrap="none" rtlCol="0">
            <a:spAutoFit/>
          </a:bodyPr>
          <a:lstStyle/>
          <a:p>
            <a:r>
              <a:rPr lang="en-AU" dirty="0">
                <a:solidFill>
                  <a:schemeClr val="bg1"/>
                </a:solidFill>
              </a:rPr>
              <a:t>main</a:t>
            </a:r>
          </a:p>
        </p:txBody>
      </p:sp>
      <p:sp>
        <p:nvSpPr>
          <p:cNvPr id="12" name="Rectangle 11">
            <a:extLst>
              <a:ext uri="{FF2B5EF4-FFF2-40B4-BE49-F238E27FC236}">
                <a16:creationId xmlns:a16="http://schemas.microsoft.com/office/drawing/2014/main" id="{123C1678-7719-4746-D8BF-E2937C26FD38}"/>
              </a:ext>
            </a:extLst>
          </p:cNvPr>
          <p:cNvSpPr/>
          <p:nvPr/>
        </p:nvSpPr>
        <p:spPr>
          <a:xfrm>
            <a:off x="4354285" y="1219200"/>
            <a:ext cx="7663544" cy="49203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1E94B2AA-DA1F-F93B-1D2D-22F0B8441CE7}"/>
              </a:ext>
            </a:extLst>
          </p:cNvPr>
          <p:cNvSpPr txBox="1"/>
          <p:nvPr/>
        </p:nvSpPr>
        <p:spPr>
          <a:xfrm>
            <a:off x="4310742" y="675697"/>
            <a:ext cx="736099" cy="369332"/>
          </a:xfrm>
          <a:prstGeom prst="rect">
            <a:avLst/>
          </a:prstGeom>
          <a:noFill/>
        </p:spPr>
        <p:txBody>
          <a:bodyPr wrap="none" rtlCol="0">
            <a:spAutoFit/>
          </a:bodyPr>
          <a:lstStyle/>
          <a:p>
            <a:r>
              <a:rPr lang="en-AU" dirty="0">
                <a:solidFill>
                  <a:schemeClr val="bg1"/>
                </a:solidFill>
              </a:rPr>
              <a:t>Heap</a:t>
            </a:r>
          </a:p>
        </p:txBody>
      </p:sp>
      <p:sp>
        <p:nvSpPr>
          <p:cNvPr id="2" name="Rectangle 1">
            <a:extLst>
              <a:ext uri="{FF2B5EF4-FFF2-40B4-BE49-F238E27FC236}">
                <a16:creationId xmlns:a16="http://schemas.microsoft.com/office/drawing/2014/main" id="{FC7A1525-C1CC-BD5B-9DF3-5335631E06EE}"/>
              </a:ext>
            </a:extLst>
          </p:cNvPr>
          <p:cNvSpPr/>
          <p:nvPr/>
        </p:nvSpPr>
        <p:spPr>
          <a:xfrm>
            <a:off x="5138058" y="1828799"/>
            <a:ext cx="957942" cy="881744"/>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D0E33819-C10C-3B22-57C2-5F9672879D39}"/>
              </a:ext>
            </a:extLst>
          </p:cNvPr>
          <p:cNvSpPr/>
          <p:nvPr/>
        </p:nvSpPr>
        <p:spPr>
          <a:xfrm>
            <a:off x="6879773" y="1828799"/>
            <a:ext cx="957942" cy="881744"/>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FD932FEE-E75A-EF06-7E4A-A112D8302AC6}"/>
              </a:ext>
            </a:extLst>
          </p:cNvPr>
          <p:cNvSpPr/>
          <p:nvPr/>
        </p:nvSpPr>
        <p:spPr>
          <a:xfrm>
            <a:off x="8621488" y="1828799"/>
            <a:ext cx="957942" cy="881744"/>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5" name="Rectangle 14">
            <a:extLst>
              <a:ext uri="{FF2B5EF4-FFF2-40B4-BE49-F238E27FC236}">
                <a16:creationId xmlns:a16="http://schemas.microsoft.com/office/drawing/2014/main" id="{EA394A91-516A-09FA-CCC3-2EA10BF06D49}"/>
              </a:ext>
            </a:extLst>
          </p:cNvPr>
          <p:cNvSpPr/>
          <p:nvPr/>
        </p:nvSpPr>
        <p:spPr>
          <a:xfrm>
            <a:off x="5177469" y="3407227"/>
            <a:ext cx="957942" cy="881744"/>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EDF0C5DF-0678-8917-9F1C-9CDE507B806A}"/>
              </a:ext>
            </a:extLst>
          </p:cNvPr>
          <p:cNvSpPr/>
          <p:nvPr/>
        </p:nvSpPr>
        <p:spPr>
          <a:xfrm>
            <a:off x="6208476" y="3407229"/>
            <a:ext cx="957942" cy="881744"/>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7" name="Rectangle 16">
            <a:extLst>
              <a:ext uri="{FF2B5EF4-FFF2-40B4-BE49-F238E27FC236}">
                <a16:creationId xmlns:a16="http://schemas.microsoft.com/office/drawing/2014/main" id="{A855AB84-433D-4680-91C0-07FD97E98A7F}"/>
              </a:ext>
            </a:extLst>
          </p:cNvPr>
          <p:cNvSpPr/>
          <p:nvPr/>
        </p:nvSpPr>
        <p:spPr>
          <a:xfrm>
            <a:off x="7228115" y="3428996"/>
            <a:ext cx="957942" cy="881744"/>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19" name="Straight Arrow Connector 18">
            <a:extLst>
              <a:ext uri="{FF2B5EF4-FFF2-40B4-BE49-F238E27FC236}">
                <a16:creationId xmlns:a16="http://schemas.microsoft.com/office/drawing/2014/main" id="{03EF4C2E-75B0-B610-98EE-B33863302D37}"/>
              </a:ext>
            </a:extLst>
          </p:cNvPr>
          <p:cNvCxnSpPr/>
          <p:nvPr/>
        </p:nvCxnSpPr>
        <p:spPr>
          <a:xfrm flipV="1">
            <a:off x="3248888" y="2569029"/>
            <a:ext cx="1797953" cy="838198"/>
          </a:xfrm>
          <a:prstGeom prst="straightConnector1">
            <a:avLst/>
          </a:prstGeom>
          <a:ln w="50800">
            <a:solidFill>
              <a:schemeClr val="bg1">
                <a:lumMod val="9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B17AAB00-F5BF-B6D5-96B9-E02A03FD76B5}"/>
              </a:ext>
            </a:extLst>
          </p:cNvPr>
          <p:cNvCxnSpPr>
            <a:cxnSpLocks/>
          </p:cNvCxnSpPr>
          <p:nvPr/>
        </p:nvCxnSpPr>
        <p:spPr>
          <a:xfrm flipV="1">
            <a:off x="3059293" y="2710543"/>
            <a:ext cx="2056479" cy="1289954"/>
          </a:xfrm>
          <a:prstGeom prst="straightConnector1">
            <a:avLst/>
          </a:prstGeom>
          <a:ln w="50800">
            <a:solidFill>
              <a:schemeClr val="bg1">
                <a:lumMod val="9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44488E3-1695-B47D-7A48-7D059815BADD}"/>
              </a:ext>
            </a:extLst>
          </p:cNvPr>
          <p:cNvCxnSpPr>
            <a:cxnSpLocks/>
          </p:cNvCxnSpPr>
          <p:nvPr/>
        </p:nvCxnSpPr>
        <p:spPr>
          <a:xfrm flipV="1">
            <a:off x="3019367" y="3799505"/>
            <a:ext cx="2096405" cy="829643"/>
          </a:xfrm>
          <a:prstGeom prst="straightConnector1">
            <a:avLst/>
          </a:prstGeom>
          <a:ln w="50800">
            <a:solidFill>
              <a:schemeClr val="bg1">
                <a:lumMod val="9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77040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3744BB-C9EB-29B1-9B4E-4C06A6C29DA9}"/>
              </a:ext>
            </a:extLst>
          </p:cNvPr>
          <p:cNvSpPr/>
          <p:nvPr/>
        </p:nvSpPr>
        <p:spPr>
          <a:xfrm>
            <a:off x="1132114" y="1197429"/>
            <a:ext cx="2002972" cy="49203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5" name="Rectangle 4">
            <a:extLst>
              <a:ext uri="{FF2B5EF4-FFF2-40B4-BE49-F238E27FC236}">
                <a16:creationId xmlns:a16="http://schemas.microsoft.com/office/drawing/2014/main" id="{B10E44F0-DB1B-E314-BC77-202DD6A9ADC2}"/>
              </a:ext>
            </a:extLst>
          </p:cNvPr>
          <p:cNvSpPr/>
          <p:nvPr/>
        </p:nvSpPr>
        <p:spPr>
          <a:xfrm>
            <a:off x="1132114" y="55081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1FB1CBF8-2235-89AA-4614-F94188F5E6F3}"/>
              </a:ext>
            </a:extLst>
          </p:cNvPr>
          <p:cNvSpPr/>
          <p:nvPr/>
        </p:nvSpPr>
        <p:spPr>
          <a:xfrm>
            <a:off x="1132114" y="48985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4EB737EE-8F90-6525-442B-FBF181BF12F8}"/>
              </a:ext>
            </a:extLst>
          </p:cNvPr>
          <p:cNvSpPr/>
          <p:nvPr/>
        </p:nvSpPr>
        <p:spPr>
          <a:xfrm>
            <a:off x="1132114" y="42889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F827E646-1B1F-5097-7FB1-CF5FC2D48F17}"/>
              </a:ext>
            </a:extLst>
          </p:cNvPr>
          <p:cNvSpPr/>
          <p:nvPr/>
        </p:nvSpPr>
        <p:spPr>
          <a:xfrm>
            <a:off x="1132114" y="3679371"/>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11DC6C23-AC04-7043-8EBB-B91A5B7A778D}"/>
              </a:ext>
            </a:extLst>
          </p:cNvPr>
          <p:cNvSpPr/>
          <p:nvPr/>
        </p:nvSpPr>
        <p:spPr>
          <a:xfrm>
            <a:off x="-3375088" y="2988128"/>
            <a:ext cx="2002972" cy="609600"/>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8DD6FD0F-DB94-DA6B-62E5-FBF5787A025E}"/>
              </a:ext>
            </a:extLst>
          </p:cNvPr>
          <p:cNvSpPr txBox="1"/>
          <p:nvPr/>
        </p:nvSpPr>
        <p:spPr>
          <a:xfrm>
            <a:off x="1132114" y="707963"/>
            <a:ext cx="1223412" cy="369332"/>
          </a:xfrm>
          <a:prstGeom prst="rect">
            <a:avLst/>
          </a:prstGeom>
          <a:noFill/>
        </p:spPr>
        <p:txBody>
          <a:bodyPr wrap="none" rtlCol="0">
            <a:spAutoFit/>
          </a:bodyPr>
          <a:lstStyle/>
          <a:p>
            <a:r>
              <a:rPr lang="en-AU" dirty="0">
                <a:solidFill>
                  <a:schemeClr val="bg1"/>
                </a:solidFill>
              </a:rPr>
              <a:t>Call Stack</a:t>
            </a:r>
          </a:p>
        </p:txBody>
      </p:sp>
      <p:sp>
        <p:nvSpPr>
          <p:cNvPr id="11" name="TextBox 10">
            <a:extLst>
              <a:ext uri="{FF2B5EF4-FFF2-40B4-BE49-F238E27FC236}">
                <a16:creationId xmlns:a16="http://schemas.microsoft.com/office/drawing/2014/main" id="{04BA416E-9301-148B-9277-D59B401B1AB2}"/>
              </a:ext>
            </a:extLst>
          </p:cNvPr>
          <p:cNvSpPr txBox="1"/>
          <p:nvPr/>
        </p:nvSpPr>
        <p:spPr>
          <a:xfrm>
            <a:off x="3309257" y="5661353"/>
            <a:ext cx="684803" cy="369332"/>
          </a:xfrm>
          <a:prstGeom prst="rect">
            <a:avLst/>
          </a:prstGeom>
          <a:noFill/>
        </p:spPr>
        <p:txBody>
          <a:bodyPr wrap="none" rtlCol="0">
            <a:spAutoFit/>
          </a:bodyPr>
          <a:lstStyle/>
          <a:p>
            <a:r>
              <a:rPr lang="en-AU" dirty="0">
                <a:solidFill>
                  <a:schemeClr val="bg1"/>
                </a:solidFill>
              </a:rPr>
              <a:t>main</a:t>
            </a:r>
          </a:p>
        </p:txBody>
      </p:sp>
      <p:sp>
        <p:nvSpPr>
          <p:cNvPr id="12" name="Rectangle 11">
            <a:extLst>
              <a:ext uri="{FF2B5EF4-FFF2-40B4-BE49-F238E27FC236}">
                <a16:creationId xmlns:a16="http://schemas.microsoft.com/office/drawing/2014/main" id="{123C1678-7719-4746-D8BF-E2937C26FD38}"/>
              </a:ext>
            </a:extLst>
          </p:cNvPr>
          <p:cNvSpPr/>
          <p:nvPr/>
        </p:nvSpPr>
        <p:spPr>
          <a:xfrm>
            <a:off x="4354285" y="1219200"/>
            <a:ext cx="7663544" cy="49203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1E94B2AA-DA1F-F93B-1D2D-22F0B8441CE7}"/>
              </a:ext>
            </a:extLst>
          </p:cNvPr>
          <p:cNvSpPr txBox="1"/>
          <p:nvPr/>
        </p:nvSpPr>
        <p:spPr>
          <a:xfrm>
            <a:off x="4310742" y="675697"/>
            <a:ext cx="736099" cy="369332"/>
          </a:xfrm>
          <a:prstGeom prst="rect">
            <a:avLst/>
          </a:prstGeom>
          <a:noFill/>
        </p:spPr>
        <p:txBody>
          <a:bodyPr wrap="none" rtlCol="0">
            <a:spAutoFit/>
          </a:bodyPr>
          <a:lstStyle/>
          <a:p>
            <a:r>
              <a:rPr lang="en-AU" dirty="0">
                <a:solidFill>
                  <a:schemeClr val="bg1"/>
                </a:solidFill>
              </a:rPr>
              <a:t>Heap</a:t>
            </a:r>
          </a:p>
        </p:txBody>
      </p:sp>
      <p:sp>
        <p:nvSpPr>
          <p:cNvPr id="2" name="Rectangle 1">
            <a:extLst>
              <a:ext uri="{FF2B5EF4-FFF2-40B4-BE49-F238E27FC236}">
                <a16:creationId xmlns:a16="http://schemas.microsoft.com/office/drawing/2014/main" id="{FC7A1525-C1CC-BD5B-9DF3-5335631E06EE}"/>
              </a:ext>
            </a:extLst>
          </p:cNvPr>
          <p:cNvSpPr/>
          <p:nvPr/>
        </p:nvSpPr>
        <p:spPr>
          <a:xfrm>
            <a:off x="5138058" y="1828799"/>
            <a:ext cx="957942" cy="881744"/>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 name="Rectangle 2">
            <a:extLst>
              <a:ext uri="{FF2B5EF4-FFF2-40B4-BE49-F238E27FC236}">
                <a16:creationId xmlns:a16="http://schemas.microsoft.com/office/drawing/2014/main" id="{D0E33819-C10C-3B22-57C2-5F9672879D39}"/>
              </a:ext>
            </a:extLst>
          </p:cNvPr>
          <p:cNvSpPr/>
          <p:nvPr/>
        </p:nvSpPr>
        <p:spPr>
          <a:xfrm>
            <a:off x="6879773" y="1828799"/>
            <a:ext cx="957942" cy="881744"/>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FD932FEE-E75A-EF06-7E4A-A112D8302AC6}"/>
              </a:ext>
            </a:extLst>
          </p:cNvPr>
          <p:cNvSpPr/>
          <p:nvPr/>
        </p:nvSpPr>
        <p:spPr>
          <a:xfrm>
            <a:off x="8621488" y="1828799"/>
            <a:ext cx="957942" cy="881744"/>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5" name="Rectangle 14">
            <a:extLst>
              <a:ext uri="{FF2B5EF4-FFF2-40B4-BE49-F238E27FC236}">
                <a16:creationId xmlns:a16="http://schemas.microsoft.com/office/drawing/2014/main" id="{EA394A91-516A-09FA-CCC3-2EA10BF06D49}"/>
              </a:ext>
            </a:extLst>
          </p:cNvPr>
          <p:cNvSpPr/>
          <p:nvPr/>
        </p:nvSpPr>
        <p:spPr>
          <a:xfrm>
            <a:off x="5177469" y="3407227"/>
            <a:ext cx="957942" cy="881744"/>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EDF0C5DF-0678-8917-9F1C-9CDE507B806A}"/>
              </a:ext>
            </a:extLst>
          </p:cNvPr>
          <p:cNvSpPr/>
          <p:nvPr/>
        </p:nvSpPr>
        <p:spPr>
          <a:xfrm>
            <a:off x="6208476" y="3407229"/>
            <a:ext cx="957942" cy="881744"/>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7" name="Rectangle 16">
            <a:extLst>
              <a:ext uri="{FF2B5EF4-FFF2-40B4-BE49-F238E27FC236}">
                <a16:creationId xmlns:a16="http://schemas.microsoft.com/office/drawing/2014/main" id="{A855AB84-433D-4680-91C0-07FD97E98A7F}"/>
              </a:ext>
            </a:extLst>
          </p:cNvPr>
          <p:cNvSpPr/>
          <p:nvPr/>
        </p:nvSpPr>
        <p:spPr>
          <a:xfrm>
            <a:off x="7228115" y="3428996"/>
            <a:ext cx="957942" cy="881744"/>
          </a:xfrm>
          <a:prstGeom prst="rect">
            <a:avLst/>
          </a:prstGeom>
          <a:solidFill>
            <a:srgbClr val="FFFF00"/>
          </a:solid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cxnSp>
        <p:nvCxnSpPr>
          <p:cNvPr id="20" name="Straight Arrow Connector 19">
            <a:extLst>
              <a:ext uri="{FF2B5EF4-FFF2-40B4-BE49-F238E27FC236}">
                <a16:creationId xmlns:a16="http://schemas.microsoft.com/office/drawing/2014/main" id="{B17AAB00-F5BF-B6D5-96B9-E02A03FD76B5}"/>
              </a:ext>
            </a:extLst>
          </p:cNvPr>
          <p:cNvCxnSpPr>
            <a:cxnSpLocks/>
          </p:cNvCxnSpPr>
          <p:nvPr/>
        </p:nvCxnSpPr>
        <p:spPr>
          <a:xfrm flipV="1">
            <a:off x="3059293" y="2710543"/>
            <a:ext cx="2056479" cy="1289954"/>
          </a:xfrm>
          <a:prstGeom prst="straightConnector1">
            <a:avLst/>
          </a:prstGeom>
          <a:ln w="50800">
            <a:solidFill>
              <a:schemeClr val="bg1">
                <a:lumMod val="9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44488E3-1695-B47D-7A48-7D059815BADD}"/>
              </a:ext>
            </a:extLst>
          </p:cNvPr>
          <p:cNvCxnSpPr>
            <a:cxnSpLocks/>
          </p:cNvCxnSpPr>
          <p:nvPr/>
        </p:nvCxnSpPr>
        <p:spPr>
          <a:xfrm flipV="1">
            <a:off x="3019367" y="3799505"/>
            <a:ext cx="2096405" cy="829643"/>
          </a:xfrm>
          <a:prstGeom prst="straightConnector1">
            <a:avLst/>
          </a:prstGeom>
          <a:ln w="50800">
            <a:solidFill>
              <a:schemeClr val="bg1">
                <a:lumMod val="9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30749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296A1-4EA7-ACB1-5634-55BDE40198F3}"/>
              </a:ext>
            </a:extLst>
          </p:cNvPr>
          <p:cNvSpPr>
            <a:spLocks noGrp="1"/>
          </p:cNvSpPr>
          <p:nvPr>
            <p:ph type="title"/>
          </p:nvPr>
        </p:nvSpPr>
        <p:spPr/>
        <p:txBody>
          <a:bodyPr/>
          <a:lstStyle/>
          <a:p>
            <a:r>
              <a:rPr lang="en-US" dirty="0"/>
              <a:t>Stack and Heap: summary</a:t>
            </a:r>
          </a:p>
        </p:txBody>
      </p:sp>
      <p:sp>
        <p:nvSpPr>
          <p:cNvPr id="3" name="Content Placeholder 2">
            <a:extLst>
              <a:ext uri="{FF2B5EF4-FFF2-40B4-BE49-F238E27FC236}">
                <a16:creationId xmlns:a16="http://schemas.microsoft.com/office/drawing/2014/main" id="{183B7298-164C-36D8-5F8F-3FF675A8A658}"/>
              </a:ext>
            </a:extLst>
          </p:cNvPr>
          <p:cNvSpPr>
            <a:spLocks noGrp="1"/>
          </p:cNvSpPr>
          <p:nvPr>
            <p:ph idx="1"/>
          </p:nvPr>
        </p:nvSpPr>
        <p:spPr/>
        <p:txBody>
          <a:bodyPr>
            <a:normAutofit fontScale="92500" lnSpcReduction="20000"/>
          </a:bodyPr>
          <a:lstStyle/>
          <a:p>
            <a:r>
              <a:rPr lang="en-US" dirty="0"/>
              <a:t>Python's heap is where all data (in the form of objects) is stored.</a:t>
            </a:r>
          </a:p>
          <a:p>
            <a:r>
              <a:rPr lang="en-US" dirty="0"/>
              <a:t>Python's call stack is where function calls are stacked storing the variables local to that function in each stack frame.</a:t>
            </a:r>
          </a:p>
          <a:p>
            <a:r>
              <a:rPr lang="en-US" dirty="0"/>
              <a:t>In turn, the local variables are references to objects in the heap.</a:t>
            </a:r>
          </a:p>
          <a:p>
            <a:r>
              <a:rPr lang="en-US" dirty="0"/>
              <a:t>Python's pass-by-object-reference mechanism means that functions receive a copy of the reference to an object in the heap, not the original reference. </a:t>
            </a:r>
          </a:p>
          <a:p>
            <a:r>
              <a:rPr lang="en-US" dirty="0"/>
              <a:t>Functions can modify the object (if it's mutable), but they can't change out-of-scope variables that refer to a different object.</a:t>
            </a:r>
          </a:p>
          <a:p>
            <a:endParaRPr lang="en-US" dirty="0"/>
          </a:p>
        </p:txBody>
      </p:sp>
    </p:spTree>
    <p:extLst>
      <p:ext uri="{BB962C8B-B14F-4D97-AF65-F5344CB8AC3E}">
        <p14:creationId xmlns:p14="http://schemas.microsoft.com/office/powerpoint/2010/main" val="377453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C350-2E06-E40C-690F-D203CBCE0033}"/>
              </a:ext>
            </a:extLst>
          </p:cNvPr>
          <p:cNvSpPr>
            <a:spLocks noGrp="1"/>
          </p:cNvSpPr>
          <p:nvPr>
            <p:ph type="title"/>
          </p:nvPr>
        </p:nvSpPr>
        <p:spPr/>
        <p:txBody>
          <a:bodyPr/>
          <a:lstStyle/>
          <a:p>
            <a:r>
              <a:rPr lang="en-US" dirty="0"/>
              <a:t>Visualize the call stack</a:t>
            </a:r>
          </a:p>
        </p:txBody>
      </p:sp>
      <p:sp>
        <p:nvSpPr>
          <p:cNvPr id="3" name="Content Placeholder 2">
            <a:extLst>
              <a:ext uri="{FF2B5EF4-FFF2-40B4-BE49-F238E27FC236}">
                <a16:creationId xmlns:a16="http://schemas.microsoft.com/office/drawing/2014/main" id="{02D83AE0-B63F-46A8-038D-9ADD6094BA3C}"/>
              </a:ext>
            </a:extLst>
          </p:cNvPr>
          <p:cNvSpPr>
            <a:spLocks noGrp="1"/>
          </p:cNvSpPr>
          <p:nvPr>
            <p:ph idx="1"/>
          </p:nvPr>
        </p:nvSpPr>
        <p:spPr/>
        <p:txBody>
          <a:bodyPr>
            <a:normAutofit/>
          </a:bodyPr>
          <a:lstStyle/>
          <a:p>
            <a:pPr>
              <a:buFont typeface="System Font Regular"/>
              <a:buChar char="➡"/>
            </a:pPr>
            <a:br>
              <a:rPr lang="en-US" sz="4800" dirty="0"/>
            </a:br>
            <a:r>
              <a:rPr lang="en-US" sz="4800" dirty="0"/>
              <a:t>https://</a:t>
            </a:r>
            <a:r>
              <a:rPr lang="en-US" sz="4800" dirty="0" err="1"/>
              <a:t>pythontutor.com</a:t>
            </a:r>
            <a:r>
              <a:rPr lang="en-US" sz="4800" dirty="0"/>
              <a:t>/</a:t>
            </a:r>
            <a:r>
              <a:rPr lang="en-US" sz="4800" dirty="0" err="1"/>
              <a:t>visualize.html#mode</a:t>
            </a:r>
            <a:r>
              <a:rPr lang="en-US" sz="4800" dirty="0"/>
              <a:t>=edit</a:t>
            </a:r>
          </a:p>
        </p:txBody>
      </p:sp>
    </p:spTree>
    <p:extLst>
      <p:ext uri="{BB962C8B-B14F-4D97-AF65-F5344CB8AC3E}">
        <p14:creationId xmlns:p14="http://schemas.microsoft.com/office/powerpoint/2010/main" val="3192311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4FA76-CEED-06D1-CE61-92BDCEF4BAB2}"/>
              </a:ext>
            </a:extLst>
          </p:cNvPr>
          <p:cNvSpPr>
            <a:spLocks noGrp="1"/>
          </p:cNvSpPr>
          <p:nvPr>
            <p:ph type="title"/>
          </p:nvPr>
        </p:nvSpPr>
        <p:spPr/>
        <p:txBody>
          <a:bodyPr/>
          <a:lstStyle/>
          <a:p>
            <a:r>
              <a:rPr lang="en-US" dirty="0"/>
              <a:t>Python is a bit different</a:t>
            </a:r>
          </a:p>
        </p:txBody>
      </p:sp>
      <p:sp>
        <p:nvSpPr>
          <p:cNvPr id="3" name="Content Placeholder 2">
            <a:extLst>
              <a:ext uri="{FF2B5EF4-FFF2-40B4-BE49-F238E27FC236}">
                <a16:creationId xmlns:a16="http://schemas.microsoft.com/office/drawing/2014/main" id="{D3684E76-32ED-1B72-C21F-DBBD31E6F7D4}"/>
              </a:ext>
            </a:extLst>
          </p:cNvPr>
          <p:cNvSpPr>
            <a:spLocks noGrp="1"/>
          </p:cNvSpPr>
          <p:nvPr>
            <p:ph idx="1"/>
          </p:nvPr>
        </p:nvSpPr>
        <p:spPr/>
        <p:txBody>
          <a:bodyPr/>
          <a:lstStyle/>
          <a:p>
            <a:r>
              <a:rPr lang="en-US" dirty="0"/>
              <a:t>In Python everything is an </a:t>
            </a:r>
            <a:r>
              <a:rPr lang="en-US" b="1" dirty="0"/>
              <a:t>object</a:t>
            </a:r>
          </a:p>
          <a:p>
            <a:r>
              <a:rPr lang="en-US" b="1" dirty="0"/>
              <a:t>Yes, E.V.E.R.Y.THING</a:t>
            </a:r>
          </a:p>
          <a:p>
            <a:r>
              <a:rPr lang="en-US" b="1" dirty="0"/>
              <a:t>Variables are just names for the addresses of objects!</a:t>
            </a:r>
          </a:p>
          <a:p>
            <a:r>
              <a:rPr lang="en-US" b="1" dirty="0"/>
              <a:t>Remember: “the map is not the territory; the name is never the thing named!” –Gregory Bateson.</a:t>
            </a:r>
          </a:p>
          <a:p>
            <a:r>
              <a:rPr lang="en-US" b="1" dirty="0"/>
              <a:t>Tip: look behind the curtain with </a:t>
            </a:r>
            <a:r>
              <a:rPr lang="en-US" b="1" dirty="0">
                <a:highlight>
                  <a:srgbClr val="808080"/>
                </a:highlight>
                <a:latin typeface="Courier New" panose="02070309020205020404" pitchFamily="49" charset="0"/>
                <a:cs typeface="Courier New" panose="02070309020205020404" pitchFamily="49" charset="0"/>
              </a:rPr>
              <a:t>id(</a:t>
            </a:r>
            <a:r>
              <a:rPr lang="en-US" b="1" dirty="0" err="1">
                <a:highlight>
                  <a:srgbClr val="808080"/>
                </a:highlight>
                <a:latin typeface="Courier New" panose="02070309020205020404" pitchFamily="49" charset="0"/>
                <a:cs typeface="Courier New" panose="02070309020205020404" pitchFamily="49" charset="0"/>
              </a:rPr>
              <a:t>my_var</a:t>
            </a:r>
            <a:r>
              <a:rPr lang="en-US" b="1" dirty="0">
                <a:highlight>
                  <a:srgbClr val="808080"/>
                </a:highlight>
                <a:latin typeface="Courier New" panose="02070309020205020404" pitchFamily="49" charset="0"/>
                <a:cs typeface="Courier New" panose="02070309020205020404" pitchFamily="49" charset="0"/>
              </a:rPr>
              <a:t>)</a:t>
            </a:r>
          </a:p>
          <a:p>
            <a:endParaRPr lang="en-US" b="1" dirty="0">
              <a:highlight>
                <a:srgbClr val="808080"/>
              </a:highligh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92224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4A779-22A7-9FF5-AD7C-1F0D785AA126}"/>
              </a:ext>
            </a:extLst>
          </p:cNvPr>
          <p:cNvSpPr>
            <a:spLocks noGrp="1"/>
          </p:cNvSpPr>
          <p:nvPr>
            <p:ph type="title"/>
          </p:nvPr>
        </p:nvSpPr>
        <p:spPr/>
        <p:txBody>
          <a:bodyPr/>
          <a:lstStyle/>
          <a:p>
            <a:r>
              <a:rPr lang="en-US" dirty="0"/>
              <a:t>Python parameters in depth</a:t>
            </a:r>
          </a:p>
        </p:txBody>
      </p:sp>
      <p:sp>
        <p:nvSpPr>
          <p:cNvPr id="3" name="Content Placeholder 2">
            <a:extLst>
              <a:ext uri="{FF2B5EF4-FFF2-40B4-BE49-F238E27FC236}">
                <a16:creationId xmlns:a16="http://schemas.microsoft.com/office/drawing/2014/main" id="{5ECE5E0D-A3C7-001C-A346-3F988778B903}"/>
              </a:ext>
            </a:extLst>
          </p:cNvPr>
          <p:cNvSpPr>
            <a:spLocks noGrp="1"/>
          </p:cNvSpPr>
          <p:nvPr>
            <p:ph idx="1"/>
          </p:nvPr>
        </p:nvSpPr>
        <p:spPr/>
        <p:txBody>
          <a:bodyPr>
            <a:normAutofit fontScale="92500" lnSpcReduction="10000"/>
          </a:bodyPr>
          <a:lstStyle/>
          <a:p>
            <a:r>
              <a:rPr lang="en-US" dirty="0"/>
              <a:t>When you pass a variable to a function you are passing a reference (always pass-by-reference)</a:t>
            </a:r>
          </a:p>
          <a:p>
            <a:r>
              <a:rPr lang="en-US" dirty="0"/>
              <a:t>You are assigning the (named) addresses in the arguments to the names defined by the parameters</a:t>
            </a:r>
          </a:p>
          <a:p>
            <a:r>
              <a:rPr lang="en-US" dirty="0"/>
              <a:t>When the parameter addresses reference an immutable object, any changes you make only stay in the function</a:t>
            </a:r>
          </a:p>
          <a:p>
            <a:r>
              <a:rPr lang="en-US" dirty="0"/>
              <a:t>When they reference a mutable, you can change the object and those changes persist out of scope</a:t>
            </a:r>
          </a:p>
          <a:p>
            <a:r>
              <a:rPr lang="en-US" dirty="0"/>
              <a:t>Discuss: Why?</a:t>
            </a:r>
          </a:p>
          <a:p>
            <a:endParaRPr lang="en-US" dirty="0"/>
          </a:p>
        </p:txBody>
      </p:sp>
    </p:spTree>
    <p:extLst>
      <p:ext uri="{BB962C8B-B14F-4D97-AF65-F5344CB8AC3E}">
        <p14:creationId xmlns:p14="http://schemas.microsoft.com/office/powerpoint/2010/main" val="2840735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67A75-29A1-9DB6-9E9F-B9D381980B5E}"/>
              </a:ext>
            </a:extLst>
          </p:cNvPr>
          <p:cNvSpPr>
            <a:spLocks noGrp="1"/>
          </p:cNvSpPr>
          <p:nvPr>
            <p:ph type="title"/>
          </p:nvPr>
        </p:nvSpPr>
        <p:spPr/>
        <p:txBody>
          <a:bodyPr/>
          <a:lstStyle/>
          <a:p>
            <a:r>
              <a:rPr lang="en-US" dirty="0"/>
              <a:t>Try this code:</a:t>
            </a:r>
          </a:p>
        </p:txBody>
      </p:sp>
      <p:sp>
        <p:nvSpPr>
          <p:cNvPr id="7" name="TextBox 6">
            <a:extLst>
              <a:ext uri="{FF2B5EF4-FFF2-40B4-BE49-F238E27FC236}">
                <a16:creationId xmlns:a16="http://schemas.microsoft.com/office/drawing/2014/main" id="{95100173-57B8-CAD9-E85B-D5C47859D409}"/>
              </a:ext>
            </a:extLst>
          </p:cNvPr>
          <p:cNvSpPr txBox="1"/>
          <p:nvPr/>
        </p:nvSpPr>
        <p:spPr>
          <a:xfrm>
            <a:off x="2155371" y="1725696"/>
            <a:ext cx="7881257" cy="4401205"/>
          </a:xfrm>
          <a:prstGeom prst="rect">
            <a:avLst/>
          </a:prstGeom>
          <a:noFill/>
        </p:spPr>
        <p:txBody>
          <a:bodyPr wrap="square">
            <a:spAutoFit/>
          </a:bodyPr>
          <a:lstStyle/>
          <a:p>
            <a:r>
              <a:rPr lang="en-AU" sz="2800" b="0" dirty="0">
                <a:solidFill>
                  <a:srgbClr val="569CD6"/>
                </a:solidFill>
                <a:effectLst/>
                <a:latin typeface="Agave" panose="020B0509030604020203" pitchFamily="49" charset="0"/>
              </a:rPr>
              <a:t>def</a:t>
            </a:r>
            <a:r>
              <a:rPr lang="en-AU" sz="2800" b="0" dirty="0">
                <a:solidFill>
                  <a:srgbClr val="CCCCCC"/>
                </a:solidFill>
                <a:effectLst/>
                <a:latin typeface="Agave" panose="020B0509030604020203" pitchFamily="49" charset="0"/>
              </a:rPr>
              <a:t> </a:t>
            </a:r>
            <a:r>
              <a:rPr lang="en-AU" sz="2800" b="0" dirty="0">
                <a:solidFill>
                  <a:srgbClr val="DCDCAA"/>
                </a:solidFill>
                <a:effectLst/>
                <a:latin typeface="Agave" panose="020B0509030604020203" pitchFamily="49" charset="0"/>
              </a:rPr>
              <a:t>modify</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n</a:t>
            </a:r>
            <a:r>
              <a:rPr lang="en-AU" sz="2800" b="0" dirty="0">
                <a:solidFill>
                  <a:srgbClr val="CCCCCC"/>
                </a:solidFill>
                <a:effectLst/>
                <a:latin typeface="Agave" panose="020B0509030604020203" pitchFamily="49" charset="0"/>
              </a:rPr>
              <a:t>, </a:t>
            </a:r>
            <a:r>
              <a:rPr lang="en-AU" sz="2800" b="0" dirty="0">
                <a:solidFill>
                  <a:srgbClr val="9CDCFE"/>
                </a:solidFill>
                <a:effectLst/>
                <a:latin typeface="Agave" panose="020B0509030604020203" pitchFamily="49" charset="0"/>
              </a:rPr>
              <a:t>list_</a:t>
            </a:r>
            <a:r>
              <a:rPr lang="en-AU" sz="2800" b="0" dirty="0">
                <a:solidFill>
                  <a:srgbClr val="CCCCCC"/>
                </a:solidFill>
                <a:effectLst/>
                <a:latin typeface="Agave" panose="020B0509030604020203" pitchFamily="49" charset="0"/>
              </a:rPr>
              <a:t>):</a:t>
            </a:r>
          </a:p>
          <a:p>
            <a:r>
              <a:rPr lang="en-AU" sz="2800" b="0" dirty="0">
                <a:solidFill>
                  <a:srgbClr val="9CDCFE"/>
                </a:solidFill>
                <a:effectLst/>
                <a:latin typeface="Agave" panose="020B0509030604020203" pitchFamily="49" charset="0"/>
              </a:rPr>
              <a:t>	n</a:t>
            </a:r>
            <a:r>
              <a:rPr lang="en-AU" sz="2800" b="0" dirty="0">
                <a:solidFill>
                  <a:srgbClr val="CCCCCC"/>
                </a:solidFill>
                <a:effectLst/>
                <a:latin typeface="Agave" panose="020B0509030604020203" pitchFamily="49" charset="0"/>
              </a:rPr>
              <a:t> </a:t>
            </a:r>
            <a:r>
              <a:rPr lang="en-AU" sz="2800" b="0" dirty="0">
                <a:solidFill>
                  <a:srgbClr val="D4D4D4"/>
                </a:solidFill>
                <a:effectLst/>
                <a:latin typeface="Agave" panose="020B0509030604020203" pitchFamily="49" charset="0"/>
              </a:rPr>
              <a:t>=</a:t>
            </a:r>
            <a:r>
              <a:rPr lang="en-AU" sz="2800" b="0" dirty="0">
                <a:solidFill>
                  <a:srgbClr val="CCCCCC"/>
                </a:solidFill>
                <a:effectLst/>
                <a:latin typeface="Agave" panose="020B0509030604020203" pitchFamily="49" charset="0"/>
              </a:rPr>
              <a:t> </a:t>
            </a:r>
            <a:r>
              <a:rPr lang="en-AU" sz="2800" b="0" dirty="0">
                <a:solidFill>
                  <a:srgbClr val="B5CEA8"/>
                </a:solidFill>
                <a:effectLst/>
                <a:latin typeface="Agave" panose="020B0509030604020203" pitchFamily="49" charset="0"/>
              </a:rPr>
              <a:t>2</a:t>
            </a:r>
            <a:endParaRPr lang="en-AU" sz="2800" b="0" dirty="0">
              <a:solidFill>
                <a:srgbClr val="CCCCCC"/>
              </a:solidFill>
              <a:effectLst/>
              <a:latin typeface="Agave" panose="020B0509030604020203" pitchFamily="49" charset="0"/>
            </a:endParaRPr>
          </a:p>
          <a:p>
            <a:r>
              <a:rPr lang="en-AU" sz="2800" b="0" dirty="0">
                <a:solidFill>
                  <a:srgbClr val="9CDCFE"/>
                </a:solidFill>
                <a:effectLst/>
                <a:latin typeface="Agave" panose="020B0509030604020203" pitchFamily="49" charset="0"/>
              </a:rPr>
              <a:t>	</a:t>
            </a:r>
            <a:r>
              <a:rPr lang="en-AU" sz="2800" b="0" dirty="0" err="1">
                <a:solidFill>
                  <a:srgbClr val="9CDCFE"/>
                </a:solidFill>
                <a:effectLst/>
                <a:latin typeface="Agave" panose="020B0509030604020203" pitchFamily="49" charset="0"/>
              </a:rPr>
              <a:t>list_</a:t>
            </a:r>
            <a:r>
              <a:rPr lang="en-AU" sz="2800" b="0" dirty="0" err="1">
                <a:solidFill>
                  <a:srgbClr val="CCCCCC"/>
                </a:solidFill>
                <a:effectLst/>
                <a:latin typeface="Agave" panose="020B0509030604020203" pitchFamily="49" charset="0"/>
              </a:rPr>
              <a:t>.append</a:t>
            </a:r>
            <a:r>
              <a:rPr lang="en-AU" sz="2800" b="0" dirty="0">
                <a:solidFill>
                  <a:srgbClr val="CCCCCC"/>
                </a:solidFill>
                <a:effectLst/>
                <a:latin typeface="Agave" panose="020B0509030604020203" pitchFamily="49" charset="0"/>
              </a:rPr>
              <a:t>(</a:t>
            </a:r>
            <a:r>
              <a:rPr lang="en-AU" sz="2800" b="0" dirty="0">
                <a:solidFill>
                  <a:srgbClr val="B5CEA8"/>
                </a:solidFill>
                <a:effectLst/>
                <a:latin typeface="Agave" panose="020B0509030604020203" pitchFamily="49" charset="0"/>
              </a:rPr>
              <a:t>3</a:t>
            </a:r>
            <a:r>
              <a:rPr lang="en-AU" sz="2800" b="0" dirty="0">
                <a:solidFill>
                  <a:srgbClr val="CCCCCC"/>
                </a:solidFill>
                <a:effectLst/>
                <a:latin typeface="Agave" panose="020B0509030604020203" pitchFamily="49" charset="0"/>
              </a:rPr>
              <a:t>)</a:t>
            </a:r>
          </a:p>
          <a:p>
            <a:br>
              <a:rPr lang="en-AU" sz="2800" b="0" dirty="0">
                <a:solidFill>
                  <a:srgbClr val="CCCCCC"/>
                </a:solidFill>
                <a:effectLst/>
                <a:latin typeface="Agave" panose="020B0509030604020203" pitchFamily="49" charset="0"/>
              </a:rPr>
            </a:br>
            <a:r>
              <a:rPr lang="en-AU" sz="2800" b="0" dirty="0">
                <a:solidFill>
                  <a:srgbClr val="9CDCFE"/>
                </a:solidFill>
                <a:effectLst/>
                <a:latin typeface="Agave" panose="020B0509030604020203" pitchFamily="49" charset="0"/>
              </a:rPr>
              <a:t>n</a:t>
            </a:r>
            <a:r>
              <a:rPr lang="en-AU" sz="2800" b="0" dirty="0">
                <a:solidFill>
                  <a:srgbClr val="CCCCCC"/>
                </a:solidFill>
                <a:effectLst/>
                <a:latin typeface="Agave" panose="020B0509030604020203" pitchFamily="49" charset="0"/>
              </a:rPr>
              <a:t> </a:t>
            </a:r>
            <a:r>
              <a:rPr lang="en-AU" sz="2800" b="0" dirty="0">
                <a:solidFill>
                  <a:srgbClr val="D4D4D4"/>
                </a:solidFill>
                <a:effectLst/>
                <a:latin typeface="Agave" panose="020B0509030604020203" pitchFamily="49" charset="0"/>
              </a:rPr>
              <a:t>=</a:t>
            </a:r>
            <a:r>
              <a:rPr lang="en-AU" sz="2800" b="0" dirty="0">
                <a:solidFill>
                  <a:srgbClr val="CCCCCC"/>
                </a:solidFill>
                <a:effectLst/>
                <a:latin typeface="Agave" panose="020B0509030604020203" pitchFamily="49" charset="0"/>
              </a:rPr>
              <a:t> </a:t>
            </a:r>
            <a:r>
              <a:rPr lang="en-AU" sz="2800" b="0" dirty="0">
                <a:solidFill>
                  <a:srgbClr val="B5CEA8"/>
                </a:solidFill>
                <a:effectLst/>
                <a:latin typeface="Agave" panose="020B0509030604020203" pitchFamily="49" charset="0"/>
              </a:rPr>
              <a:t>1</a:t>
            </a:r>
            <a:endParaRPr lang="en-AU" sz="2800" b="0" dirty="0">
              <a:solidFill>
                <a:srgbClr val="CCCCCC"/>
              </a:solidFill>
              <a:effectLst/>
              <a:latin typeface="Agave" panose="020B0509030604020203" pitchFamily="49" charset="0"/>
            </a:endParaRPr>
          </a:p>
          <a:p>
            <a:r>
              <a:rPr lang="en-AU" sz="2800" b="0" dirty="0">
                <a:solidFill>
                  <a:srgbClr val="9CDCFE"/>
                </a:solidFill>
                <a:effectLst/>
                <a:latin typeface="Agave" panose="020B0509030604020203" pitchFamily="49" charset="0"/>
              </a:rPr>
              <a:t>list_</a:t>
            </a:r>
            <a:r>
              <a:rPr lang="en-AU" sz="2800" b="0" dirty="0">
                <a:solidFill>
                  <a:srgbClr val="CCCCCC"/>
                </a:solidFill>
                <a:effectLst/>
                <a:latin typeface="Agave" panose="020B0509030604020203" pitchFamily="49" charset="0"/>
              </a:rPr>
              <a:t> </a:t>
            </a:r>
            <a:r>
              <a:rPr lang="en-AU" sz="2800" b="0" dirty="0">
                <a:solidFill>
                  <a:srgbClr val="D4D4D4"/>
                </a:solidFill>
                <a:effectLst/>
                <a:latin typeface="Agave" panose="020B0509030604020203" pitchFamily="49" charset="0"/>
              </a:rPr>
              <a:t>=</a:t>
            </a:r>
            <a:r>
              <a:rPr lang="en-AU" sz="2800" b="0" dirty="0">
                <a:solidFill>
                  <a:srgbClr val="CCCCCC"/>
                </a:solidFill>
                <a:effectLst/>
                <a:latin typeface="Agave" panose="020B0509030604020203" pitchFamily="49" charset="0"/>
              </a:rPr>
              <a:t> [</a:t>
            </a:r>
            <a:r>
              <a:rPr lang="en-AU" sz="2800" b="0" dirty="0">
                <a:solidFill>
                  <a:srgbClr val="B5CEA8"/>
                </a:solidFill>
                <a:effectLst/>
                <a:latin typeface="Agave" panose="020B0509030604020203" pitchFamily="49" charset="0"/>
              </a:rPr>
              <a:t>1</a:t>
            </a:r>
            <a:r>
              <a:rPr lang="en-AU" sz="2800" b="0" dirty="0">
                <a:solidFill>
                  <a:srgbClr val="CCCCCC"/>
                </a:solidFill>
                <a:effectLst/>
                <a:latin typeface="Agave" panose="020B0509030604020203" pitchFamily="49" charset="0"/>
              </a:rPr>
              <a:t>, </a:t>
            </a:r>
            <a:r>
              <a:rPr lang="en-AU" sz="2800" b="0" dirty="0">
                <a:solidFill>
                  <a:srgbClr val="B5CEA8"/>
                </a:solidFill>
                <a:effectLst/>
                <a:latin typeface="Agave" panose="020B0509030604020203" pitchFamily="49" charset="0"/>
              </a:rPr>
              <a:t>2</a:t>
            </a:r>
            <a:r>
              <a:rPr lang="en-AU" sz="2800" b="0" dirty="0">
                <a:solidFill>
                  <a:srgbClr val="CCCCCC"/>
                </a:solidFill>
                <a:effectLst/>
                <a:latin typeface="Agave" panose="020B0509030604020203" pitchFamily="49" charset="0"/>
              </a:rPr>
              <a:t>]</a:t>
            </a:r>
          </a:p>
          <a:p>
            <a:r>
              <a:rPr lang="en-AU" sz="2800" b="0" dirty="0">
                <a:solidFill>
                  <a:srgbClr val="DCDCAA"/>
                </a:solidFill>
                <a:effectLst/>
                <a:latin typeface="Agave" panose="020B0509030604020203" pitchFamily="49" charset="0"/>
              </a:rPr>
              <a:t>modify</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n</a:t>
            </a:r>
            <a:r>
              <a:rPr lang="en-AU" sz="2800" b="0" dirty="0">
                <a:solidFill>
                  <a:srgbClr val="CCCCCC"/>
                </a:solidFill>
                <a:effectLst/>
                <a:latin typeface="Agave" panose="020B0509030604020203" pitchFamily="49" charset="0"/>
              </a:rPr>
              <a:t>, </a:t>
            </a:r>
            <a:r>
              <a:rPr lang="en-AU" sz="2800" b="0" dirty="0">
                <a:solidFill>
                  <a:srgbClr val="9CDCFE"/>
                </a:solidFill>
                <a:effectLst/>
                <a:latin typeface="Agave" panose="020B0509030604020203" pitchFamily="49" charset="0"/>
              </a:rPr>
              <a:t>list_</a:t>
            </a:r>
            <a:r>
              <a:rPr lang="en-AU" sz="2800" b="0" dirty="0">
                <a:solidFill>
                  <a:srgbClr val="CCCCCC"/>
                </a:solidFill>
                <a:effectLst/>
                <a:latin typeface="Agave" panose="020B0509030604020203" pitchFamily="49" charset="0"/>
              </a:rPr>
              <a:t>)</a:t>
            </a:r>
          </a:p>
          <a:p>
            <a:br>
              <a:rPr lang="en-AU" sz="2800" b="0" dirty="0">
                <a:solidFill>
                  <a:srgbClr val="CCCCCC"/>
                </a:solidFill>
                <a:effectLst/>
                <a:latin typeface="Agave" panose="020B0509030604020203" pitchFamily="49" charset="0"/>
              </a:rPr>
            </a:br>
            <a:r>
              <a:rPr lang="en-AU" sz="2800" b="0" dirty="0">
                <a:solidFill>
                  <a:srgbClr val="DCDCAA"/>
                </a:solidFill>
                <a:effectLst/>
                <a:latin typeface="Agave" panose="020B0509030604020203" pitchFamily="49" charset="0"/>
              </a:rPr>
              <a:t>print</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n</a:t>
            </a:r>
            <a:r>
              <a:rPr lang="en-AU" sz="2800" b="0" dirty="0">
                <a:solidFill>
                  <a:srgbClr val="CCCCCC"/>
                </a:solidFill>
                <a:effectLst/>
                <a:latin typeface="Agave" panose="020B0509030604020203" pitchFamily="49" charset="0"/>
              </a:rPr>
              <a:t>) </a:t>
            </a:r>
            <a:r>
              <a:rPr lang="en-AU" sz="2800" b="0" dirty="0">
                <a:solidFill>
                  <a:srgbClr val="6A9955"/>
                </a:solidFill>
                <a:effectLst/>
                <a:latin typeface="Agave" panose="020B0509030604020203" pitchFamily="49" charset="0"/>
              </a:rPr>
              <a:t># Outputs: 1</a:t>
            </a:r>
            <a:endParaRPr lang="en-AU" sz="2800" b="0" dirty="0">
              <a:solidFill>
                <a:srgbClr val="CCCCCC"/>
              </a:solidFill>
              <a:effectLst/>
              <a:latin typeface="Agave" panose="020B0509030604020203" pitchFamily="49" charset="0"/>
            </a:endParaRPr>
          </a:p>
          <a:p>
            <a:r>
              <a:rPr lang="en-AU" sz="2800" b="0" dirty="0">
                <a:solidFill>
                  <a:srgbClr val="DCDCAA"/>
                </a:solidFill>
                <a:effectLst/>
                <a:latin typeface="Agave" panose="020B0509030604020203" pitchFamily="49" charset="0"/>
              </a:rPr>
              <a:t>print</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list_</a:t>
            </a:r>
            <a:r>
              <a:rPr lang="en-AU" sz="2800" b="0" dirty="0">
                <a:solidFill>
                  <a:srgbClr val="CCCCCC"/>
                </a:solidFill>
                <a:effectLst/>
                <a:latin typeface="Agave" panose="020B0509030604020203" pitchFamily="49" charset="0"/>
              </a:rPr>
              <a:t>) </a:t>
            </a:r>
            <a:r>
              <a:rPr lang="en-AU" sz="2800" b="0" dirty="0">
                <a:solidFill>
                  <a:srgbClr val="6A9955"/>
                </a:solidFill>
                <a:effectLst/>
                <a:latin typeface="Agave" panose="020B0509030604020203" pitchFamily="49" charset="0"/>
              </a:rPr>
              <a:t># Outputs: [1, 2, 3]</a:t>
            </a:r>
            <a:endParaRPr lang="en-AU" sz="2800" b="0" dirty="0">
              <a:solidFill>
                <a:srgbClr val="CCCCCC"/>
              </a:solidFill>
              <a:effectLst/>
              <a:latin typeface="Agave" panose="020B0509030604020203" pitchFamily="49" charset="0"/>
            </a:endParaRPr>
          </a:p>
        </p:txBody>
      </p:sp>
    </p:spTree>
    <p:extLst>
      <p:ext uri="{BB962C8B-B14F-4D97-AF65-F5344CB8AC3E}">
        <p14:creationId xmlns:p14="http://schemas.microsoft.com/office/powerpoint/2010/main" val="2167251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1511D-8151-9969-F9DE-B3B18FA24DC8}"/>
              </a:ext>
            </a:extLst>
          </p:cNvPr>
          <p:cNvSpPr>
            <a:spLocks noGrp="1"/>
          </p:cNvSpPr>
          <p:nvPr>
            <p:ph type="title"/>
          </p:nvPr>
        </p:nvSpPr>
        <p:spPr/>
        <p:txBody>
          <a:bodyPr/>
          <a:lstStyle/>
          <a:p>
            <a:r>
              <a:rPr lang="en-US" dirty="0"/>
              <a:t>Revision</a:t>
            </a:r>
          </a:p>
        </p:txBody>
      </p:sp>
      <p:sp>
        <p:nvSpPr>
          <p:cNvPr id="3" name="Content Placeholder 2">
            <a:extLst>
              <a:ext uri="{FF2B5EF4-FFF2-40B4-BE49-F238E27FC236}">
                <a16:creationId xmlns:a16="http://schemas.microsoft.com/office/drawing/2014/main" id="{9761304C-CD92-E11B-4E0D-4CBFE562B903}"/>
              </a:ext>
            </a:extLst>
          </p:cNvPr>
          <p:cNvSpPr>
            <a:spLocks noGrp="1"/>
          </p:cNvSpPr>
          <p:nvPr>
            <p:ph idx="1"/>
          </p:nvPr>
        </p:nvSpPr>
        <p:spPr/>
        <p:txBody>
          <a:bodyPr/>
          <a:lstStyle/>
          <a:p>
            <a:pPr algn="l">
              <a:buFont typeface="+mj-lt"/>
              <a:buAutoNum type="arabicPeriod"/>
            </a:pPr>
            <a:r>
              <a:rPr lang="en-AU" b="0" i="0" dirty="0">
                <a:solidFill>
                  <a:srgbClr val="D1D5DB"/>
                </a:solidFill>
                <a:effectLst/>
                <a:latin typeface="Söhne"/>
              </a:rPr>
              <a:t>How would you explain Python's parameter passing mechanism? Is it more like pass-by-value or pass-by-reference?</a:t>
            </a:r>
          </a:p>
          <a:p>
            <a:pPr algn="l">
              <a:buFont typeface="+mj-lt"/>
              <a:buAutoNum type="arabicPeriod"/>
            </a:pPr>
            <a:r>
              <a:rPr lang="en-AU" b="0" i="0" dirty="0">
                <a:solidFill>
                  <a:srgbClr val="D1D5DB"/>
                </a:solidFill>
                <a:effectLst/>
                <a:latin typeface="Söhne"/>
              </a:rPr>
              <a:t>Given the following Python code, what will be the output and why?</a:t>
            </a:r>
          </a:p>
          <a:p>
            <a:endParaRPr lang="en-US" dirty="0"/>
          </a:p>
        </p:txBody>
      </p:sp>
    </p:spTree>
    <p:extLst>
      <p:ext uri="{BB962C8B-B14F-4D97-AF65-F5344CB8AC3E}">
        <p14:creationId xmlns:p14="http://schemas.microsoft.com/office/powerpoint/2010/main" val="595157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E71D51-7016-B2DC-767E-DB8A7DDDE55C}"/>
              </a:ext>
            </a:extLst>
          </p:cNvPr>
          <p:cNvSpPr txBox="1"/>
          <p:nvPr/>
        </p:nvSpPr>
        <p:spPr>
          <a:xfrm>
            <a:off x="979716" y="1166842"/>
            <a:ext cx="8218712" cy="4524315"/>
          </a:xfrm>
          <a:prstGeom prst="rect">
            <a:avLst/>
          </a:prstGeom>
          <a:solidFill>
            <a:schemeClr val="tx1">
              <a:lumMod val="85000"/>
              <a:lumOff val="15000"/>
            </a:schemeClr>
          </a:solidFill>
          <a:ln>
            <a:solidFill>
              <a:schemeClr val="bg1"/>
            </a:solidFill>
          </a:ln>
        </p:spPr>
        <p:txBody>
          <a:bodyPr wrap="square">
            <a:spAutoFit/>
          </a:bodyPr>
          <a:lstStyle/>
          <a:p>
            <a:r>
              <a:rPr lang="en-AU" sz="3600" b="0" dirty="0">
                <a:solidFill>
                  <a:srgbClr val="569CD6"/>
                </a:solidFill>
                <a:effectLst/>
                <a:latin typeface="Agave" panose="020B0509030604020203" pitchFamily="49" charset="0"/>
              </a:rPr>
              <a:t>def</a:t>
            </a:r>
            <a:r>
              <a:rPr lang="en-AU" sz="3600" b="0" dirty="0">
                <a:solidFill>
                  <a:srgbClr val="CCCCCC"/>
                </a:solidFill>
                <a:effectLst/>
                <a:latin typeface="Agave" panose="020B0509030604020203" pitchFamily="49" charset="0"/>
              </a:rPr>
              <a:t> </a:t>
            </a:r>
            <a:r>
              <a:rPr lang="en-AU" sz="3600" b="0" dirty="0" err="1">
                <a:solidFill>
                  <a:srgbClr val="DCDCAA"/>
                </a:solidFill>
                <a:effectLst/>
                <a:latin typeface="Agave" panose="020B0509030604020203" pitchFamily="49" charset="0"/>
              </a:rPr>
              <a:t>modify_list</a:t>
            </a:r>
            <a:r>
              <a:rPr lang="en-AU" sz="3600" b="0" dirty="0">
                <a:solidFill>
                  <a:srgbClr val="CCCCCC"/>
                </a:solidFill>
                <a:effectLst/>
                <a:latin typeface="Agave" panose="020B0509030604020203" pitchFamily="49" charset="0"/>
              </a:rPr>
              <a:t>(</a:t>
            </a:r>
            <a:r>
              <a:rPr lang="en-AU" sz="3600" b="0" dirty="0">
                <a:solidFill>
                  <a:srgbClr val="9CDCFE"/>
                </a:solidFill>
                <a:effectLst/>
                <a:latin typeface="Agave" panose="020B0509030604020203" pitchFamily="49" charset="0"/>
              </a:rPr>
              <a:t>list_</a:t>
            </a:r>
            <a:r>
              <a:rPr lang="en-AU" sz="3600" b="0" dirty="0">
                <a:solidFill>
                  <a:srgbClr val="CCCCCC"/>
                </a:solidFill>
                <a:effectLst/>
                <a:latin typeface="Agave" panose="020B0509030604020203" pitchFamily="49" charset="0"/>
              </a:rPr>
              <a:t>):</a:t>
            </a:r>
          </a:p>
          <a:p>
            <a:pPr lvl="1"/>
            <a:r>
              <a:rPr lang="en-AU" sz="3600" dirty="0" err="1">
                <a:solidFill>
                  <a:srgbClr val="9CDCFE"/>
                </a:solidFill>
                <a:latin typeface="Agave" panose="020B0509030604020203" pitchFamily="49" charset="0"/>
              </a:rPr>
              <a:t>l</a:t>
            </a:r>
            <a:r>
              <a:rPr lang="en-AU" sz="3600" b="0" dirty="0" err="1">
                <a:solidFill>
                  <a:srgbClr val="9CDCFE"/>
                </a:solidFill>
                <a:effectLst/>
                <a:latin typeface="Agave" panose="020B0509030604020203" pitchFamily="49" charset="0"/>
              </a:rPr>
              <a:t>ist_</a:t>
            </a:r>
            <a:r>
              <a:rPr lang="en-AU" sz="3600" b="0" dirty="0" err="1">
                <a:solidFill>
                  <a:srgbClr val="CCCCCC"/>
                </a:solidFill>
                <a:effectLst/>
                <a:latin typeface="Agave" panose="020B0509030604020203" pitchFamily="49" charset="0"/>
              </a:rPr>
              <a:t>.append</a:t>
            </a:r>
            <a:r>
              <a:rPr lang="en-AU" sz="3600" b="0" dirty="0">
                <a:solidFill>
                  <a:srgbClr val="CCCCCC"/>
                </a:solidFill>
                <a:effectLst/>
                <a:latin typeface="Agave" panose="020B0509030604020203" pitchFamily="49" charset="0"/>
              </a:rPr>
              <a:t>(</a:t>
            </a:r>
            <a:r>
              <a:rPr lang="en-AU" sz="3600" b="0" dirty="0">
                <a:solidFill>
                  <a:srgbClr val="CE9178"/>
                </a:solidFill>
                <a:effectLst/>
                <a:latin typeface="Agave" panose="020B0509030604020203" pitchFamily="49" charset="0"/>
              </a:rPr>
              <a:t>"new"</a:t>
            </a:r>
            <a:r>
              <a:rPr lang="en-AU" sz="3600" b="0" dirty="0">
                <a:solidFill>
                  <a:srgbClr val="CCCCCC"/>
                </a:solidFill>
                <a:effectLst/>
                <a:latin typeface="Agave" panose="020B0509030604020203" pitchFamily="49" charset="0"/>
              </a:rPr>
              <a:t>)</a:t>
            </a:r>
          </a:p>
          <a:p>
            <a:pPr lvl="1"/>
            <a:r>
              <a:rPr lang="en-AU" sz="3600" dirty="0">
                <a:solidFill>
                  <a:srgbClr val="9CDCFE"/>
                </a:solidFill>
                <a:latin typeface="Agave" panose="020B0509030604020203" pitchFamily="49" charset="0"/>
              </a:rPr>
              <a:t>list_</a:t>
            </a:r>
            <a:r>
              <a:rPr lang="en-AU" sz="3600" b="0" dirty="0">
                <a:solidFill>
                  <a:srgbClr val="CCCCCC"/>
                </a:solidFill>
                <a:effectLst/>
                <a:latin typeface="Agave" panose="020B0509030604020203" pitchFamily="49" charset="0"/>
              </a:rPr>
              <a:t> </a:t>
            </a:r>
            <a:r>
              <a:rPr lang="en-AU" sz="3600" b="0" dirty="0">
                <a:solidFill>
                  <a:srgbClr val="D4D4D4"/>
                </a:solidFill>
                <a:effectLst/>
                <a:latin typeface="Agave" panose="020B0509030604020203" pitchFamily="49" charset="0"/>
              </a:rPr>
              <a:t>=</a:t>
            </a:r>
            <a:r>
              <a:rPr lang="en-AU" sz="3600" b="0" dirty="0">
                <a:solidFill>
                  <a:srgbClr val="CCCCCC"/>
                </a:solidFill>
                <a:effectLst/>
                <a:latin typeface="Agave" panose="020B0509030604020203" pitchFamily="49" charset="0"/>
              </a:rPr>
              <a:t> [</a:t>
            </a:r>
            <a:r>
              <a:rPr lang="en-AU" sz="3600" b="0" dirty="0">
                <a:solidFill>
                  <a:srgbClr val="CE9178"/>
                </a:solidFill>
                <a:effectLst/>
                <a:latin typeface="Agave" panose="020B0509030604020203" pitchFamily="49" charset="0"/>
              </a:rPr>
              <a:t>"completely"</a:t>
            </a:r>
            <a:r>
              <a:rPr lang="en-AU" sz="3600" b="0" dirty="0">
                <a:solidFill>
                  <a:srgbClr val="CCCCCC"/>
                </a:solidFill>
                <a:effectLst/>
                <a:latin typeface="Agave" panose="020B0509030604020203" pitchFamily="49" charset="0"/>
              </a:rPr>
              <a:t>, </a:t>
            </a:r>
            <a:r>
              <a:rPr lang="en-AU" sz="3600" b="0" dirty="0">
                <a:solidFill>
                  <a:srgbClr val="CE9178"/>
                </a:solidFill>
                <a:effectLst/>
                <a:latin typeface="Agave" panose="020B0509030604020203" pitchFamily="49" charset="0"/>
              </a:rPr>
              <a:t>"new"</a:t>
            </a:r>
            <a:r>
              <a:rPr lang="en-AU" sz="3600" b="0" dirty="0">
                <a:solidFill>
                  <a:srgbClr val="CCCCCC"/>
                </a:solidFill>
                <a:effectLst/>
                <a:latin typeface="Agave" panose="020B0509030604020203" pitchFamily="49" charset="0"/>
              </a:rPr>
              <a:t>]</a:t>
            </a:r>
          </a:p>
          <a:p>
            <a:br>
              <a:rPr lang="en-AU" sz="3600" b="0" dirty="0">
                <a:solidFill>
                  <a:srgbClr val="CCCCCC"/>
                </a:solidFill>
                <a:effectLst/>
                <a:latin typeface="Agave" panose="020B0509030604020203" pitchFamily="49" charset="0"/>
              </a:rPr>
            </a:br>
            <a:r>
              <a:rPr lang="en-AU" sz="3600" b="0" dirty="0">
                <a:solidFill>
                  <a:srgbClr val="9CDCFE"/>
                </a:solidFill>
                <a:effectLst/>
                <a:latin typeface="Agave" panose="020B0509030604020203" pitchFamily="49" charset="0"/>
              </a:rPr>
              <a:t>items</a:t>
            </a:r>
            <a:r>
              <a:rPr lang="en-AU" sz="3600" b="0" dirty="0">
                <a:solidFill>
                  <a:srgbClr val="CCCCCC"/>
                </a:solidFill>
                <a:effectLst/>
                <a:latin typeface="Agave" panose="020B0509030604020203" pitchFamily="49" charset="0"/>
              </a:rPr>
              <a:t> </a:t>
            </a:r>
            <a:r>
              <a:rPr lang="en-AU" sz="3600" b="0" dirty="0">
                <a:solidFill>
                  <a:srgbClr val="D4D4D4"/>
                </a:solidFill>
                <a:effectLst/>
                <a:latin typeface="Agave" panose="020B0509030604020203" pitchFamily="49" charset="0"/>
              </a:rPr>
              <a:t>=</a:t>
            </a:r>
            <a:r>
              <a:rPr lang="en-AU" sz="3600" b="0" dirty="0">
                <a:solidFill>
                  <a:srgbClr val="CCCCCC"/>
                </a:solidFill>
                <a:effectLst/>
                <a:latin typeface="Agave" panose="020B0509030604020203" pitchFamily="49" charset="0"/>
              </a:rPr>
              <a:t> [</a:t>
            </a:r>
            <a:r>
              <a:rPr lang="en-AU" sz="3600" b="0" dirty="0">
                <a:solidFill>
                  <a:srgbClr val="CE9178"/>
                </a:solidFill>
                <a:effectLst/>
                <a:latin typeface="Agave" panose="020B0509030604020203" pitchFamily="49" charset="0"/>
              </a:rPr>
              <a:t>"original"</a:t>
            </a:r>
            <a:r>
              <a:rPr lang="en-AU" sz="3600" b="0" dirty="0">
                <a:solidFill>
                  <a:srgbClr val="CCCCCC"/>
                </a:solidFill>
                <a:effectLst/>
                <a:latin typeface="Agave" panose="020B0509030604020203" pitchFamily="49" charset="0"/>
              </a:rPr>
              <a:t>]</a:t>
            </a:r>
          </a:p>
          <a:p>
            <a:r>
              <a:rPr lang="en-AU" sz="3600" b="0" dirty="0" err="1">
                <a:solidFill>
                  <a:srgbClr val="DCDCAA"/>
                </a:solidFill>
                <a:effectLst/>
                <a:latin typeface="Agave" panose="020B0509030604020203" pitchFamily="49" charset="0"/>
              </a:rPr>
              <a:t>modify_list</a:t>
            </a:r>
            <a:r>
              <a:rPr lang="en-AU" sz="3600" b="0" dirty="0">
                <a:solidFill>
                  <a:srgbClr val="CCCCCC"/>
                </a:solidFill>
                <a:effectLst/>
                <a:latin typeface="Agave" panose="020B0509030604020203" pitchFamily="49" charset="0"/>
              </a:rPr>
              <a:t>(</a:t>
            </a:r>
            <a:r>
              <a:rPr lang="en-AU" sz="3600" b="0" dirty="0">
                <a:solidFill>
                  <a:srgbClr val="9CDCFE"/>
                </a:solidFill>
                <a:effectLst/>
                <a:latin typeface="Agave" panose="020B0509030604020203" pitchFamily="49" charset="0"/>
              </a:rPr>
              <a:t>items</a:t>
            </a:r>
            <a:r>
              <a:rPr lang="en-AU" sz="3600" b="0" dirty="0">
                <a:solidFill>
                  <a:srgbClr val="CCCCCC"/>
                </a:solidFill>
                <a:effectLst/>
                <a:latin typeface="Agave" panose="020B0509030604020203" pitchFamily="49" charset="0"/>
              </a:rPr>
              <a:t>)</a:t>
            </a:r>
          </a:p>
          <a:p>
            <a:r>
              <a:rPr lang="en-AU" sz="3600" b="0" dirty="0">
                <a:solidFill>
                  <a:srgbClr val="DCDCAA"/>
                </a:solidFill>
                <a:effectLst/>
                <a:latin typeface="Agave" panose="020B0509030604020203" pitchFamily="49" charset="0"/>
              </a:rPr>
              <a:t>print</a:t>
            </a:r>
            <a:r>
              <a:rPr lang="en-AU" sz="3600" b="0" dirty="0">
                <a:solidFill>
                  <a:srgbClr val="CCCCCC"/>
                </a:solidFill>
                <a:effectLst/>
                <a:latin typeface="Agave" panose="020B0509030604020203" pitchFamily="49" charset="0"/>
              </a:rPr>
              <a:t>(</a:t>
            </a:r>
            <a:r>
              <a:rPr lang="en-AU" sz="3600" b="0" dirty="0">
                <a:solidFill>
                  <a:srgbClr val="9CDCFE"/>
                </a:solidFill>
                <a:effectLst/>
                <a:latin typeface="Agave" panose="020B0509030604020203" pitchFamily="49" charset="0"/>
              </a:rPr>
              <a:t>items</a:t>
            </a:r>
            <a:r>
              <a:rPr lang="en-AU" sz="3600" b="0" dirty="0">
                <a:solidFill>
                  <a:srgbClr val="CCCCCC"/>
                </a:solidFill>
                <a:effectLst/>
                <a:latin typeface="Agave" panose="020B0509030604020203" pitchFamily="49" charset="0"/>
              </a:rPr>
              <a:t>)</a:t>
            </a:r>
            <a:br>
              <a:rPr lang="en-AU" sz="3600" b="0" dirty="0">
                <a:solidFill>
                  <a:srgbClr val="CCCCCC"/>
                </a:solidFill>
                <a:effectLst/>
                <a:latin typeface="Agave" panose="020B0509030604020203" pitchFamily="49" charset="0"/>
              </a:rPr>
            </a:br>
            <a:endParaRPr lang="en-AU" sz="3600" b="0" dirty="0">
              <a:solidFill>
                <a:srgbClr val="CCCCCC"/>
              </a:solidFill>
              <a:effectLst/>
              <a:latin typeface="Agave" panose="020B0509030604020203" pitchFamily="49" charset="0"/>
            </a:endParaRPr>
          </a:p>
        </p:txBody>
      </p:sp>
    </p:spTree>
    <p:extLst>
      <p:ext uri="{BB962C8B-B14F-4D97-AF65-F5344CB8AC3E}">
        <p14:creationId xmlns:p14="http://schemas.microsoft.com/office/powerpoint/2010/main" val="944770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FB6F6-34A3-B137-FFDF-5FC07B06E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ABB6F-90F1-6E71-2A4E-95D0C5A928E1}"/>
              </a:ext>
            </a:extLst>
          </p:cNvPr>
          <p:cNvSpPr>
            <a:spLocks noGrp="1"/>
          </p:cNvSpPr>
          <p:nvPr>
            <p:ph type="title"/>
          </p:nvPr>
        </p:nvSpPr>
        <p:spPr/>
        <p:txBody>
          <a:bodyPr/>
          <a:lstStyle/>
          <a:p>
            <a:r>
              <a:rPr lang="en-US" dirty="0"/>
              <a:t>Benefits of Pass by Reference</a:t>
            </a:r>
          </a:p>
        </p:txBody>
      </p:sp>
      <p:sp>
        <p:nvSpPr>
          <p:cNvPr id="3" name="Content Placeholder 2">
            <a:extLst>
              <a:ext uri="{FF2B5EF4-FFF2-40B4-BE49-F238E27FC236}">
                <a16:creationId xmlns:a16="http://schemas.microsoft.com/office/drawing/2014/main" id="{F74D221F-DAFF-B31B-7A55-C5DB96668EF8}"/>
              </a:ext>
            </a:extLst>
          </p:cNvPr>
          <p:cNvSpPr>
            <a:spLocks noGrp="1"/>
          </p:cNvSpPr>
          <p:nvPr>
            <p:ph idx="1"/>
          </p:nvPr>
        </p:nvSpPr>
        <p:spPr/>
        <p:txBody>
          <a:bodyPr>
            <a:normAutofit fontScale="85000" lnSpcReduction="20000"/>
          </a:bodyPr>
          <a:lstStyle/>
          <a:p>
            <a:r>
              <a:rPr lang="en-US" dirty="0"/>
              <a:t>Memory efficient: a we are not creating copies of objects. </a:t>
            </a:r>
          </a:p>
          <a:p>
            <a:r>
              <a:rPr lang="en-US" dirty="0"/>
              <a:t>Changes made to mutable objects inside a function are reflected outside the function. </a:t>
            </a:r>
          </a:p>
          <a:p>
            <a:r>
              <a:rPr lang="en-US" dirty="0"/>
              <a:t>The same mechanism is used for both mutable and immutable objects. </a:t>
            </a:r>
          </a:p>
          <a:p>
            <a:r>
              <a:rPr lang="en-US" dirty="0"/>
              <a:t>Developers don't need to worry about pointers explicitly</a:t>
            </a:r>
          </a:p>
          <a:p>
            <a:r>
              <a:rPr lang="en-US" dirty="0"/>
              <a:t>OOP is well-supported by the pass-by-object-reference mechanism. </a:t>
            </a:r>
          </a:p>
          <a:p>
            <a:r>
              <a:rPr lang="en-US" dirty="0"/>
              <a:t>We pass references not values, overhead is reduced when dealing with large objects. </a:t>
            </a:r>
          </a:p>
          <a:p>
            <a:r>
              <a:rPr lang="en-US" dirty="0"/>
              <a:t>When multiple parts of a program need to work with the same data, using references makes it easier to </a:t>
            </a:r>
            <a:r>
              <a:rPr lang="en-US" dirty="0" err="1"/>
              <a:t>synchronise</a:t>
            </a:r>
            <a:r>
              <a:rPr lang="en-US" dirty="0"/>
              <a:t> changes. </a:t>
            </a:r>
          </a:p>
          <a:p>
            <a:endParaRPr lang="en-US" dirty="0"/>
          </a:p>
        </p:txBody>
      </p:sp>
    </p:spTree>
    <p:extLst>
      <p:ext uri="{BB962C8B-B14F-4D97-AF65-F5344CB8AC3E}">
        <p14:creationId xmlns:p14="http://schemas.microsoft.com/office/powerpoint/2010/main" val="673220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3EA1F-70CC-4B0F-F938-B29B047B0E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363C0-94B6-FADE-3F7E-8DFE5CD96639}"/>
              </a:ext>
            </a:extLst>
          </p:cNvPr>
          <p:cNvSpPr>
            <a:spLocks noGrp="1"/>
          </p:cNvSpPr>
          <p:nvPr>
            <p:ph type="title"/>
          </p:nvPr>
        </p:nvSpPr>
        <p:spPr/>
        <p:txBody>
          <a:bodyPr/>
          <a:lstStyle/>
          <a:p>
            <a:r>
              <a:rPr lang="en-US" dirty="0"/>
              <a:t>Revision</a:t>
            </a:r>
          </a:p>
        </p:txBody>
      </p:sp>
      <p:sp>
        <p:nvSpPr>
          <p:cNvPr id="3" name="Content Placeholder 2">
            <a:extLst>
              <a:ext uri="{FF2B5EF4-FFF2-40B4-BE49-F238E27FC236}">
                <a16:creationId xmlns:a16="http://schemas.microsoft.com/office/drawing/2014/main" id="{0BF44D4B-167C-B792-A620-9EE273BA76B8}"/>
              </a:ext>
            </a:extLst>
          </p:cNvPr>
          <p:cNvSpPr>
            <a:spLocks noGrp="1"/>
          </p:cNvSpPr>
          <p:nvPr>
            <p:ph idx="1"/>
          </p:nvPr>
        </p:nvSpPr>
        <p:spPr/>
        <p:txBody>
          <a:bodyPr/>
          <a:lstStyle/>
          <a:p>
            <a:pPr marL="0" indent="0" algn="l">
              <a:buNone/>
            </a:pPr>
            <a:r>
              <a:rPr lang="en-AU" b="0" i="0" dirty="0">
                <a:solidFill>
                  <a:srgbClr val="D1D5DB"/>
                </a:solidFill>
                <a:effectLst/>
                <a:latin typeface="Söhne"/>
              </a:rPr>
              <a:t>If Python uses pass-by-reference, why doesn't reassigning a variable inside a function change the original variable outside the function? How is this related to the mutability of Python objects?</a:t>
            </a:r>
            <a:endParaRPr lang="en-US" dirty="0"/>
          </a:p>
        </p:txBody>
      </p:sp>
    </p:spTree>
    <p:extLst>
      <p:ext uri="{BB962C8B-B14F-4D97-AF65-F5344CB8AC3E}">
        <p14:creationId xmlns:p14="http://schemas.microsoft.com/office/powerpoint/2010/main" val="1661783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48913-DE1D-8542-9FB8-28ADA73D154C}"/>
              </a:ext>
            </a:extLst>
          </p:cNvPr>
          <p:cNvSpPr>
            <a:spLocks noGrp="1"/>
          </p:cNvSpPr>
          <p:nvPr>
            <p:ph type="title"/>
          </p:nvPr>
        </p:nvSpPr>
        <p:spPr/>
        <p:txBody>
          <a:bodyPr/>
          <a:lstStyle/>
          <a:p>
            <a:r>
              <a:rPr lang="en-US" dirty="0"/>
              <a:t>Introduction to 2d data structures</a:t>
            </a:r>
          </a:p>
        </p:txBody>
      </p:sp>
      <p:sp>
        <p:nvSpPr>
          <p:cNvPr id="4" name="Text Placeholder 3">
            <a:extLst>
              <a:ext uri="{FF2B5EF4-FFF2-40B4-BE49-F238E27FC236}">
                <a16:creationId xmlns:a16="http://schemas.microsoft.com/office/drawing/2014/main" id="{172DBA6D-8A01-D52B-2D73-F92728654709}"/>
              </a:ext>
            </a:extLst>
          </p:cNvPr>
          <p:cNvSpPr>
            <a:spLocks noGrp="1"/>
          </p:cNvSpPr>
          <p:nvPr>
            <p:ph type="body" idx="1"/>
          </p:nvPr>
        </p:nvSpPr>
        <p:spPr/>
        <p:txBody>
          <a:bodyPr/>
          <a:lstStyle/>
          <a:p>
            <a:r>
              <a:rPr lang="en-US" dirty="0"/>
              <a:t>Part 3 (optional)</a:t>
            </a:r>
          </a:p>
        </p:txBody>
      </p:sp>
    </p:spTree>
    <p:extLst>
      <p:ext uri="{BB962C8B-B14F-4D97-AF65-F5344CB8AC3E}">
        <p14:creationId xmlns:p14="http://schemas.microsoft.com/office/powerpoint/2010/main" val="898495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AE56DA-E23C-85CF-A637-18B655C8C72D}"/>
              </a:ext>
            </a:extLst>
          </p:cNvPr>
          <p:cNvSpPr>
            <a:spLocks noGrp="1"/>
          </p:cNvSpPr>
          <p:nvPr>
            <p:ph type="title"/>
          </p:nvPr>
        </p:nvSpPr>
        <p:spPr/>
        <p:txBody>
          <a:bodyPr/>
          <a:lstStyle/>
          <a:p>
            <a:r>
              <a:rPr lang="en-US" dirty="0"/>
              <a:t>Consider</a:t>
            </a:r>
          </a:p>
        </p:txBody>
      </p:sp>
      <p:sp>
        <p:nvSpPr>
          <p:cNvPr id="5" name="Content Placeholder 4">
            <a:extLst>
              <a:ext uri="{FF2B5EF4-FFF2-40B4-BE49-F238E27FC236}">
                <a16:creationId xmlns:a16="http://schemas.microsoft.com/office/drawing/2014/main" id="{5268F6A2-4003-23BB-685F-1981AF94C31E}"/>
              </a:ext>
            </a:extLst>
          </p:cNvPr>
          <p:cNvSpPr>
            <a:spLocks noGrp="1"/>
          </p:cNvSpPr>
          <p:nvPr>
            <p:ph idx="1"/>
          </p:nvPr>
        </p:nvSpPr>
        <p:spPr/>
        <p:txBody>
          <a:bodyPr/>
          <a:lstStyle/>
          <a:p>
            <a:r>
              <a:rPr lang="en-US" dirty="0"/>
              <a:t>Discuss how can you make a Python list 2-dimensional? (or 3, 4, 5 dimensional for that matter?)</a:t>
            </a:r>
          </a:p>
          <a:p>
            <a:r>
              <a:rPr lang="en-US" dirty="0"/>
              <a:t>What are some possible applications?</a:t>
            </a:r>
          </a:p>
          <a:p>
            <a:r>
              <a:rPr lang="en-US" dirty="0"/>
              <a:t>How would you code and parse a 2D data structure?</a:t>
            </a:r>
          </a:p>
          <a:p>
            <a:r>
              <a:rPr lang="en-US" dirty="0"/>
              <a:t>To be continued next week…</a:t>
            </a:r>
          </a:p>
        </p:txBody>
      </p:sp>
    </p:spTree>
    <p:extLst>
      <p:ext uri="{BB962C8B-B14F-4D97-AF65-F5344CB8AC3E}">
        <p14:creationId xmlns:p14="http://schemas.microsoft.com/office/powerpoint/2010/main" val="1595699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1511D-8151-9969-F9DE-B3B18FA24DC8}"/>
              </a:ext>
            </a:extLst>
          </p:cNvPr>
          <p:cNvSpPr>
            <a:spLocks noGrp="1"/>
          </p:cNvSpPr>
          <p:nvPr>
            <p:ph type="title"/>
          </p:nvPr>
        </p:nvSpPr>
        <p:spPr/>
        <p:txBody>
          <a:bodyPr/>
          <a:lstStyle/>
          <a:p>
            <a:r>
              <a:rPr lang="en-US" dirty="0"/>
              <a:t>Revision</a:t>
            </a:r>
          </a:p>
        </p:txBody>
      </p:sp>
      <p:sp>
        <p:nvSpPr>
          <p:cNvPr id="3" name="Content Placeholder 2">
            <a:extLst>
              <a:ext uri="{FF2B5EF4-FFF2-40B4-BE49-F238E27FC236}">
                <a16:creationId xmlns:a16="http://schemas.microsoft.com/office/drawing/2014/main" id="{9761304C-CD92-E11B-4E0D-4CBFE562B903}"/>
              </a:ext>
            </a:extLst>
          </p:cNvPr>
          <p:cNvSpPr>
            <a:spLocks noGrp="1"/>
          </p:cNvSpPr>
          <p:nvPr>
            <p:ph idx="1"/>
          </p:nvPr>
        </p:nvSpPr>
        <p:spPr/>
        <p:txBody>
          <a:bodyPr/>
          <a:lstStyle/>
          <a:p>
            <a:pPr algn="l">
              <a:buFont typeface="+mj-lt"/>
              <a:buAutoNum type="arabicPeriod"/>
            </a:pPr>
            <a:r>
              <a:rPr lang="en-AU" b="0" i="0" dirty="0">
                <a:solidFill>
                  <a:srgbClr val="D1D5DB"/>
                </a:solidFill>
                <a:effectLst/>
                <a:latin typeface="Söhne"/>
              </a:rPr>
              <a:t>What is a module in Python? How do you create one?</a:t>
            </a:r>
          </a:p>
          <a:p>
            <a:pPr algn="l">
              <a:buFont typeface="+mj-lt"/>
              <a:buAutoNum type="arabicPeriod"/>
            </a:pPr>
            <a:r>
              <a:rPr lang="en-AU" b="0" i="0" dirty="0">
                <a:solidFill>
                  <a:srgbClr val="D1D5DB"/>
                </a:solidFill>
                <a:effectLst/>
                <a:latin typeface="Söhne"/>
              </a:rPr>
              <a:t>What is the purpose of the import statement in Python? Can you provide a code example of its usage?</a:t>
            </a:r>
          </a:p>
          <a:p>
            <a:pPr algn="l">
              <a:buFont typeface="+mj-lt"/>
              <a:buAutoNum type="arabicPeriod"/>
            </a:pPr>
            <a:r>
              <a:rPr lang="en-AU" b="0" i="0" dirty="0">
                <a:solidFill>
                  <a:srgbClr val="D1D5DB"/>
                </a:solidFill>
                <a:effectLst/>
                <a:latin typeface="Söhne"/>
              </a:rPr>
              <a:t>How can you import only a specific function or class from a module in Python? What is the syntax for this?</a:t>
            </a:r>
          </a:p>
          <a:p>
            <a:endParaRPr lang="en-US" dirty="0"/>
          </a:p>
        </p:txBody>
      </p:sp>
    </p:spTree>
    <p:extLst>
      <p:ext uri="{BB962C8B-B14F-4D97-AF65-F5344CB8AC3E}">
        <p14:creationId xmlns:p14="http://schemas.microsoft.com/office/powerpoint/2010/main" val="14994624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MS Availabilities&amp;#x0D;&amp;#x0A;Overview&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006&quot;&gt;&lt;property id=&quot;20148&quot; value=&quot;5&quot;/&gt;&lt;property id=&quot;20300&quot; value=&quot;Slide 3 - &amp;quot;&amp;#x0D;&amp;#x0A;Course Availabilities&amp;quot;&quot;/&gt;&lt;property id=&quot;20307&quot; value=&quot;261&quot;/&gt;&lt;/object&gt;&lt;object type=&quot;3&quot; unique_id=&quot;10007&quot;&gt;&lt;property id=&quot;20148&quot; value=&quot;5&quot;/&gt;&lt;property id=&quot;20300&quot; value=&quot;Slide 4 - &amp;quot;Intake Calendars&amp;quot;&quot;/&gt;&lt;property id=&quot;20307&quot; value=&quot;264&quot;/&gt;&lt;/object&gt;&lt;object type=&quot;3&quot; unique_id=&quot;10008&quot;&gt;&lt;property id=&quot;20148&quot; value=&quot;5&quot;/&gt;&lt;property id=&quot;20300&quot; value=&quot;Slide 5 - &amp;quot;&amp;#x0D;&amp;#x0A;Unit Availabilities&amp;quot;&quot;/&gt;&lt;property id=&quot;20307&quot; value=&quot;259&quot;/&gt;&lt;/object&gt;&lt;object type=&quot;3&quot; unique_id=&quot;10009&quot;&gt;&lt;property id=&quot;20148&quot; value=&quot;5&quot;/&gt;&lt;property id=&quot;20300&quot; value=&quot;Slide 6 - &amp;quot;&amp;#x0D;&amp;#x0A;Unit Availabilities&amp;quot;&quot;/&gt;&lt;property id=&quot;20307&quot; value=&quot;260&quot;/&gt;&lt;/object&gt;&lt;object type=&quot;3&quot; unique_id=&quot;10010&quot;&gt;&lt;property id=&quot;20148&quot; value=&quot;5&quot;/&gt;&lt;property id=&quot;20300&quot; value=&quot;Slide 7 - &amp;quot;Enrolment Calendars&amp;quot;&quot;/&gt;&lt;property id=&quot;20307&quot; value=&quot;265&quot;/&gt;&lt;/object&gt;&lt;object type=&quot;3&quot; unique_id=&quot;10011&quot;&gt;&lt;property id=&quot;20148&quot; value=&quot;5&quot;/&gt;&lt;property id=&quot;20300&quot; value=&quot;Slide 8 - &amp;quot;Business Guidelines&amp;quot;&quot;/&gt;&lt;property id=&quot;20307&quot; value=&quot;268&quot;/&gt;&lt;/object&gt;&lt;object type=&quot;3&quot; unique_id=&quot;10012&quot;&gt;&lt;property id=&quot;20148&quot; value=&quot;5&quot;/&gt;&lt;property id=&quot;20300&quot; value=&quot;Slide 9 - &amp;quot;Business Guidelines&amp;quot;&quot;/&gt;&lt;property id=&quot;20307&quot; value=&quot;269&quot;/&gt;&lt;/object&gt;&lt;object type=&quot;3&quot; unique_id=&quot;10013&quot;&gt;&lt;property id=&quot;20148&quot; value=&quot;5&quot;/&gt;&lt;property id=&quot;20300&quot; value=&quot;Slide 10 - &amp;quot;Business Considerations&amp;quot;&quot;/&gt;&lt;property id=&quot;20307&quot; value=&quot;262&quot;/&gt;&lt;/object&gt;&lt;object type=&quot;3&quot; unique_id=&quot;10014&quot;&gt;&lt;property id=&quot;20148&quot; value=&quot;5&quot;/&gt;&lt;property id=&quot;20300&quot; value=&quot;Slide 11 - &amp;quot;Availabilities tasks&amp;quot;&quot;/&gt;&lt;property id=&quot;20307&quot; value=&quot;266&quot;/&gt;&lt;/object&gt;&lt;object type=&quot;3&quot; unique_id=&quot;10015&quot;&gt;&lt;property id=&quot;20148&quot; value=&quot;5&quot;/&gt;&lt;property id=&quot;20300&quot; value=&quot;Slide 12 - &amp;quot;Availabilities Template&amp;quot;&quot;/&gt;&lt;property id=&quot;20307&quot; value=&quot;267&quot;/&gt;&lt;/object&gt;&lt;object type=&quot;3&quot; unique_id=&quot;10016&quot;&gt;&lt;property id=&quot;20148&quot; value=&quot;5&quot;/&gt;&lt;property id=&quot;20300&quot; value=&quot;Slide 13 - &amp;quot;Timetabling&amp;quot;&quot;/&gt;&lt;property id=&quot;20307&quot; value=&quot;26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AFE">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MT-Presentation-HD-1920x1080-AJG-V2020.07.01.potx" id="{3EDD48A2-5C86-4826-A34B-3DD4694D6775}" vid="{2EDC81D3-35B6-4E09-B25C-3248DC8F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82CBA738D00D4AAC9330883AE1DA78" ma:contentTypeVersion="33" ma:contentTypeDescription="Create a new document." ma:contentTypeScope="" ma:versionID="8e47dcab4e34a32242880baf61f0a73d">
  <xsd:schema xmlns:xsd="http://www.w3.org/2001/XMLSchema" xmlns:xs="http://www.w3.org/2001/XMLSchema" xmlns:p="http://schemas.microsoft.com/office/2006/metadata/properties" xmlns:ns3="3936cbe9-feea-4685-b03c-7f8d09c550f1" xmlns:ns4="833ce3ab-d172-455c-9989-f10facae9784" targetNamespace="http://schemas.microsoft.com/office/2006/metadata/properties" ma:root="true" ma:fieldsID="174389be43a91ce68753c33b6ac99b4e" ns3:_="" ns4:_="">
    <xsd:import namespace="3936cbe9-feea-4685-b03c-7f8d09c550f1"/>
    <xsd:import namespace="833ce3ab-d172-455c-9989-f10facae978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OCR" minOccurs="0"/>
                <xsd:element ref="ns4:MediaServiceLocation" minOccurs="0"/>
                <xsd:element ref="ns4:MediaServiceEventHashCode" minOccurs="0"/>
                <xsd:element ref="ns4:MediaServiceGenerationTime" minOccurs="0"/>
                <xsd:element ref="ns4:MediaServiceAutoKeyPoints" minOccurs="0"/>
                <xsd:element ref="ns4:MediaServiceKeyPoints" minOccurs="0"/>
                <xsd:element ref="ns4:NotebookType" minOccurs="0"/>
                <xsd:element ref="ns4:FolderType" minOccurs="0"/>
                <xsd:element ref="ns4:CultureName" minOccurs="0"/>
                <xsd:element ref="ns4:AppVersion" minOccurs="0"/>
                <xsd:element ref="ns4:TeamsChannelId" minOccurs="0"/>
                <xsd:element ref="ns4:Owner" minOccurs="0"/>
                <xsd:element ref="ns4:Math_Settings" minOccurs="0"/>
                <xsd:element ref="ns4:DefaultSectionNames" minOccurs="0"/>
                <xsd:element ref="ns4:Templates" minOccurs="0"/>
                <xsd:element ref="ns4:Teachers" minOccurs="0"/>
                <xsd:element ref="ns4:Students" minOccurs="0"/>
                <xsd:element ref="ns4:Student_Groups" minOccurs="0"/>
                <xsd:element ref="ns4:Distribution_Groups" minOccurs="0"/>
                <xsd:element ref="ns4:LMS_Mapping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36cbe9-feea-4685-b03c-7f8d09c550f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33ce3ab-d172-455c-9989-f10facae9784"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NotebookType" ma:index="21" nillable="true" ma:displayName="Notebook Type" ma:internalName="NotebookType">
      <xsd:simpleType>
        <xsd:restriction base="dms:Text"/>
      </xsd:simpleType>
    </xsd:element>
    <xsd:element name="FolderType" ma:index="22" nillable="true" ma:displayName="Folder Type" ma:internalName="FolderType">
      <xsd:simpleType>
        <xsd:restriction base="dms:Text"/>
      </xsd:simpleType>
    </xsd:element>
    <xsd:element name="CultureName" ma:index="23" nillable="true" ma:displayName="Culture Name" ma:internalName="CultureName">
      <xsd:simpleType>
        <xsd:restriction base="dms:Text"/>
      </xsd:simpleType>
    </xsd:element>
    <xsd:element name="AppVersion" ma:index="24" nillable="true" ma:displayName="App Version" ma:internalName="AppVersion">
      <xsd:simpleType>
        <xsd:restriction base="dms:Text"/>
      </xsd:simpleType>
    </xsd:element>
    <xsd:element name="TeamsChannelId" ma:index="25" nillable="true" ma:displayName="Teams Channel Id" ma:internalName="TeamsChannelId">
      <xsd:simpleType>
        <xsd:restriction base="dms:Text"/>
      </xsd:simpleType>
    </xsd:element>
    <xsd:element name="Owner" ma:index="2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7" nillable="true" ma:displayName="Math Settings" ma:internalName="Math_Settings">
      <xsd:simpleType>
        <xsd:restriction base="dms:Text"/>
      </xsd:simpleType>
    </xsd:element>
    <xsd:element name="DefaultSectionNames" ma:index="28" nillable="true" ma:displayName="Default Section Names" ma:internalName="DefaultSectionNames">
      <xsd:simpleType>
        <xsd:restriction base="dms:Note">
          <xsd:maxLength value="255"/>
        </xsd:restriction>
      </xsd:simpleType>
    </xsd:element>
    <xsd:element name="Templates" ma:index="29" nillable="true" ma:displayName="Templates" ma:internalName="Templates">
      <xsd:simpleType>
        <xsd:restriction base="dms:Note">
          <xsd:maxLength value="255"/>
        </xsd:restriction>
      </xsd:simpleType>
    </xsd:element>
    <xsd:element name="Teachers" ma:index="3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3" nillable="true" ma:displayName="Distribution Groups" ma:internalName="Distribution_Groups">
      <xsd:simpleType>
        <xsd:restriction base="dms:Note">
          <xsd:maxLength value="255"/>
        </xsd:restriction>
      </xsd:simpleType>
    </xsd:element>
    <xsd:element name="LMS_Mappings" ma:index="34" nillable="true" ma:displayName="LMS Mappings" ma:internalName="LMS_Mappings">
      <xsd:simpleType>
        <xsd:restriction base="dms:Note">
          <xsd:maxLength value="255"/>
        </xsd:restriction>
      </xsd:simpleType>
    </xsd:element>
    <xsd:element name="Invited_Teachers" ma:index="35" nillable="true" ma:displayName="Invited Teachers" ma:internalName="Invited_Teachers">
      <xsd:simpleType>
        <xsd:restriction base="dms:Note">
          <xsd:maxLength value="255"/>
        </xsd:restriction>
      </xsd:simpleType>
    </xsd:element>
    <xsd:element name="Invited_Students" ma:index="36" nillable="true" ma:displayName="Invited Students" ma:internalName="Invited_Students">
      <xsd:simpleType>
        <xsd:restriction base="dms:Note">
          <xsd:maxLength value="255"/>
        </xsd:restriction>
      </xsd:simpleType>
    </xsd:element>
    <xsd:element name="Self_Registration_Enabled" ma:index="37" nillable="true" ma:displayName="Self Registration Enabled" ma:internalName="Self_Registration_Enabled">
      <xsd:simpleType>
        <xsd:restriction base="dms:Boolean"/>
      </xsd:simpleType>
    </xsd:element>
    <xsd:element name="Has_Teacher_Only_SectionGroup" ma:index="38" nillable="true" ma:displayName="Has Teacher Only SectionGroup" ma:internalName="Has_Teacher_Only_SectionGroup">
      <xsd:simpleType>
        <xsd:restriction base="dms:Boolean"/>
      </xsd:simpleType>
    </xsd:element>
    <xsd:element name="Is_Collaboration_Space_Locked" ma:index="39" nillable="true" ma:displayName="Is Collaboration Space Locked" ma:internalName="Is_Collaboration_Space_Locked">
      <xsd:simpleType>
        <xsd:restriction base="dms:Boolean"/>
      </xsd:simpleType>
    </xsd:element>
    <xsd:element name="IsNotebookLocked" ma:index="40" nillable="true" ma:displayName="Is Notebook Locked" ma:internalName="IsNotebookLocked">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833ce3ab-d172-455c-9989-f10facae9784" xsi:nil="true"/>
    <Students xmlns="833ce3ab-d172-455c-9989-f10facae9784">
      <UserInfo>
        <DisplayName/>
        <AccountId xsi:nil="true"/>
        <AccountType/>
      </UserInfo>
    </Students>
    <TeamsChannelId xmlns="833ce3ab-d172-455c-9989-f10facae9784" xsi:nil="true"/>
    <Student_Groups xmlns="833ce3ab-d172-455c-9989-f10facae9784">
      <UserInfo>
        <DisplayName/>
        <AccountId xsi:nil="true"/>
        <AccountType/>
      </UserInfo>
    </Student_Groups>
    <Math_Settings xmlns="833ce3ab-d172-455c-9989-f10facae9784" xsi:nil="true"/>
    <Is_Collaboration_Space_Locked xmlns="833ce3ab-d172-455c-9989-f10facae9784" xsi:nil="true"/>
    <AppVersion xmlns="833ce3ab-d172-455c-9989-f10facae9784" xsi:nil="true"/>
    <Owner xmlns="833ce3ab-d172-455c-9989-f10facae9784">
      <UserInfo>
        <DisplayName/>
        <AccountId xsi:nil="true"/>
        <AccountType/>
      </UserInfo>
    </Owner>
    <Has_Teacher_Only_SectionGroup xmlns="833ce3ab-d172-455c-9989-f10facae9784" xsi:nil="true"/>
    <NotebookType xmlns="833ce3ab-d172-455c-9989-f10facae9784" xsi:nil="true"/>
    <Teachers xmlns="833ce3ab-d172-455c-9989-f10facae9784">
      <UserInfo>
        <DisplayName/>
        <AccountId xsi:nil="true"/>
        <AccountType/>
      </UserInfo>
    </Teachers>
    <Templates xmlns="833ce3ab-d172-455c-9989-f10facae9784" xsi:nil="true"/>
    <DefaultSectionNames xmlns="833ce3ab-d172-455c-9989-f10facae9784" xsi:nil="true"/>
    <CultureName xmlns="833ce3ab-d172-455c-9989-f10facae9784" xsi:nil="true"/>
    <Distribution_Groups xmlns="833ce3ab-d172-455c-9989-f10facae9784" xsi:nil="true"/>
    <Self_Registration_Enabled xmlns="833ce3ab-d172-455c-9989-f10facae9784" xsi:nil="true"/>
    <LMS_Mappings xmlns="833ce3ab-d172-455c-9989-f10facae9784" xsi:nil="true"/>
    <Invited_Teachers xmlns="833ce3ab-d172-455c-9989-f10facae9784" xsi:nil="true"/>
    <Invited_Students xmlns="833ce3ab-d172-455c-9989-f10facae9784" xsi:nil="true"/>
    <IsNotebookLocked xmlns="833ce3ab-d172-455c-9989-f10facae9784" xsi:nil="true"/>
  </documentManagement>
</p:properties>
</file>

<file path=customXml/itemProps1.xml><?xml version="1.0" encoding="utf-8"?>
<ds:datastoreItem xmlns:ds="http://schemas.openxmlformats.org/officeDocument/2006/customXml" ds:itemID="{2EDE3886-A981-4E1C-91EF-EBC9EDE0D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36cbe9-feea-4685-b03c-7f8d09c550f1"/>
    <ds:schemaRef ds:uri="833ce3ab-d172-455c-9989-f10facae97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93B4755-80B4-4FE9-9650-4C8006444834}">
  <ds:schemaRefs>
    <ds:schemaRef ds:uri="http://schemas.microsoft.com/sharepoint/v3/contenttype/forms"/>
  </ds:schemaRefs>
</ds:datastoreItem>
</file>

<file path=customXml/itemProps3.xml><?xml version="1.0" encoding="utf-8"?>
<ds:datastoreItem xmlns:ds="http://schemas.openxmlformats.org/officeDocument/2006/customXml" ds:itemID="{D6F79D9B-5A67-492D-BB4F-F3913BAD9421}">
  <ds:schemaRefs>
    <ds:schemaRef ds:uri="833ce3ab-d172-455c-9989-f10facae9784"/>
    <ds:schemaRef ds:uri="http://www.w3.org/XML/1998/namespace"/>
    <ds:schemaRef ds:uri="http://purl.org/dc/terms/"/>
    <ds:schemaRef ds:uri="http://schemas.openxmlformats.org/package/2006/metadata/core-properties"/>
    <ds:schemaRef ds:uri="http://schemas.microsoft.com/office/2006/metadata/properties"/>
    <ds:schemaRef ds:uri="3936cbe9-feea-4685-b03c-7f8d09c550f1"/>
    <ds:schemaRef ds:uri="http://purl.org/dc/dcmitype/"/>
    <ds:schemaRef ds:uri="http://schemas.microsoft.com/office/2006/documentManagement/types"/>
    <ds:schemaRef ds:uri="http://purl.org/dc/elements/1.1/"/>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1623</TotalTime>
  <Words>2592</Words>
  <Application>Microsoft Macintosh PowerPoint</Application>
  <PresentationFormat>Widescreen</PresentationFormat>
  <Paragraphs>187</Paragraphs>
  <Slides>23</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Agave</vt:lpstr>
      <vt:lpstr>Arial</vt:lpstr>
      <vt:lpstr>Calibri</vt:lpstr>
      <vt:lpstr>Century Gothic</vt:lpstr>
      <vt:lpstr>Courier New</vt:lpstr>
      <vt:lpstr>Söhne</vt:lpstr>
      <vt:lpstr>System Font Regular</vt:lpstr>
      <vt:lpstr>Times New Roman</vt:lpstr>
      <vt:lpstr>Office Theme</vt:lpstr>
      <vt:lpstr>Intermediate programming</vt:lpstr>
      <vt:lpstr>Defining Modular programming</vt:lpstr>
      <vt:lpstr>PowerPoint Presentation</vt:lpstr>
      <vt:lpstr>PowerPoint Presentation</vt:lpstr>
      <vt:lpstr>PowerPoint Presentation</vt:lpstr>
      <vt:lpstr>PowerPoint Presentation</vt:lpstr>
      <vt:lpstr>Pass-by-reference</vt:lpstr>
      <vt:lpstr>What.</vt:lpstr>
      <vt:lpstr>PowerPoint Presentation</vt:lpstr>
      <vt:lpstr>PowerPoint Presentation</vt:lpstr>
      <vt:lpstr>PowerPoint Presentation</vt:lpstr>
      <vt:lpstr>Stack and Heap: summary</vt:lpstr>
      <vt:lpstr>Visualize the call stack</vt:lpstr>
      <vt:lpstr>Python is a bit different</vt:lpstr>
      <vt:lpstr>Python parameters in depth</vt:lpstr>
      <vt:lpstr>Try this code:</vt:lpstr>
      <vt:lpstr>Revision</vt:lpstr>
      <vt:lpstr>PowerPoint Presentation</vt:lpstr>
      <vt:lpstr>Benefits of Pass by Reference</vt:lpstr>
      <vt:lpstr>Revision</vt:lpstr>
      <vt:lpstr>Introduction to 2d data structures</vt:lpstr>
      <vt:lpstr>Consider</vt:lpstr>
      <vt:lpstr>Revision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sockets</dc:title>
  <dc:creator>Sander Huijsen</dc:creator>
  <cp:lastModifiedBy>John Robertson</cp:lastModifiedBy>
  <cp:revision>38</cp:revision>
  <dcterms:created xsi:type="dcterms:W3CDTF">2020-10-19T10:08:52Z</dcterms:created>
  <dcterms:modified xsi:type="dcterms:W3CDTF">2025-02-11T04:08:38Z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3ac7e5b-5da2-46c7-8677-8a6b50f7d886_Enabled">
    <vt:lpwstr>true</vt:lpwstr>
  </property>
  <property fmtid="{D5CDD505-2E9C-101B-9397-08002B2CF9AE}" pid="3" name="MSIP_Label_f3ac7e5b-5da2-46c7-8677-8a6b50f7d886_SetDate">
    <vt:lpwstr>2023-07-26T04:27:44Z</vt:lpwstr>
  </property>
  <property fmtid="{D5CDD505-2E9C-101B-9397-08002B2CF9AE}" pid="4" name="MSIP_Label_f3ac7e5b-5da2-46c7-8677-8a6b50f7d886_Method">
    <vt:lpwstr>Standard</vt:lpwstr>
  </property>
  <property fmtid="{D5CDD505-2E9C-101B-9397-08002B2CF9AE}" pid="5" name="MSIP_Label_f3ac7e5b-5da2-46c7-8677-8a6b50f7d886_Name">
    <vt:lpwstr>Official</vt:lpwstr>
  </property>
  <property fmtid="{D5CDD505-2E9C-101B-9397-08002B2CF9AE}" pid="6" name="MSIP_Label_f3ac7e5b-5da2-46c7-8677-8a6b50f7d886_SiteId">
    <vt:lpwstr>218881e8-07ad-4142-87d7-f6b90d17009b</vt:lpwstr>
  </property>
  <property fmtid="{D5CDD505-2E9C-101B-9397-08002B2CF9AE}" pid="7" name="MSIP_Label_f3ac7e5b-5da2-46c7-8677-8a6b50f7d886_ActionId">
    <vt:lpwstr>e3eb9b39-54a4-4d08-8962-e403b903c5bd</vt:lpwstr>
  </property>
  <property fmtid="{D5CDD505-2E9C-101B-9397-08002B2CF9AE}" pid="8" name="MSIP_Label_f3ac7e5b-5da2-46c7-8677-8a6b50f7d886_ContentBits">
    <vt:lpwstr>1</vt:lpwstr>
  </property>
</Properties>
</file>