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theme/theme7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theme/theme8.xml" ContentType="application/vnd.openxmlformats-officedocument.theme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theme/theme10.xml" ContentType="application/vnd.openxmlformats-officedocument.theme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1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12.xml" ContentType="application/vnd.openxmlformats-officedocument.theme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theme/theme13.xml" ContentType="application/vnd.openxmlformats-officedocument.theme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theme/theme14.xml" ContentType="application/vnd.openxmlformats-officedocument.theme+xml"/>
  <Override PartName="/ppt/theme/theme1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4" r:id="rId1"/>
    <p:sldMasterId id="2147483686" r:id="rId2"/>
    <p:sldMasterId id="2147483698" r:id="rId3"/>
    <p:sldMasterId id="2147483710" r:id="rId4"/>
    <p:sldMasterId id="2147483722" r:id="rId5"/>
    <p:sldMasterId id="2147483734" r:id="rId6"/>
    <p:sldMasterId id="2147483746" r:id="rId7"/>
    <p:sldMasterId id="2147483758" r:id="rId8"/>
    <p:sldMasterId id="2147483770" r:id="rId9"/>
    <p:sldMasterId id="2147483806" r:id="rId10"/>
    <p:sldMasterId id="2147483818" r:id="rId11"/>
    <p:sldMasterId id="2147483829" r:id="rId12"/>
    <p:sldMasterId id="2147483840" r:id="rId13"/>
    <p:sldMasterId id="2147483851" r:id="rId14"/>
  </p:sldMasterIdLst>
  <p:notesMasterIdLst>
    <p:notesMasterId r:id="rId36"/>
  </p:notesMasterIdLst>
  <p:sldIdLst>
    <p:sldId id="270" r:id="rId15"/>
    <p:sldId id="387" r:id="rId16"/>
    <p:sldId id="278" r:id="rId17"/>
    <p:sldId id="405" r:id="rId18"/>
    <p:sldId id="406" r:id="rId19"/>
    <p:sldId id="517" r:id="rId20"/>
    <p:sldId id="407" r:id="rId21"/>
    <p:sldId id="518" r:id="rId22"/>
    <p:sldId id="519" r:id="rId23"/>
    <p:sldId id="520" r:id="rId24"/>
    <p:sldId id="521" r:id="rId25"/>
    <p:sldId id="408" r:id="rId26"/>
    <p:sldId id="522" r:id="rId27"/>
    <p:sldId id="523" r:id="rId28"/>
    <p:sldId id="524" r:id="rId29"/>
    <p:sldId id="525" r:id="rId30"/>
    <p:sldId id="526" r:id="rId31"/>
    <p:sldId id="527" r:id="rId32"/>
    <p:sldId id="528" r:id="rId33"/>
    <p:sldId id="509" r:id="rId34"/>
    <p:sldId id="388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2673E5C-48F0-4880-9E5D-C1B753F526B3}">
          <p14:sldIdLst>
            <p14:sldId id="270"/>
          </p14:sldIdLst>
        </p14:section>
        <p14:section name="Overview" id="{6B305998-727F-4E0D-B590-D2FA76C3FDC2}">
          <p14:sldIdLst>
            <p14:sldId id="387"/>
          </p14:sldIdLst>
        </p14:section>
        <p14:section name="Session 08" id="{9A26274C-C592-4A45-B89F-914848F7415D}">
          <p14:sldIdLst>
            <p14:sldId id="278"/>
            <p14:sldId id="405"/>
            <p14:sldId id="406"/>
            <p14:sldId id="517"/>
            <p14:sldId id="407"/>
            <p14:sldId id="518"/>
            <p14:sldId id="519"/>
            <p14:sldId id="520"/>
            <p14:sldId id="521"/>
            <p14:sldId id="408"/>
            <p14:sldId id="522"/>
            <p14:sldId id="523"/>
            <p14:sldId id="524"/>
            <p14:sldId id="525"/>
            <p14:sldId id="526"/>
            <p14:sldId id="527"/>
            <p14:sldId id="528"/>
            <p14:sldId id="509"/>
          </p14:sldIdLst>
        </p14:section>
        <p14:section name="End" id="{3072ED9E-465E-4038-83F4-1DE8123ED601}">
          <p14:sldIdLst>
            <p14:sldId id="3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0DB720D-CB23-00BD-4BF4-8F254009EC64}" name="Adrian Gould" initials="AG" userId="S::Adrian.Gould@nmtafe.wa.edu.au::0a44525a-5416-41c1-827b-f073cee28c70" providerId="AD"/>
  <p188:author id="{CF9B4C55-2547-8E87-20F7-0B62AB1B37EA}" name="John Robertson" initials="JR" userId="S::john.robertson@nmtafe.wa.edu.au::27eef65d-0d9b-46bb-85ea-fba5d9d9135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0001"/>
    <a:srgbClr val="4C0001"/>
    <a:srgbClr val="3C3F41"/>
    <a:srgbClr val="0B0000"/>
    <a:srgbClr val="000000"/>
    <a:srgbClr val="3A0001"/>
    <a:srgbClr val="3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51AE91-3FE9-4109-941B-3204CFEBFEE5}" v="1" dt="2023-07-20T07:54:55.042"/>
    <p1510:client id="{87FEBEDB-BEFD-4F1E-AC41-B1B902CF6504}" v="1" dt="2023-07-20T07:59:59.449"/>
    <p1510:client id="{D4300B61-0B4A-E584-1832-4C37993A801F}" v="3" dt="2023-09-06T00:44:58.8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7CE84F3-28C3-443E-9E96-99CF82512B78}" styleName="Dark Style 1 –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70548"/>
  </p:normalViewPr>
  <p:slideViewPr>
    <p:cSldViewPr snapToGrid="0">
      <p:cViewPr varScale="1">
        <p:scale>
          <a:sx n="87" d="100"/>
          <a:sy n="87" d="100"/>
        </p:scale>
        <p:origin x="20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3.xml"/><Relationship Id="rId18" Type="http://schemas.openxmlformats.org/officeDocument/2006/relationships/slide" Target="slides/slide4.xml"/><Relationship Id="rId26" Type="http://schemas.openxmlformats.org/officeDocument/2006/relationships/slide" Target="slides/slide12.xml"/><Relationship Id="rId39" Type="http://schemas.openxmlformats.org/officeDocument/2006/relationships/theme" Target="theme/theme1.xml"/><Relationship Id="rId21" Type="http://schemas.openxmlformats.org/officeDocument/2006/relationships/slide" Target="slides/slide7.xml"/><Relationship Id="rId34" Type="http://schemas.openxmlformats.org/officeDocument/2006/relationships/slide" Target="slides/slide20.xml"/><Relationship Id="rId42" Type="http://schemas.microsoft.com/office/2018/10/relationships/authors" Target="authors.xml"/><Relationship Id="rId7" Type="http://schemas.openxmlformats.org/officeDocument/2006/relationships/slideMaster" Target="slideMasters/slideMaster7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2.xml"/><Relationship Id="rId20" Type="http://schemas.openxmlformats.org/officeDocument/2006/relationships/slide" Target="slides/slide6.xml"/><Relationship Id="rId29" Type="http://schemas.openxmlformats.org/officeDocument/2006/relationships/slide" Target="slides/slide15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0.xml"/><Relationship Id="rId32" Type="http://schemas.openxmlformats.org/officeDocument/2006/relationships/slide" Target="slides/slide1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.xml"/><Relationship Id="rId23" Type="http://schemas.openxmlformats.org/officeDocument/2006/relationships/slide" Target="slides/slide9.xml"/><Relationship Id="rId28" Type="http://schemas.openxmlformats.org/officeDocument/2006/relationships/slide" Target="slides/slide14.xml"/><Relationship Id="rId36" Type="http://schemas.openxmlformats.org/officeDocument/2006/relationships/notesMaster" Target="notesMasters/notesMaster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5.xml"/><Relationship Id="rId31" Type="http://schemas.openxmlformats.org/officeDocument/2006/relationships/slide" Target="slides/slide1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Master" Target="slideMasters/slideMaster14.xml"/><Relationship Id="rId22" Type="http://schemas.openxmlformats.org/officeDocument/2006/relationships/slide" Target="slides/slide8.xml"/><Relationship Id="rId27" Type="http://schemas.openxmlformats.org/officeDocument/2006/relationships/slide" Target="slides/slide13.xml"/><Relationship Id="rId30" Type="http://schemas.openxmlformats.org/officeDocument/2006/relationships/slide" Target="slides/slide16.xml"/><Relationship Id="rId35" Type="http://schemas.openxmlformats.org/officeDocument/2006/relationships/slide" Target="slides/slide21.xml"/><Relationship Id="rId8" Type="http://schemas.openxmlformats.org/officeDocument/2006/relationships/slideMaster" Target="slideMasters/slideMaster8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3.xml"/><Relationship Id="rId25" Type="http://schemas.openxmlformats.org/officeDocument/2006/relationships/slide" Target="slides/slide11.xml"/><Relationship Id="rId33" Type="http://schemas.openxmlformats.org/officeDocument/2006/relationships/slide" Target="slides/slide19.xml"/><Relationship Id="rId38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103EDF-D4E4-47E6-8135-5A070E88BAFA}" type="doc">
      <dgm:prSet loTypeId="urn:microsoft.com/office/officeart/2005/8/layout/cycle2" loCatId="cycle" qsTypeId="urn:microsoft.com/office/officeart/2005/8/quickstyle/simple3" qsCatId="simple" csTypeId="urn:microsoft.com/office/officeart/2005/8/colors/accent2_1" csCatId="accent2" phldr="1"/>
      <dgm:spPr/>
    </dgm:pt>
    <dgm:pt modelId="{2DD7851E-AA8D-46EA-A6B5-AB12B5499261}">
      <dgm:prSet phldrT="[Text]"/>
      <dgm:spPr/>
      <dgm:t>
        <a:bodyPr/>
        <a:lstStyle/>
        <a:p>
          <a:r>
            <a:rPr lang="en-AU" dirty="0"/>
            <a:t>Modularity</a:t>
          </a:r>
        </a:p>
      </dgm:t>
    </dgm:pt>
    <dgm:pt modelId="{99F5BC71-35EA-49A8-98BB-1071EE17DB32}" type="parTrans" cxnId="{BEB54B43-A160-4CB4-9EE6-E60B2445E27B}">
      <dgm:prSet/>
      <dgm:spPr/>
      <dgm:t>
        <a:bodyPr/>
        <a:lstStyle/>
        <a:p>
          <a:endParaRPr lang="en-AU"/>
        </a:p>
      </dgm:t>
    </dgm:pt>
    <dgm:pt modelId="{447DCDF8-481B-4E7E-9A0D-2E90A3D43C76}" type="sibTrans" cxnId="{BEB54B43-A160-4CB4-9EE6-E60B2445E27B}">
      <dgm:prSet/>
      <dgm:spPr/>
      <dgm:t>
        <a:bodyPr/>
        <a:lstStyle/>
        <a:p>
          <a:endParaRPr lang="en-AU"/>
        </a:p>
      </dgm:t>
    </dgm:pt>
    <dgm:pt modelId="{E319528C-0EFB-4926-89D9-C247C2DE23AE}">
      <dgm:prSet phldrT="[Text]"/>
      <dgm:spPr/>
      <dgm:t>
        <a:bodyPr/>
        <a:lstStyle/>
        <a:p>
          <a:r>
            <a:rPr lang="en-AU" dirty="0"/>
            <a:t>Reusability</a:t>
          </a:r>
        </a:p>
      </dgm:t>
    </dgm:pt>
    <dgm:pt modelId="{C0FD3EB8-69A0-4839-A1E7-9E83067C2B02}" type="parTrans" cxnId="{49880BD5-E9E9-4D9F-85C2-8C17AB6DB14E}">
      <dgm:prSet/>
      <dgm:spPr/>
      <dgm:t>
        <a:bodyPr/>
        <a:lstStyle/>
        <a:p>
          <a:endParaRPr lang="en-AU"/>
        </a:p>
      </dgm:t>
    </dgm:pt>
    <dgm:pt modelId="{CC5E5621-CE15-4EE6-BA7F-5532758CCEB8}" type="sibTrans" cxnId="{49880BD5-E9E9-4D9F-85C2-8C17AB6DB14E}">
      <dgm:prSet/>
      <dgm:spPr/>
      <dgm:t>
        <a:bodyPr/>
        <a:lstStyle/>
        <a:p>
          <a:endParaRPr lang="en-AU"/>
        </a:p>
      </dgm:t>
    </dgm:pt>
    <dgm:pt modelId="{5999CED7-6E9C-4907-A109-9C8889E64476}">
      <dgm:prSet phldrT="[Text]"/>
      <dgm:spPr/>
      <dgm:t>
        <a:bodyPr/>
        <a:lstStyle/>
        <a:p>
          <a:r>
            <a:rPr lang="en-AU" dirty="0"/>
            <a:t>Security</a:t>
          </a:r>
        </a:p>
      </dgm:t>
    </dgm:pt>
    <dgm:pt modelId="{ED768429-B733-45B0-B734-BEAAD3CCC085}" type="parTrans" cxnId="{B2A35C1B-1CA7-4467-BA6B-B9E927DAEE89}">
      <dgm:prSet/>
      <dgm:spPr/>
      <dgm:t>
        <a:bodyPr/>
        <a:lstStyle/>
        <a:p>
          <a:endParaRPr lang="en-AU"/>
        </a:p>
      </dgm:t>
    </dgm:pt>
    <dgm:pt modelId="{6290B6EA-6C95-442D-9BBD-B6FB2D7493D7}" type="sibTrans" cxnId="{B2A35C1B-1CA7-4467-BA6B-B9E927DAEE89}">
      <dgm:prSet/>
      <dgm:spPr/>
      <dgm:t>
        <a:bodyPr/>
        <a:lstStyle/>
        <a:p>
          <a:endParaRPr lang="en-AU"/>
        </a:p>
      </dgm:t>
    </dgm:pt>
    <dgm:pt modelId="{F34DA653-F1B3-4ED8-97BE-E90F0360F7FF}">
      <dgm:prSet phldrT="[Text]"/>
      <dgm:spPr/>
      <dgm:t>
        <a:bodyPr/>
        <a:lstStyle/>
        <a:p>
          <a:r>
            <a:rPr lang="en-AU" dirty="0"/>
            <a:t>Flexibility</a:t>
          </a:r>
        </a:p>
      </dgm:t>
    </dgm:pt>
    <dgm:pt modelId="{CA8A1525-F354-47C2-A1ED-3F9429970D90}" type="parTrans" cxnId="{EC61E5C4-6C91-4562-81D6-801E98FD4D8D}">
      <dgm:prSet/>
      <dgm:spPr/>
      <dgm:t>
        <a:bodyPr/>
        <a:lstStyle/>
        <a:p>
          <a:endParaRPr lang="en-AU"/>
        </a:p>
      </dgm:t>
    </dgm:pt>
    <dgm:pt modelId="{F7D21B46-AA66-4566-81AA-2E04A9C19E4D}" type="sibTrans" cxnId="{EC61E5C4-6C91-4562-81D6-801E98FD4D8D}">
      <dgm:prSet/>
      <dgm:spPr/>
      <dgm:t>
        <a:bodyPr/>
        <a:lstStyle/>
        <a:p>
          <a:endParaRPr lang="en-AU"/>
        </a:p>
      </dgm:t>
    </dgm:pt>
    <dgm:pt modelId="{BB058F68-9078-4AB0-BAB5-74FEC0487494}" type="pres">
      <dgm:prSet presAssocID="{D2103EDF-D4E4-47E6-8135-5A070E88BAFA}" presName="cycle" presStyleCnt="0">
        <dgm:presLayoutVars>
          <dgm:dir/>
          <dgm:resizeHandles val="exact"/>
        </dgm:presLayoutVars>
      </dgm:prSet>
      <dgm:spPr/>
    </dgm:pt>
    <dgm:pt modelId="{A9C161C2-A595-4D72-A19E-C5F40D468CEA}" type="pres">
      <dgm:prSet presAssocID="{2DD7851E-AA8D-46EA-A6B5-AB12B5499261}" presName="node" presStyleLbl="node1" presStyleIdx="0" presStyleCnt="4">
        <dgm:presLayoutVars>
          <dgm:bulletEnabled val="1"/>
        </dgm:presLayoutVars>
      </dgm:prSet>
      <dgm:spPr/>
    </dgm:pt>
    <dgm:pt modelId="{2B665898-95B6-4BA1-8C75-7C73A4F107CA}" type="pres">
      <dgm:prSet presAssocID="{447DCDF8-481B-4E7E-9A0D-2E90A3D43C76}" presName="sibTrans" presStyleLbl="sibTrans2D1" presStyleIdx="0" presStyleCnt="4"/>
      <dgm:spPr/>
    </dgm:pt>
    <dgm:pt modelId="{91355CB3-3505-473F-8BA3-39E214875D0C}" type="pres">
      <dgm:prSet presAssocID="{447DCDF8-481B-4E7E-9A0D-2E90A3D43C76}" presName="connectorText" presStyleLbl="sibTrans2D1" presStyleIdx="0" presStyleCnt="4"/>
      <dgm:spPr/>
    </dgm:pt>
    <dgm:pt modelId="{02919D4A-19CB-4AFE-9D8E-9B260B4B1590}" type="pres">
      <dgm:prSet presAssocID="{E319528C-0EFB-4926-89D9-C247C2DE23AE}" presName="node" presStyleLbl="node1" presStyleIdx="1" presStyleCnt="4">
        <dgm:presLayoutVars>
          <dgm:bulletEnabled val="1"/>
        </dgm:presLayoutVars>
      </dgm:prSet>
      <dgm:spPr/>
    </dgm:pt>
    <dgm:pt modelId="{14C887C6-15E5-4272-810A-61DDBFF5A837}" type="pres">
      <dgm:prSet presAssocID="{CC5E5621-CE15-4EE6-BA7F-5532758CCEB8}" presName="sibTrans" presStyleLbl="sibTrans2D1" presStyleIdx="1" presStyleCnt="4"/>
      <dgm:spPr/>
    </dgm:pt>
    <dgm:pt modelId="{F14B4FAF-038F-4BB3-B710-17A6CBCB8F6C}" type="pres">
      <dgm:prSet presAssocID="{CC5E5621-CE15-4EE6-BA7F-5532758CCEB8}" presName="connectorText" presStyleLbl="sibTrans2D1" presStyleIdx="1" presStyleCnt="4"/>
      <dgm:spPr/>
    </dgm:pt>
    <dgm:pt modelId="{DE8F22BC-150E-4362-9D7A-71E208841446}" type="pres">
      <dgm:prSet presAssocID="{5999CED7-6E9C-4907-A109-9C8889E64476}" presName="node" presStyleLbl="node1" presStyleIdx="2" presStyleCnt="4">
        <dgm:presLayoutVars>
          <dgm:bulletEnabled val="1"/>
        </dgm:presLayoutVars>
      </dgm:prSet>
      <dgm:spPr/>
    </dgm:pt>
    <dgm:pt modelId="{BDF70D34-09DA-486E-AE0E-BA8F19AC61BC}" type="pres">
      <dgm:prSet presAssocID="{6290B6EA-6C95-442D-9BBD-B6FB2D7493D7}" presName="sibTrans" presStyleLbl="sibTrans2D1" presStyleIdx="2" presStyleCnt="4"/>
      <dgm:spPr/>
    </dgm:pt>
    <dgm:pt modelId="{1890EDAB-322E-42C1-9F3B-88AC50C0A8F3}" type="pres">
      <dgm:prSet presAssocID="{6290B6EA-6C95-442D-9BBD-B6FB2D7493D7}" presName="connectorText" presStyleLbl="sibTrans2D1" presStyleIdx="2" presStyleCnt="4"/>
      <dgm:spPr/>
    </dgm:pt>
    <dgm:pt modelId="{57F25C43-F526-48BA-9E4A-76ACE56E0ADA}" type="pres">
      <dgm:prSet presAssocID="{F34DA653-F1B3-4ED8-97BE-E90F0360F7FF}" presName="node" presStyleLbl="node1" presStyleIdx="3" presStyleCnt="4">
        <dgm:presLayoutVars>
          <dgm:bulletEnabled val="1"/>
        </dgm:presLayoutVars>
      </dgm:prSet>
      <dgm:spPr/>
    </dgm:pt>
    <dgm:pt modelId="{4BD760FB-B491-4F3C-A4A6-86DB5B46B880}" type="pres">
      <dgm:prSet presAssocID="{F7D21B46-AA66-4566-81AA-2E04A9C19E4D}" presName="sibTrans" presStyleLbl="sibTrans2D1" presStyleIdx="3" presStyleCnt="4"/>
      <dgm:spPr/>
    </dgm:pt>
    <dgm:pt modelId="{99EDC817-B775-4A9D-A814-549CF539D8D6}" type="pres">
      <dgm:prSet presAssocID="{F7D21B46-AA66-4566-81AA-2E04A9C19E4D}" presName="connectorText" presStyleLbl="sibTrans2D1" presStyleIdx="3" presStyleCnt="4"/>
      <dgm:spPr/>
    </dgm:pt>
  </dgm:ptLst>
  <dgm:cxnLst>
    <dgm:cxn modelId="{1969760F-EBBD-40E9-8D9D-EE3A16BCF6FF}" type="presOf" srcId="{5999CED7-6E9C-4907-A109-9C8889E64476}" destId="{DE8F22BC-150E-4362-9D7A-71E208841446}" srcOrd="0" destOrd="0" presId="urn:microsoft.com/office/officeart/2005/8/layout/cycle2"/>
    <dgm:cxn modelId="{80BE2F10-F311-4A05-8D26-E5E4FA2DC13F}" type="presOf" srcId="{F34DA653-F1B3-4ED8-97BE-E90F0360F7FF}" destId="{57F25C43-F526-48BA-9E4A-76ACE56E0ADA}" srcOrd="0" destOrd="0" presId="urn:microsoft.com/office/officeart/2005/8/layout/cycle2"/>
    <dgm:cxn modelId="{8426F311-D32E-4627-9288-A0F2987D4933}" type="presOf" srcId="{447DCDF8-481B-4E7E-9A0D-2E90A3D43C76}" destId="{2B665898-95B6-4BA1-8C75-7C73A4F107CA}" srcOrd="0" destOrd="0" presId="urn:microsoft.com/office/officeart/2005/8/layout/cycle2"/>
    <dgm:cxn modelId="{6A1B6819-A622-4287-A980-4E025FEF057C}" type="presOf" srcId="{447DCDF8-481B-4E7E-9A0D-2E90A3D43C76}" destId="{91355CB3-3505-473F-8BA3-39E214875D0C}" srcOrd="1" destOrd="0" presId="urn:microsoft.com/office/officeart/2005/8/layout/cycle2"/>
    <dgm:cxn modelId="{B2A35C1B-1CA7-4467-BA6B-B9E927DAEE89}" srcId="{D2103EDF-D4E4-47E6-8135-5A070E88BAFA}" destId="{5999CED7-6E9C-4907-A109-9C8889E64476}" srcOrd="2" destOrd="0" parTransId="{ED768429-B733-45B0-B734-BEAAD3CCC085}" sibTransId="{6290B6EA-6C95-442D-9BBD-B6FB2D7493D7}"/>
    <dgm:cxn modelId="{F3BE912A-A6BB-4F15-AC58-8F53B3B443F5}" type="presOf" srcId="{D2103EDF-D4E4-47E6-8135-5A070E88BAFA}" destId="{BB058F68-9078-4AB0-BAB5-74FEC0487494}" srcOrd="0" destOrd="0" presId="urn:microsoft.com/office/officeart/2005/8/layout/cycle2"/>
    <dgm:cxn modelId="{BEB54B43-A160-4CB4-9EE6-E60B2445E27B}" srcId="{D2103EDF-D4E4-47E6-8135-5A070E88BAFA}" destId="{2DD7851E-AA8D-46EA-A6B5-AB12B5499261}" srcOrd="0" destOrd="0" parTransId="{99F5BC71-35EA-49A8-98BB-1071EE17DB32}" sibTransId="{447DCDF8-481B-4E7E-9A0D-2E90A3D43C76}"/>
    <dgm:cxn modelId="{2C8EBF4E-B2A5-4680-A144-362ECDE3E430}" type="presOf" srcId="{CC5E5621-CE15-4EE6-BA7F-5532758CCEB8}" destId="{F14B4FAF-038F-4BB3-B710-17A6CBCB8F6C}" srcOrd="1" destOrd="0" presId="urn:microsoft.com/office/officeart/2005/8/layout/cycle2"/>
    <dgm:cxn modelId="{737B9152-8029-4791-9B2A-D1FDD7B94C5B}" type="presOf" srcId="{F7D21B46-AA66-4566-81AA-2E04A9C19E4D}" destId="{99EDC817-B775-4A9D-A814-549CF539D8D6}" srcOrd="1" destOrd="0" presId="urn:microsoft.com/office/officeart/2005/8/layout/cycle2"/>
    <dgm:cxn modelId="{F3A54560-6CA5-484C-AD30-C0A65C7CF9DF}" type="presOf" srcId="{CC5E5621-CE15-4EE6-BA7F-5532758CCEB8}" destId="{14C887C6-15E5-4272-810A-61DDBFF5A837}" srcOrd="0" destOrd="0" presId="urn:microsoft.com/office/officeart/2005/8/layout/cycle2"/>
    <dgm:cxn modelId="{8F260E64-710F-4A99-A994-09000702A098}" type="presOf" srcId="{6290B6EA-6C95-442D-9BBD-B6FB2D7493D7}" destId="{1890EDAB-322E-42C1-9F3B-88AC50C0A8F3}" srcOrd="1" destOrd="0" presId="urn:microsoft.com/office/officeart/2005/8/layout/cycle2"/>
    <dgm:cxn modelId="{4E6E9665-62CE-4B29-B7A0-F90C05C8904D}" type="presOf" srcId="{6290B6EA-6C95-442D-9BBD-B6FB2D7493D7}" destId="{BDF70D34-09DA-486E-AE0E-BA8F19AC61BC}" srcOrd="0" destOrd="0" presId="urn:microsoft.com/office/officeart/2005/8/layout/cycle2"/>
    <dgm:cxn modelId="{51D0E594-2DBF-4F98-9D1C-CF585177A5AE}" type="presOf" srcId="{F7D21B46-AA66-4566-81AA-2E04A9C19E4D}" destId="{4BD760FB-B491-4F3C-A4A6-86DB5B46B880}" srcOrd="0" destOrd="0" presId="urn:microsoft.com/office/officeart/2005/8/layout/cycle2"/>
    <dgm:cxn modelId="{EC61E5C4-6C91-4562-81D6-801E98FD4D8D}" srcId="{D2103EDF-D4E4-47E6-8135-5A070E88BAFA}" destId="{F34DA653-F1B3-4ED8-97BE-E90F0360F7FF}" srcOrd="3" destOrd="0" parTransId="{CA8A1525-F354-47C2-A1ED-3F9429970D90}" sibTransId="{F7D21B46-AA66-4566-81AA-2E04A9C19E4D}"/>
    <dgm:cxn modelId="{49880BD5-E9E9-4D9F-85C2-8C17AB6DB14E}" srcId="{D2103EDF-D4E4-47E6-8135-5A070E88BAFA}" destId="{E319528C-0EFB-4926-89D9-C247C2DE23AE}" srcOrd="1" destOrd="0" parTransId="{C0FD3EB8-69A0-4839-A1E7-9E83067C2B02}" sibTransId="{CC5E5621-CE15-4EE6-BA7F-5532758CCEB8}"/>
    <dgm:cxn modelId="{307747F3-8653-4E34-A4B1-130AF90A2CFD}" type="presOf" srcId="{E319528C-0EFB-4926-89D9-C247C2DE23AE}" destId="{02919D4A-19CB-4AFE-9D8E-9B260B4B1590}" srcOrd="0" destOrd="0" presId="urn:microsoft.com/office/officeart/2005/8/layout/cycle2"/>
    <dgm:cxn modelId="{EAA046FC-C029-4E02-8201-884633A76569}" type="presOf" srcId="{2DD7851E-AA8D-46EA-A6B5-AB12B5499261}" destId="{A9C161C2-A595-4D72-A19E-C5F40D468CEA}" srcOrd="0" destOrd="0" presId="urn:microsoft.com/office/officeart/2005/8/layout/cycle2"/>
    <dgm:cxn modelId="{396DB128-C2BC-4408-998A-FF2230CC1146}" type="presParOf" srcId="{BB058F68-9078-4AB0-BAB5-74FEC0487494}" destId="{A9C161C2-A595-4D72-A19E-C5F40D468CEA}" srcOrd="0" destOrd="0" presId="urn:microsoft.com/office/officeart/2005/8/layout/cycle2"/>
    <dgm:cxn modelId="{86FA28D8-B6B6-4D3E-9BCA-6982CCEA77F2}" type="presParOf" srcId="{BB058F68-9078-4AB0-BAB5-74FEC0487494}" destId="{2B665898-95B6-4BA1-8C75-7C73A4F107CA}" srcOrd="1" destOrd="0" presId="urn:microsoft.com/office/officeart/2005/8/layout/cycle2"/>
    <dgm:cxn modelId="{D9F52425-D63D-4A7F-9977-B7CBF3E28B53}" type="presParOf" srcId="{2B665898-95B6-4BA1-8C75-7C73A4F107CA}" destId="{91355CB3-3505-473F-8BA3-39E214875D0C}" srcOrd="0" destOrd="0" presId="urn:microsoft.com/office/officeart/2005/8/layout/cycle2"/>
    <dgm:cxn modelId="{A0445B61-F750-4589-990F-692BF507DB50}" type="presParOf" srcId="{BB058F68-9078-4AB0-BAB5-74FEC0487494}" destId="{02919D4A-19CB-4AFE-9D8E-9B260B4B1590}" srcOrd="2" destOrd="0" presId="urn:microsoft.com/office/officeart/2005/8/layout/cycle2"/>
    <dgm:cxn modelId="{A8ADA02B-1B21-42B0-8046-30DDC24ACBEA}" type="presParOf" srcId="{BB058F68-9078-4AB0-BAB5-74FEC0487494}" destId="{14C887C6-15E5-4272-810A-61DDBFF5A837}" srcOrd="3" destOrd="0" presId="urn:microsoft.com/office/officeart/2005/8/layout/cycle2"/>
    <dgm:cxn modelId="{8A1F3479-886F-4F73-9F78-386D72F858DC}" type="presParOf" srcId="{14C887C6-15E5-4272-810A-61DDBFF5A837}" destId="{F14B4FAF-038F-4BB3-B710-17A6CBCB8F6C}" srcOrd="0" destOrd="0" presId="urn:microsoft.com/office/officeart/2005/8/layout/cycle2"/>
    <dgm:cxn modelId="{55E49CD1-974E-44DE-9D2C-FC12A6534957}" type="presParOf" srcId="{BB058F68-9078-4AB0-BAB5-74FEC0487494}" destId="{DE8F22BC-150E-4362-9D7A-71E208841446}" srcOrd="4" destOrd="0" presId="urn:microsoft.com/office/officeart/2005/8/layout/cycle2"/>
    <dgm:cxn modelId="{31E6AD7E-667E-4702-8218-6F8EF31780C9}" type="presParOf" srcId="{BB058F68-9078-4AB0-BAB5-74FEC0487494}" destId="{BDF70D34-09DA-486E-AE0E-BA8F19AC61BC}" srcOrd="5" destOrd="0" presId="urn:microsoft.com/office/officeart/2005/8/layout/cycle2"/>
    <dgm:cxn modelId="{28E49FFA-55AF-41BF-9DBD-F2FA9FFAA689}" type="presParOf" srcId="{BDF70D34-09DA-486E-AE0E-BA8F19AC61BC}" destId="{1890EDAB-322E-42C1-9F3B-88AC50C0A8F3}" srcOrd="0" destOrd="0" presId="urn:microsoft.com/office/officeart/2005/8/layout/cycle2"/>
    <dgm:cxn modelId="{F2AFEA04-1C82-42C1-B27A-225D4B7A0B71}" type="presParOf" srcId="{BB058F68-9078-4AB0-BAB5-74FEC0487494}" destId="{57F25C43-F526-48BA-9E4A-76ACE56E0ADA}" srcOrd="6" destOrd="0" presId="urn:microsoft.com/office/officeart/2005/8/layout/cycle2"/>
    <dgm:cxn modelId="{3EBB18D7-0B0D-4C25-8261-38A23D034C18}" type="presParOf" srcId="{BB058F68-9078-4AB0-BAB5-74FEC0487494}" destId="{4BD760FB-B491-4F3C-A4A6-86DB5B46B880}" srcOrd="7" destOrd="0" presId="urn:microsoft.com/office/officeart/2005/8/layout/cycle2"/>
    <dgm:cxn modelId="{FBE6D4D9-00AD-405A-B9AD-D8B72E45845F}" type="presParOf" srcId="{4BD760FB-B491-4F3C-A4A6-86DB5B46B880}" destId="{99EDC817-B775-4A9D-A814-549CF539D8D6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C161C2-A595-4D72-A19E-C5F40D468CEA}">
      <dsp:nvSpPr>
        <dsp:cNvPr id="0" name=""/>
        <dsp:cNvSpPr/>
      </dsp:nvSpPr>
      <dsp:spPr>
        <a:xfrm>
          <a:off x="1565087" y="232"/>
          <a:ext cx="1126530" cy="11265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Modularity</a:t>
          </a:r>
        </a:p>
      </dsp:txBody>
      <dsp:txXfrm>
        <a:off x="1730063" y="165208"/>
        <a:ext cx="796578" cy="796578"/>
      </dsp:txXfrm>
    </dsp:sp>
    <dsp:sp modelId="{2B665898-95B6-4BA1-8C75-7C73A4F107CA}">
      <dsp:nvSpPr>
        <dsp:cNvPr id="0" name=""/>
        <dsp:cNvSpPr/>
      </dsp:nvSpPr>
      <dsp:spPr>
        <a:xfrm rot="2700000">
          <a:off x="2570646" y="965296"/>
          <a:ext cx="299214" cy="380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100" kern="1200"/>
        </a:p>
      </dsp:txBody>
      <dsp:txXfrm>
        <a:off x="2583792" y="1009601"/>
        <a:ext cx="209450" cy="228122"/>
      </dsp:txXfrm>
    </dsp:sp>
    <dsp:sp modelId="{02919D4A-19CB-4AFE-9D8E-9B260B4B1590}">
      <dsp:nvSpPr>
        <dsp:cNvPr id="0" name=""/>
        <dsp:cNvSpPr/>
      </dsp:nvSpPr>
      <dsp:spPr>
        <a:xfrm>
          <a:off x="2760865" y="1196010"/>
          <a:ext cx="1126530" cy="11265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Reusability</a:t>
          </a:r>
        </a:p>
      </dsp:txBody>
      <dsp:txXfrm>
        <a:off x="2925841" y="1360986"/>
        <a:ext cx="796578" cy="796578"/>
      </dsp:txXfrm>
    </dsp:sp>
    <dsp:sp modelId="{14C887C6-15E5-4272-810A-61DDBFF5A837}">
      <dsp:nvSpPr>
        <dsp:cNvPr id="0" name=""/>
        <dsp:cNvSpPr/>
      </dsp:nvSpPr>
      <dsp:spPr>
        <a:xfrm rot="8100000">
          <a:off x="2582622" y="2161074"/>
          <a:ext cx="299214" cy="380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100" kern="1200"/>
        </a:p>
      </dsp:txBody>
      <dsp:txXfrm rot="10800000">
        <a:off x="2659240" y="2205379"/>
        <a:ext cx="209450" cy="228122"/>
      </dsp:txXfrm>
    </dsp:sp>
    <dsp:sp modelId="{DE8F22BC-150E-4362-9D7A-71E208841446}">
      <dsp:nvSpPr>
        <dsp:cNvPr id="0" name=""/>
        <dsp:cNvSpPr/>
      </dsp:nvSpPr>
      <dsp:spPr>
        <a:xfrm>
          <a:off x="1565087" y="2391788"/>
          <a:ext cx="1126530" cy="11265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Security</a:t>
          </a:r>
        </a:p>
      </dsp:txBody>
      <dsp:txXfrm>
        <a:off x="1730063" y="2556764"/>
        <a:ext cx="796578" cy="796578"/>
      </dsp:txXfrm>
    </dsp:sp>
    <dsp:sp modelId="{BDF70D34-09DA-486E-AE0E-BA8F19AC61BC}">
      <dsp:nvSpPr>
        <dsp:cNvPr id="0" name=""/>
        <dsp:cNvSpPr/>
      </dsp:nvSpPr>
      <dsp:spPr>
        <a:xfrm rot="13500000">
          <a:off x="1386845" y="2173050"/>
          <a:ext cx="299214" cy="380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100" kern="1200"/>
        </a:p>
      </dsp:txBody>
      <dsp:txXfrm rot="10800000">
        <a:off x="1463463" y="2280827"/>
        <a:ext cx="209450" cy="228122"/>
      </dsp:txXfrm>
    </dsp:sp>
    <dsp:sp modelId="{57F25C43-F526-48BA-9E4A-76ACE56E0ADA}">
      <dsp:nvSpPr>
        <dsp:cNvPr id="0" name=""/>
        <dsp:cNvSpPr/>
      </dsp:nvSpPr>
      <dsp:spPr>
        <a:xfrm>
          <a:off x="369309" y="1196010"/>
          <a:ext cx="1126530" cy="1126530"/>
        </a:xfrm>
        <a:prstGeom prst="ellipse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AU" sz="1300" kern="1200" dirty="0"/>
            <a:t>Flexibility</a:t>
          </a:r>
        </a:p>
      </dsp:txBody>
      <dsp:txXfrm>
        <a:off x="534285" y="1360986"/>
        <a:ext cx="796578" cy="796578"/>
      </dsp:txXfrm>
    </dsp:sp>
    <dsp:sp modelId="{4BD760FB-B491-4F3C-A4A6-86DB5B46B880}">
      <dsp:nvSpPr>
        <dsp:cNvPr id="0" name=""/>
        <dsp:cNvSpPr/>
      </dsp:nvSpPr>
      <dsp:spPr>
        <a:xfrm rot="18900000">
          <a:off x="1374868" y="977272"/>
          <a:ext cx="299214" cy="380204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AU" sz="1100" kern="1200"/>
        </a:p>
      </dsp:txBody>
      <dsp:txXfrm>
        <a:off x="1388014" y="1085049"/>
        <a:ext cx="209450" cy="2281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94AD0A-6903-524E-81B5-45BBC4CB040F}" type="datetimeFigureOut">
              <a:rPr lang="en-US" smtClean="0"/>
              <a:t>2/11/25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A02C22-EBBD-124D-85F8-7A50A9B061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87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course is an introduction to JS remember to view the videos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093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each of the objects in the contact class and which of our pillars might be involved, </a:t>
            </a:r>
          </a:p>
          <a:p>
            <a:r>
              <a:rPr lang="en-US" dirty="0"/>
              <a:t>consider again how the multi dimensional object made from different classes can be manipulated in our UI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251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1654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906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0987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94692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endParaRPr lang="en-AU" b="0" i="0" dirty="0">
              <a:effectLst/>
              <a:latin typeface="SegoeUIVariable"/>
            </a:endParaRPr>
          </a:p>
          <a:p>
            <a:r>
              <a:rPr lang="en-AU" b="0" i="0" dirty="0">
                <a:effectLst/>
                <a:latin typeface="SegoeUIVariable"/>
              </a:rPr>
              <a:t>Imagine a glass jar. </a:t>
            </a:r>
          </a:p>
          <a:p>
            <a:r>
              <a:rPr lang="en-AU" b="0" i="0" dirty="0">
                <a:effectLst/>
                <a:latin typeface="SegoeUIVariable"/>
              </a:rPr>
              <a:t>This jar represents an instance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class. </a:t>
            </a:r>
          </a:p>
          <a:p>
            <a:r>
              <a:rPr lang="en-AU" b="0" i="0" dirty="0">
                <a:effectLst/>
                <a:latin typeface="SegoeUIVariable"/>
              </a:rPr>
              <a:t>Inside this jar, we have coloured balls. Each coloured ball represents a property (attribute) or a behaviour (method)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. </a:t>
            </a:r>
          </a:p>
          <a:p>
            <a:r>
              <a:rPr lang="en-AU" b="0" i="0" dirty="0">
                <a:effectLst/>
                <a:latin typeface="SegoeUIVariable"/>
              </a:rPr>
              <a:t>The fact that these balls are inside the jar means they belong to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and are encapsulated within it.</a:t>
            </a:r>
          </a:p>
          <a:p>
            <a:endParaRPr lang="en-AU" b="0" i="0" dirty="0">
              <a:effectLst/>
              <a:latin typeface="SegoeUIVariable"/>
            </a:endParaRPr>
          </a:p>
          <a:p>
            <a:r>
              <a:rPr lang="en-AU" b="1" i="0" dirty="0">
                <a:effectLst/>
                <a:latin typeface="SegoeUIVariable"/>
              </a:rPr>
              <a:t>Note</a:t>
            </a:r>
          </a:p>
          <a:p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Python supports encapsulation through conventions rather than strict enforcement. </a:t>
            </a:r>
            <a:endParaRPr lang="en-AU" b="1" i="0" dirty="0">
              <a:effectLst/>
              <a:latin typeface="SegoeUIVariable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In Python, encapsulation is achieved using single and double underscores to indicate the visibility of methods and attributes.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For example, using a single underscore before a variable or method name suggests that it is intended for internal use within the class or module.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AU" b="0" i="0" dirty="0">
                <a:solidFill>
                  <a:srgbClr val="374151"/>
                </a:solidFill>
                <a:effectLst/>
                <a:latin typeface="Söhne"/>
              </a:rPr>
              <a:t>Double underscores invoke name mangling, making it more challenging to access the attribute from outside the class.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55059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endParaRPr lang="en-AU" b="0" i="0" dirty="0">
              <a:effectLst/>
              <a:latin typeface="SegoeUIVariable"/>
            </a:endParaRPr>
          </a:p>
          <a:p>
            <a:r>
              <a:rPr lang="en-AU" b="0" i="0" dirty="0">
                <a:effectLst/>
                <a:latin typeface="SegoeUIVariable"/>
              </a:rPr>
              <a:t>Imagine a glass jar. </a:t>
            </a:r>
          </a:p>
          <a:p>
            <a:r>
              <a:rPr lang="en-AU" b="0" i="0" dirty="0">
                <a:effectLst/>
                <a:latin typeface="SegoeUIVariable"/>
              </a:rPr>
              <a:t>This jar represents an instance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class. </a:t>
            </a:r>
          </a:p>
          <a:p>
            <a:r>
              <a:rPr lang="en-AU" b="0" i="0" dirty="0">
                <a:effectLst/>
                <a:latin typeface="SegoeUIVariable"/>
              </a:rPr>
              <a:t>Inside this jar, we have coloured balls. Each coloured ball represents a property (attribute) or a behaviour (method)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. </a:t>
            </a:r>
          </a:p>
          <a:p>
            <a:r>
              <a:rPr lang="en-AU" b="0" i="0" dirty="0">
                <a:effectLst/>
                <a:latin typeface="SegoeUIVariable"/>
              </a:rPr>
              <a:t>The fact that these balls are inside the jar means they belong to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and are encapsulated within it.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401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endParaRPr lang="en-AU" b="0" i="0" dirty="0">
              <a:effectLst/>
              <a:latin typeface="SegoeUIVariable"/>
            </a:endParaRPr>
          </a:p>
          <a:p>
            <a:r>
              <a:rPr lang="en-AU" b="0" i="0" dirty="0">
                <a:effectLst/>
                <a:latin typeface="SegoeUIVariable"/>
              </a:rPr>
              <a:t>Imagine a glass jar. </a:t>
            </a:r>
          </a:p>
          <a:p>
            <a:r>
              <a:rPr lang="en-AU" b="0" i="0" dirty="0">
                <a:effectLst/>
                <a:latin typeface="SegoeUIVariable"/>
              </a:rPr>
              <a:t>This jar represents an instance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class. </a:t>
            </a:r>
          </a:p>
          <a:p>
            <a:r>
              <a:rPr lang="en-AU" b="0" i="0" dirty="0">
                <a:effectLst/>
                <a:latin typeface="SegoeUIVariable"/>
              </a:rPr>
              <a:t>Inside this jar, we have coloured balls. Each coloured ball represents a property (attribute) or a behaviour (method)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. </a:t>
            </a:r>
          </a:p>
          <a:p>
            <a:r>
              <a:rPr lang="en-AU" b="0" i="0" dirty="0">
                <a:effectLst/>
                <a:latin typeface="SegoeUIVariable"/>
              </a:rPr>
              <a:t>The fact that these balls are inside the jar means they belong to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and are encapsulated within it.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779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endParaRPr lang="en-AU" b="0" i="0" dirty="0">
              <a:effectLst/>
              <a:latin typeface="SegoeUIVariable"/>
            </a:endParaRPr>
          </a:p>
          <a:p>
            <a:r>
              <a:rPr lang="en-AU" b="0" i="0" dirty="0">
                <a:effectLst/>
                <a:latin typeface="SegoeUIVariable"/>
              </a:rPr>
              <a:t>Imagine two glass jars. </a:t>
            </a:r>
          </a:p>
          <a:p>
            <a:r>
              <a:rPr lang="en-AU" b="0" i="0" dirty="0">
                <a:effectLst/>
                <a:latin typeface="SegoeUIVariable"/>
              </a:rPr>
              <a:t>The larger jar represents an instance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class, and the smaller jar represents an instance of the </a:t>
            </a:r>
            <a:r>
              <a:rPr lang="en-AU" dirty="0"/>
              <a:t>Contact</a:t>
            </a:r>
            <a:r>
              <a:rPr lang="en-AU" b="0" i="0" dirty="0">
                <a:effectLst/>
                <a:latin typeface="SegoeUIVariable"/>
              </a:rPr>
              <a:t> class. </a:t>
            </a:r>
          </a:p>
          <a:p>
            <a:r>
              <a:rPr lang="en-AU" b="0" i="0" dirty="0">
                <a:effectLst/>
                <a:latin typeface="SegoeUIVariable"/>
              </a:rPr>
              <a:t>The </a:t>
            </a:r>
            <a:r>
              <a:rPr lang="en-AU" dirty="0"/>
              <a:t>Contact</a:t>
            </a:r>
            <a:r>
              <a:rPr lang="en-AU" b="0" i="0" dirty="0">
                <a:effectLst/>
                <a:latin typeface="SegoeUIVariable"/>
              </a:rPr>
              <a:t> class is a subclass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class, so it inherits the properties and methods (</a:t>
            </a:r>
            <a:r>
              <a:rPr lang="en-AU" b="0" i="0" dirty="0" err="1">
                <a:effectLst/>
                <a:latin typeface="SegoeUIVariable"/>
              </a:rPr>
              <a:t>colored</a:t>
            </a:r>
            <a:r>
              <a:rPr lang="en-AU" b="0" i="0" dirty="0">
                <a:effectLst/>
                <a:latin typeface="SegoeUIVariable"/>
              </a:rPr>
              <a:t> balls) from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class. </a:t>
            </a:r>
          </a:p>
          <a:p>
            <a:r>
              <a:rPr lang="en-AU" b="0" i="0" dirty="0">
                <a:effectLst/>
                <a:latin typeface="SegoeUIVariable"/>
              </a:rPr>
              <a:t>However, the </a:t>
            </a:r>
            <a:r>
              <a:rPr lang="en-AU" dirty="0"/>
              <a:t>Contact</a:t>
            </a:r>
            <a:r>
              <a:rPr lang="en-AU" b="0" i="0" dirty="0">
                <a:effectLst/>
                <a:latin typeface="SegoeUIVariable"/>
              </a:rPr>
              <a:t> class also has its own unique properties and methods (additional </a:t>
            </a:r>
            <a:r>
              <a:rPr lang="en-AU" b="0" i="0" dirty="0" err="1">
                <a:effectLst/>
                <a:latin typeface="SegoeUIVariable"/>
              </a:rPr>
              <a:t>colored</a:t>
            </a:r>
            <a:r>
              <a:rPr lang="en-AU" b="0" i="0" dirty="0">
                <a:effectLst/>
                <a:latin typeface="SegoeUIVariable"/>
              </a:rPr>
              <a:t> balls).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765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endParaRPr lang="en-AU" b="0" i="0" dirty="0">
              <a:effectLst/>
              <a:latin typeface="SegoeUIVariable"/>
            </a:endParaRPr>
          </a:p>
          <a:p>
            <a:r>
              <a:rPr lang="en-AU" b="0" i="0" dirty="0">
                <a:effectLst/>
                <a:latin typeface="SegoeUIVariable"/>
              </a:rPr>
              <a:t>Imagine a glass jar. </a:t>
            </a:r>
          </a:p>
          <a:p>
            <a:r>
              <a:rPr lang="en-AU" b="0" i="0" dirty="0">
                <a:effectLst/>
                <a:latin typeface="SegoeUIVariable"/>
              </a:rPr>
              <a:t>This jar represents an instance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class. </a:t>
            </a:r>
          </a:p>
          <a:p>
            <a:r>
              <a:rPr lang="en-AU" b="0" i="0" dirty="0">
                <a:effectLst/>
                <a:latin typeface="SegoeUIVariable"/>
              </a:rPr>
              <a:t>Inside this jar, we have coloured balls. Each coloured ball represents a property (attribute) or a behaviour (method)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. </a:t>
            </a:r>
          </a:p>
          <a:p>
            <a:r>
              <a:rPr lang="en-AU" b="0" i="0" dirty="0">
                <a:effectLst/>
                <a:latin typeface="SegoeUIVariable"/>
              </a:rPr>
              <a:t>The fact that these balls are inside the jar means they belong to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and are encapsulated within it.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5413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r>
              <a:rPr lang="en-AU" b="0" i="0" dirty="0">
                <a:effectLst/>
                <a:latin typeface="SegoeUIVariable"/>
              </a:rPr>
              <a:t>Imagine two glass jars. The first jar represents an instance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class, and the second jar represents an instance of the </a:t>
            </a:r>
            <a:r>
              <a:rPr lang="en-AU" dirty="0"/>
              <a:t>Project</a:t>
            </a:r>
            <a:r>
              <a:rPr lang="en-AU" b="0" i="0" dirty="0">
                <a:effectLst/>
                <a:latin typeface="SegoeUIVariable"/>
              </a:rPr>
              <a:t> class. The </a:t>
            </a:r>
            <a:r>
              <a:rPr lang="en-AU" dirty="0"/>
              <a:t>Project</a:t>
            </a:r>
            <a:r>
              <a:rPr lang="en-AU" b="0" i="0" dirty="0">
                <a:effectLst/>
                <a:latin typeface="SegoeUIVariable"/>
              </a:rPr>
              <a:t> class is a subclass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class, so it inherits the properties and methods (</a:t>
            </a:r>
            <a:r>
              <a:rPr lang="en-AU" b="0" i="0" dirty="0" err="1">
                <a:effectLst/>
                <a:latin typeface="SegoeUIVariable"/>
              </a:rPr>
              <a:t>colored</a:t>
            </a:r>
            <a:r>
              <a:rPr lang="en-AU" b="0" i="0" dirty="0">
                <a:effectLst/>
                <a:latin typeface="SegoeUIVariable"/>
              </a:rPr>
              <a:t> balls) from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class. However, the </a:t>
            </a:r>
            <a:r>
              <a:rPr lang="en-AU" dirty="0"/>
              <a:t>Project</a:t>
            </a:r>
            <a:r>
              <a:rPr lang="en-AU" b="0" i="0" dirty="0">
                <a:effectLst/>
                <a:latin typeface="SegoeUIVariable"/>
              </a:rPr>
              <a:t> class also has its own unique properties and methods (additional coloured balls).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5812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endParaRPr lang="en-AU" b="0" i="0" dirty="0">
              <a:effectLst/>
              <a:latin typeface="SegoeUIVariable"/>
            </a:endParaRPr>
          </a:p>
          <a:p>
            <a:r>
              <a:rPr lang="en-AU" b="0" i="0" dirty="0">
                <a:effectLst/>
                <a:latin typeface="SegoeUIVariable"/>
              </a:rPr>
              <a:t>Imagine a glass jar. </a:t>
            </a:r>
          </a:p>
          <a:p>
            <a:r>
              <a:rPr lang="en-AU" b="0" i="0" dirty="0">
                <a:effectLst/>
                <a:latin typeface="SegoeUIVariable"/>
              </a:rPr>
              <a:t>This jar represents an instance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class. </a:t>
            </a:r>
          </a:p>
          <a:p>
            <a:r>
              <a:rPr lang="en-AU" b="0" i="0" dirty="0">
                <a:effectLst/>
                <a:latin typeface="SegoeUIVariable"/>
              </a:rPr>
              <a:t>Inside this jar, we have coloured balls. Each coloured ball represents a property (attribute) or a behaviour (method)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. </a:t>
            </a:r>
          </a:p>
          <a:p>
            <a:r>
              <a:rPr lang="en-AU" b="0" i="0" dirty="0">
                <a:effectLst/>
                <a:latin typeface="SegoeUIVariable"/>
              </a:rPr>
              <a:t>The fact that these balls are inside the jar means they belong to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 and are encapsulated within it.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2045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b="1" i="0" dirty="0">
                <a:effectLst/>
                <a:latin typeface="SegoeUIVariable"/>
              </a:rPr>
              <a:t>Visual Description:</a:t>
            </a:r>
            <a:r>
              <a:rPr lang="en-AU" b="0" i="0" dirty="0">
                <a:effectLst/>
                <a:latin typeface="SegoeUIVariable"/>
              </a:rPr>
              <a:t> </a:t>
            </a:r>
          </a:p>
          <a:p>
            <a:r>
              <a:rPr lang="en-AU" b="0" i="0" dirty="0">
                <a:effectLst/>
                <a:latin typeface="SegoeUIVariable"/>
              </a:rPr>
              <a:t>Imagine three glass jars. </a:t>
            </a:r>
          </a:p>
          <a:p>
            <a:r>
              <a:rPr lang="en-AU" b="0" i="0" dirty="0">
                <a:effectLst/>
                <a:latin typeface="SegoeUIVariable"/>
              </a:rPr>
              <a:t>The first jar represents a </a:t>
            </a:r>
            <a:r>
              <a:rPr lang="en-AU" dirty="0"/>
              <a:t>Project</a:t>
            </a:r>
            <a:r>
              <a:rPr lang="en-AU" b="0" i="0" dirty="0">
                <a:effectLst/>
                <a:latin typeface="SegoeUIVariable"/>
              </a:rPr>
              <a:t> instance, and the other two jars represent </a:t>
            </a:r>
          </a:p>
          <a:p>
            <a:r>
              <a:rPr lang="en-AU" dirty="0"/>
              <a:t>Contact</a:t>
            </a:r>
            <a:r>
              <a:rPr lang="en-AU" b="0" i="0" dirty="0">
                <a:effectLst/>
                <a:latin typeface="SegoeUIVariable"/>
              </a:rPr>
              <a:t> instances of the </a:t>
            </a:r>
            <a:r>
              <a:rPr lang="en-AU" dirty="0"/>
              <a:t>Organisation</a:t>
            </a:r>
            <a:r>
              <a:rPr lang="en-AU" b="0" i="0" dirty="0">
                <a:effectLst/>
                <a:latin typeface="SegoeUIVariable"/>
              </a:rPr>
              <a:t>. One </a:t>
            </a:r>
            <a:r>
              <a:rPr lang="en-AU" dirty="0"/>
              <a:t>Contact</a:t>
            </a:r>
            <a:r>
              <a:rPr lang="en-AU" b="0" i="0" dirty="0">
                <a:effectLst/>
                <a:latin typeface="SegoeUIVariable"/>
              </a:rPr>
              <a:t> is a client, and the other is not.</a:t>
            </a:r>
          </a:p>
          <a:p>
            <a:r>
              <a:rPr lang="en-AU" b="0" i="0" dirty="0">
                <a:effectLst/>
                <a:latin typeface="SegoeUIVariable"/>
              </a:rPr>
              <a:t> Each </a:t>
            </a:r>
            <a:r>
              <a:rPr lang="en-AU" dirty="0"/>
              <a:t>Contact</a:t>
            </a:r>
            <a:r>
              <a:rPr lang="en-AU" b="0" i="0" dirty="0">
                <a:effectLst/>
                <a:latin typeface="SegoeUIVariable"/>
              </a:rPr>
              <a:t> jar has coloured balls representing properties and methods, some of which are unique to whether the contact is a client or not.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A02C22-EBBD-124D-85F8-7A50A9B0618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72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497172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22132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08213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577524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40742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249472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65863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286759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15211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0912073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DB8D0-98ED-4B86-9D5F-E61ADC70144D}" type="datetimeFigureOut">
              <a:rPr lang="en-US" smtClean="0"/>
              <a:pPr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45813"/>
      </p:ext>
    </p:extLst>
  </p:cSld>
  <p:clrMapOvr>
    <a:masterClrMapping/>
  </p:clrMapOvr>
  <p:transition spd="slow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7852940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1583432471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5235436"/>
      </p:ext>
    </p:extLst>
  </p:cSld>
  <p:clrMapOvr>
    <a:masterClrMapping/>
  </p:clrMapOvr>
  <p:transition spd="slow"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075545"/>
      </p:ext>
    </p:extLst>
  </p:cSld>
  <p:clrMapOvr>
    <a:masterClrMapping/>
  </p:clrMapOvr>
  <p:transition spd="slow"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04416204"/>
      </p:ext>
    </p:extLst>
  </p:cSld>
  <p:clrMapOvr>
    <a:masterClrMapping/>
  </p:clrMapOvr>
  <p:transition spd="slow"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446637"/>
      </p:ext>
    </p:extLst>
  </p:cSld>
  <p:clrMapOvr>
    <a:masterClrMapping/>
  </p:clrMapOvr>
  <p:transition spd="slow"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56902548"/>
      </p:ext>
    </p:extLst>
  </p:cSld>
  <p:clrMapOvr>
    <a:masterClrMapping/>
  </p:clrMapOvr>
  <p:transition spd="slow"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  <a:lvl2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800"/>
            </a:lvl2pPr>
            <a:lvl3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400"/>
            </a:lvl3pPr>
            <a:lvl4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4pPr>
            <a:lvl5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951281"/>
      </p:ext>
    </p:extLst>
  </p:cSld>
  <p:clrMapOvr>
    <a:masterClrMapping/>
  </p:clrMapOvr>
  <p:transition spd="slow"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2910913"/>
      </p:ext>
    </p:extLst>
  </p:cSld>
  <p:clrMapOvr>
    <a:masterClrMapping/>
  </p:clrMapOvr>
  <p:transition spd="slow"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101532"/>
      </p:ext>
    </p:extLst>
  </p:cSld>
  <p:clrMapOvr>
    <a:masterClrMapping/>
  </p:clrMapOvr>
  <p:transition spd="slow"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11/2/2025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05914329"/>
      </p:ext>
    </p:extLst>
  </p:cSld>
  <p:clrMapOvr>
    <a:masterClrMapping/>
  </p:clrMapOvr>
  <p:transition spd="slow"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5639090"/>
      </p:ext>
    </p:extLst>
  </p:cSld>
  <p:clrMapOvr>
    <a:masterClrMapping/>
  </p:clrMapOvr>
  <p:transition spd="slow"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AU" noProof="0"/>
              <a:t>Edit Master text styles</a:t>
            </a:r>
          </a:p>
          <a:p>
            <a:pPr lvl="1"/>
            <a:r>
              <a:rPr lang="en-AU" noProof="0"/>
              <a:t>Second level</a:t>
            </a:r>
          </a:p>
          <a:p>
            <a:pPr lvl="2"/>
            <a:r>
              <a:rPr lang="en-AU" noProof="0"/>
              <a:t>Third level</a:t>
            </a:r>
          </a:p>
          <a:p>
            <a:pPr lvl="3"/>
            <a:r>
              <a:rPr lang="en-AU" noProof="0"/>
              <a:t>Fourth level</a:t>
            </a:r>
          </a:p>
          <a:p>
            <a:pPr lvl="4"/>
            <a:r>
              <a:rPr lang="en-AU" noProof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noProof="0" smtClean="0"/>
              <a:t>‹#›</a:t>
            </a:fld>
            <a:endParaRPr lang="en-AU" noProof="0"/>
          </a:p>
        </p:txBody>
      </p:sp>
    </p:spTree>
    <p:extLst>
      <p:ext uri="{BB962C8B-B14F-4D97-AF65-F5344CB8AC3E}">
        <p14:creationId xmlns:p14="http://schemas.microsoft.com/office/powerpoint/2010/main" val="3267110710"/>
      </p:ext>
    </p:extLst>
  </p:cSld>
  <p:clrMapOvr>
    <a:masterClrMapping/>
  </p:clrMapOvr>
  <p:transition spd="slow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 noProof="0"/>
              <a:t>Click to edit Master title style</a:t>
            </a:r>
            <a:endParaRPr lang="en-AU" noProof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AU" noProof="0"/>
              <a:t>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454972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5091054"/>
      </p:ext>
    </p:extLst>
  </p:cSld>
  <p:clrMapOvr>
    <a:masterClrMapping/>
  </p:clrMapOvr>
  <p:transition spd="slow"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094653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3124391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677842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439502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7761409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14551233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AE7EB-D192-4D2E-8D51-DD57575EA4B4}" type="datetimeFigureOut">
              <a:rPr lang="en-AU" smtClean="0"/>
              <a:t>11/2/2025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87872616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7325809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2009829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35945563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44494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2350594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9059109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90440938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4279959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59590441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925766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2646541"/>
      </p:ext>
    </p:extLst>
  </p:cSld>
  <p:clrMapOvr>
    <a:masterClrMapping/>
  </p:clrMapOvr>
  <p:transition spd="slow">
    <p:fade/>
  </p:transition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0842572"/>
      </p:ext>
    </p:extLst>
  </p:cSld>
  <p:clrMapOvr>
    <a:masterClrMapping/>
  </p:clrMapOvr>
  <p:transition spd="slow">
    <p:fade/>
  </p:transition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36037543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58120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0765084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7664379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9627324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7146778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8866695"/>
      </p:ext>
    </p:extLst>
  </p:cSld>
  <p:clrMapOvr>
    <a:masterClrMapping/>
  </p:clrMapOvr>
  <p:transition spd="slow"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11941442"/>
      </p:ext>
    </p:extLst>
  </p:cSld>
  <p:clrMapOvr>
    <a:masterClrMapping/>
  </p:clrMapOvr>
  <p:transition spd="slow"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579322"/>
      </p:ext>
    </p:extLst>
  </p:cSld>
  <p:clrMapOvr>
    <a:masterClrMapping/>
  </p:clrMapOvr>
  <p:transition spd="slow"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2395453"/>
      </p:ext>
    </p:extLst>
  </p:cSld>
  <p:clrMapOvr>
    <a:masterClrMapping/>
  </p:clrMapOvr>
  <p:transition spd="slow"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20220297"/>
      </p:ext>
    </p:extLst>
  </p:cSld>
  <p:clrMapOvr>
    <a:masterClrMapping/>
  </p:clrMapOvr>
  <p:transition spd="slow"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9710051"/>
      </p:ext>
    </p:extLst>
  </p:cSld>
  <p:clrMapOvr>
    <a:masterClrMapping/>
  </p:clrMapOvr>
  <p:transition spd="slow"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7095686"/>
      </p:ext>
    </p:extLst>
  </p:cSld>
  <p:clrMapOvr>
    <a:masterClrMapping/>
  </p:clrMapOvr>
  <p:transition spd="slow"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082501"/>
      </p:ext>
    </p:extLst>
  </p:cSld>
  <p:clrMapOvr>
    <a:masterClrMapping/>
  </p:clrMapOvr>
  <p:transition spd="slow"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6643192"/>
      </p:ext>
    </p:extLst>
  </p:cSld>
  <p:clrMapOvr>
    <a:masterClrMapping/>
  </p:clrMapOvr>
  <p:transition spd="slow"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5730182"/>
      </p:ext>
    </p:extLst>
  </p:cSld>
  <p:clrMapOvr>
    <a:masterClrMapping/>
  </p:clrMapOvr>
  <p:transition spd="slow"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384613"/>
      </p:ext>
    </p:extLst>
  </p:cSld>
  <p:clrMapOvr>
    <a:masterClrMapping/>
  </p:clrMapOvr>
  <p:transition spd="slow"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113288"/>
      </p:ext>
    </p:extLst>
  </p:cSld>
  <p:clrMapOvr>
    <a:masterClrMapping/>
  </p:clrMapOvr>
  <p:transition spd="slow"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3045618"/>
      </p:ext>
    </p:extLst>
  </p:cSld>
  <p:clrMapOvr>
    <a:masterClrMapping/>
  </p:clrMapOvr>
  <p:transition spd="slow"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09998777"/>
      </p:ext>
    </p:extLst>
  </p:cSld>
  <p:clrMapOvr>
    <a:masterClrMapping/>
  </p:clrMapOvr>
  <p:transition spd="slow"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052585"/>
      </p:ext>
    </p:extLst>
  </p:cSld>
  <p:clrMapOvr>
    <a:masterClrMapping/>
  </p:clrMapOvr>
  <p:transition spd="slow">
    <p:fade/>
  </p:transition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4099411"/>
      </p:ext>
    </p:extLst>
  </p:cSld>
  <p:clrMapOvr>
    <a:masterClrMapping/>
  </p:clrMapOvr>
  <p:transition spd="slow">
    <p:fade/>
  </p:transition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80144768"/>
      </p:ext>
    </p:extLst>
  </p:cSld>
  <p:clrMapOvr>
    <a:masterClrMapping/>
  </p:clrMapOvr>
  <p:transition spd="slow">
    <p:fade/>
  </p:transition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102047"/>
      </p:ext>
    </p:extLst>
  </p:cSld>
  <p:clrMapOvr>
    <a:masterClrMapping/>
  </p:clrMapOvr>
  <p:transition spd="slow">
    <p:fade/>
  </p:transition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9389621"/>
      </p:ext>
    </p:extLst>
  </p:cSld>
  <p:clrMapOvr>
    <a:masterClrMapping/>
  </p:clrMapOvr>
  <p:transition spd="slow">
    <p:fade/>
  </p:transition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69817362"/>
      </p:ext>
    </p:extLst>
  </p:cSld>
  <p:clrMapOvr>
    <a:masterClrMapping/>
  </p:clrMapOvr>
  <p:transition spd="slow">
    <p:fade/>
  </p:transition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23219357"/>
      </p:ext>
    </p:extLst>
  </p:cSld>
  <p:clrMapOvr>
    <a:masterClrMapping/>
  </p:clrMapOvr>
  <p:transition spd="slow">
    <p:fade/>
  </p:transition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2639140"/>
      </p:ext>
    </p:extLst>
  </p:cSld>
  <p:clrMapOvr>
    <a:masterClrMapping/>
  </p:clrMapOvr>
  <p:transition spd="slow">
    <p:fade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8202440"/>
      </p:ext>
    </p:extLst>
  </p:cSld>
  <p:clrMapOvr>
    <a:masterClrMapping/>
  </p:clrMapOvr>
  <p:transition spd="slow">
    <p:fade/>
  </p:transition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6118706"/>
      </p:ext>
    </p:extLst>
  </p:cSld>
  <p:clrMapOvr>
    <a:masterClrMapping/>
  </p:clrMapOvr>
  <p:transition spd="slow">
    <p:fade/>
  </p:transition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8297514"/>
      </p:ext>
    </p:extLst>
  </p:cSld>
  <p:clrMapOvr>
    <a:masterClrMapping/>
  </p:clrMapOvr>
  <p:transition spd="slow"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6331379"/>
      </p:ext>
    </p:extLst>
  </p:cSld>
  <p:clrMapOvr>
    <a:masterClrMapping/>
  </p:clrMapOvr>
  <p:transition spd="slow">
    <p:fade/>
  </p:transition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500825"/>
      </p:ext>
    </p:extLst>
  </p:cSld>
  <p:clrMapOvr>
    <a:masterClrMapping/>
  </p:clrMapOvr>
  <p:transition spd="slow"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7379820"/>
      </p:ext>
    </p:extLst>
  </p:cSld>
  <p:clrMapOvr>
    <a:masterClrMapping/>
  </p:clrMapOvr>
  <p:transition spd="slow"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1786074"/>
      </p:ext>
    </p:extLst>
  </p:cSld>
  <p:clrMapOvr>
    <a:masterClrMapping/>
  </p:clrMapOvr>
  <p:transition spd="slow">
    <p:fade/>
  </p:transition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2273943"/>
      </p:ext>
    </p:extLst>
  </p:cSld>
  <p:clrMapOvr>
    <a:masterClrMapping/>
  </p:clrMapOvr>
  <p:transition spd="slow">
    <p:fade/>
  </p:transition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8435440"/>
      </p:ext>
    </p:extLst>
  </p:cSld>
  <p:clrMapOvr>
    <a:masterClrMapping/>
  </p:clrMapOvr>
  <p:transition spd="slow">
    <p:fade/>
  </p:transition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995935"/>
      </p:ext>
    </p:extLst>
  </p:cSld>
  <p:clrMapOvr>
    <a:masterClrMapping/>
  </p:clrMapOvr>
  <p:transition spd="slow">
    <p:fade/>
  </p:transition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0185332"/>
      </p:ext>
    </p:extLst>
  </p:cSld>
  <p:clrMapOvr>
    <a:masterClrMapping/>
  </p:clrMapOvr>
  <p:transition spd="slow">
    <p:fade/>
  </p:transition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765892"/>
      </p:ext>
    </p:extLst>
  </p:cSld>
  <p:clrMapOvr>
    <a:masterClrMapping/>
  </p:clrMapOvr>
  <p:transition spd="slow">
    <p:fade/>
  </p:transition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3031487"/>
      </p:ext>
    </p:extLst>
  </p:cSld>
  <p:clrMapOvr>
    <a:masterClrMapping/>
  </p:clrMapOvr>
  <p:transition spd="slow">
    <p:fade/>
  </p:transition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46082134"/>
      </p:ext>
    </p:extLst>
  </p:cSld>
  <p:clrMapOvr>
    <a:masterClrMapping/>
  </p:clrMapOvr>
  <p:transition spd="slow">
    <p:fade/>
  </p:transition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5485142"/>
      </p:ext>
    </p:extLst>
  </p:cSld>
  <p:clrMapOvr>
    <a:masterClrMapping/>
  </p:clrMapOvr>
  <p:transition spd="slow">
    <p:fade/>
  </p:transition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1969938"/>
      </p:ext>
    </p:extLst>
  </p:cSld>
  <p:clrMapOvr>
    <a:masterClrMapping/>
  </p:clrMapOvr>
  <p:transition spd="slow">
    <p:fade/>
  </p:transition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2283881"/>
      </p:ext>
    </p:extLst>
  </p:cSld>
  <p:clrMapOvr>
    <a:masterClrMapping/>
  </p:clrMapOvr>
  <p:transition spd="slow">
    <p:fade/>
  </p:transition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006424"/>
      </p:ext>
    </p:extLst>
  </p:cSld>
  <p:clrMapOvr>
    <a:masterClrMapping/>
  </p:clrMapOvr>
  <p:transition spd="slow">
    <p:fade/>
  </p:transition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11959658"/>
      </p:ext>
    </p:extLst>
  </p:cSld>
  <p:clrMapOvr>
    <a:masterClrMapping/>
  </p:clrMapOvr>
  <p:transition spd="slow">
    <p:fade/>
  </p:transition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5316661"/>
      </p:ext>
    </p:extLst>
  </p:cSld>
  <p:clrMapOvr>
    <a:masterClrMapping/>
  </p:clrMapOvr>
  <p:transition spd="slow">
    <p:fade/>
  </p:transition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62312828"/>
      </p:ext>
    </p:extLst>
  </p:cSld>
  <p:clrMapOvr>
    <a:masterClrMapping/>
  </p:clrMapOvr>
  <p:transition spd="slow">
    <p:fade/>
  </p:transition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0389694"/>
      </p:ext>
    </p:extLst>
  </p:cSld>
  <p:clrMapOvr>
    <a:masterClrMapping/>
  </p:clrMapOvr>
  <p:transition spd="slow">
    <p:fade/>
  </p:transition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7756321"/>
      </p:ext>
    </p:extLst>
  </p:cSld>
  <p:clrMapOvr>
    <a:masterClrMapping/>
  </p:clrMapOvr>
  <p:transition spd="slow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24377667"/>
      </p:ext>
    </p:extLst>
  </p:cSld>
  <p:clrMapOvr>
    <a:masterClrMapping/>
  </p:clrMapOvr>
  <p:transition spd="slow">
    <p:fade/>
  </p:transition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21518369"/>
      </p:ext>
    </p:extLst>
  </p:cSld>
  <p:clrMapOvr>
    <a:masterClrMapping/>
  </p:clrMapOvr>
  <p:transition spd="slow">
    <p:fade/>
  </p:transition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B8131A-8EDB-2544-BA17-421F20C84F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FDBF8-70EA-8045-B58F-9FFBC5DA1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868105-8173-0C48-846F-689C719F5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EC095-17FD-7146-8C97-865AF71A1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0D27F-CEC8-9D47-BFDE-C40E36D40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71450234"/>
      </p:ext>
    </p:extLst>
  </p:cSld>
  <p:clrMapOvr>
    <a:masterClrMapping/>
  </p:clrMapOvr>
  <p:transition spd="slow">
    <p:fade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6791992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98800938"/>
      </p:ext>
    </p:extLst>
  </p:cSld>
  <p:clrMapOvr>
    <a:masterClrMapping/>
  </p:clrMapOvr>
  <p:transition spd="slow">
    <p:fade/>
  </p:transition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9578032"/>
      </p:ext>
    </p:extLst>
  </p:cSld>
  <p:clrMapOvr>
    <a:masterClrMapping/>
  </p:clrMapOvr>
  <p:transition spd="slow">
    <p:fade/>
  </p:transition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5599382"/>
      </p:ext>
    </p:extLst>
  </p:cSld>
  <p:clrMapOvr>
    <a:masterClrMapping/>
  </p:clrMapOvr>
  <p:transition spd="slow">
    <p:fade/>
  </p:transition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13226191"/>
      </p:ext>
    </p:extLst>
  </p:cSld>
  <p:clrMapOvr>
    <a:masterClrMapping/>
  </p:clrMapOvr>
  <p:transition spd="slow">
    <p:fade/>
  </p:transition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6065649"/>
      </p:ext>
    </p:extLst>
  </p:cSld>
  <p:clrMapOvr>
    <a:masterClrMapping/>
  </p:clrMapOvr>
  <p:transition spd="slow">
    <p:fade/>
  </p:transition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21847952"/>
      </p:ext>
    </p:extLst>
  </p:cSld>
  <p:clrMapOvr>
    <a:masterClrMapping/>
  </p:clrMapOvr>
  <p:transition spd="slow">
    <p:fade/>
  </p:transition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742388"/>
      </p:ext>
    </p:extLst>
  </p:cSld>
  <p:clrMapOvr>
    <a:masterClrMapping/>
  </p:clrMapOvr>
  <p:transition spd="slow">
    <p:fade/>
  </p:transition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3928909"/>
      </p:ext>
    </p:extLst>
  </p:cSld>
  <p:clrMapOvr>
    <a:masterClrMapping/>
  </p:clrMapOvr>
  <p:transition spd="slow">
    <p:fade/>
  </p:transition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69498754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3913130"/>
      </p:ext>
    </p:extLst>
  </p:cSld>
  <p:clrMapOvr>
    <a:masterClrMapping/>
  </p:clrMapOvr>
  <p:hf hdr="0" dt="0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456127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0292264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53032987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32459669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13616175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03360915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7582317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42297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2409102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8819507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30407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42638260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2147775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946001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94837410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479424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2032800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7376267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08466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68367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8025110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7383330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8172933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603705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45214367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3450809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377024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4743125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222243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59369019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724827"/>
            <a:ext cx="9144000" cy="1775897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94019202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394CE-42D0-7C40-8EE5-DBDD69BEF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C0D485-4F2A-5E4E-8D7A-CFCC7A3BDE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FE48F-BACE-964B-A8B2-8CA1E3493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AFAD0-A18D-A64E-B1F7-8A92782E8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7754979"/>
      </p:ext>
    </p:extLst>
  </p:cSld>
  <p:clrMapOvr>
    <a:masterClrMapping/>
  </p:clrMapOvr>
  <p:transition spd="slow">
    <p:fade/>
  </p:transition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A6736-671E-3C4B-B020-878888E35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7D884-EE4D-F840-B299-94C571F8F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CED7-963E-B54F-BEDB-1D5F07DF6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B9D3A-2A44-E249-9B40-91311A738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16360377"/>
      </p:ext>
    </p:extLst>
  </p:cSld>
  <p:clrMapOvr>
    <a:masterClrMapping/>
  </p:clrMapOvr>
  <p:transition spd="slow">
    <p:fade/>
  </p:transition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A50E4-3CA5-6148-A2EF-401855930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19B1C-D641-934F-A322-0C469526D9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51C7F3-BD33-DF42-A5AB-2B9F8D8E8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61108-A4CB-D043-8F94-0EA32371F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F0F622-D0BD-AB4A-AC6C-6A0DEC0AA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9064148"/>
      </p:ext>
    </p:extLst>
  </p:cSld>
  <p:clrMapOvr>
    <a:masterClrMapping/>
  </p:clrMapOvr>
  <p:transition spd="slow">
    <p:fade/>
  </p:transition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31627-D569-8F4A-B6AC-306C4580B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3B106-BE30-0047-86A3-FAB836FDED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D2156-9025-B343-9C72-ED80CA4F0D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AED001-F4F9-0043-A7C9-7E1212A74B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1A40D-23A8-2C4E-A8AD-0891281A15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362B06-D168-8842-8194-A19FCA66F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09D1C2-CE55-4346-BC7A-5FAC3068F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2742752"/>
      </p:ext>
    </p:extLst>
  </p:cSld>
  <p:clrMapOvr>
    <a:masterClrMapping/>
  </p:clrMapOvr>
  <p:transition spd="slow">
    <p:fade/>
  </p:transition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FA355-A235-BC49-94C4-9CA7A81F5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299231-64F4-5F4E-A367-D564C965D1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B1ED44-0410-EF4B-B84C-24A4EE4DE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42929718"/>
      </p:ext>
    </p:extLst>
  </p:cSld>
  <p:clrMapOvr>
    <a:masterClrMapping/>
  </p:clrMapOvr>
  <p:transition spd="slow">
    <p:fade/>
  </p:transition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427263-CF68-114F-8153-64712141D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7F0A3A-B953-0C47-883C-8D7B1071F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27485039"/>
      </p:ext>
    </p:extLst>
  </p:cSld>
  <p:clrMapOvr>
    <a:masterClrMapping/>
  </p:clrMapOvr>
  <p:transition spd="slow">
    <p:fade/>
  </p:transition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A8876-E38D-8540-B39F-4F6D95A11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0CD8F-62E3-6245-A5D7-3E07F1B677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AECFC-7E21-D842-A316-613C1B2C9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91183-CA4B-EB4B-BD60-0EF406D11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162212-8704-8C4A-8C17-4A4BCBE84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91988109"/>
      </p:ext>
    </p:extLst>
  </p:cSld>
  <p:clrMapOvr>
    <a:masterClrMapping/>
  </p:clrMapOvr>
  <p:transition spd="slow">
    <p:fade/>
  </p:transition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64D41-B09B-4945-AE7C-68BF43F6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C768E2-6B41-6F44-84C7-DDD8AD4161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74ED20-5AA5-EA41-A0B1-9091E4E28E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7D818-C9C3-3F49-920E-1C05F9C3E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C23BF-EF23-184D-AB71-1EFBA075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7331647"/>
      </p:ext>
    </p:extLst>
  </p:cSld>
  <p:clrMapOvr>
    <a:masterClrMapping/>
  </p:clrMapOvr>
  <p:transition spd="slow">
    <p:fade/>
  </p:transition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D5232-E628-734B-BCAD-9F8696B8DE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3125"/>
            <a:ext cx="7084741" cy="2387600"/>
          </a:xfrm>
        </p:spPr>
        <p:txBody>
          <a:bodyPr anchor="b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152C6C-253E-2D4A-B538-0C4F1C8636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592800"/>
            <a:ext cx="9144000" cy="108710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97606-95D4-0744-AB62-9A5EE5B5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00F0F-D30B-154C-9DBA-ADCC28F0C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A18F39DB-D73A-3344-928B-DD36BA63E331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1524000" y="3771978"/>
            <a:ext cx="9144000" cy="2361194"/>
          </a:xfrm>
        </p:spPr>
        <p:txBody>
          <a:bodyPr/>
          <a:lstStyle>
            <a:lvl1pPr algn="l">
              <a:defRPr/>
            </a:lvl1pPr>
          </a:lstStyle>
          <a:p>
            <a:r>
              <a:rPr lang="en-GB"/>
              <a:t>Click icon to add table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779250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29D1D-6CE6-D7E5-EFCB-15A0AB200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E2A24-C72A-A843-AB81-5E00970924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E5939-A058-387B-1E27-A37B1975B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B3A824-1A51-4B26-AD58-A6D8E14F6C04}" type="datetimeFigureOut">
              <a:rPr lang="en-US" smtClean="0"/>
              <a:t>2/11/25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097FA-99F4-583A-FF35-F6CB944CE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6E8F3D-846C-2F24-CDA6-35CACA0FD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4272729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emf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emf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image" Target="../media/image2.emf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Relationship Id="rId14" Type="http://schemas.openxmlformats.org/officeDocument/2006/relationships/image" Target="../media/image2.emf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4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69.xml"/><Relationship Id="rId7" Type="http://schemas.openxmlformats.org/officeDocument/2006/relationships/slideLayout" Target="../slideLayouts/slideLayout73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68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5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76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image" Target="../media/image2.emf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80.xml"/><Relationship Id="rId7" Type="http://schemas.openxmlformats.org/officeDocument/2006/relationships/slideLayout" Target="../slideLayouts/slideLayout84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79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0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image" Target="../media/image2.emf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6.xml"/><Relationship Id="rId13" Type="http://schemas.openxmlformats.org/officeDocument/2006/relationships/image" Target="../media/image4.png"/><Relationship Id="rId3" Type="http://schemas.openxmlformats.org/officeDocument/2006/relationships/slideLayout" Target="../slideLayouts/slideLayout91.xml"/><Relationship Id="rId7" Type="http://schemas.openxmlformats.org/officeDocument/2006/relationships/slideLayout" Target="../slideLayouts/slideLayout95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0.xml"/><Relationship Id="rId1" Type="http://schemas.openxmlformats.org/officeDocument/2006/relationships/slideLayout" Target="../slideLayouts/slideLayout89.xml"/><Relationship Id="rId6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9.xml"/><Relationship Id="rId5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8.xml"/><Relationship Id="rId4" Type="http://schemas.openxmlformats.org/officeDocument/2006/relationships/slideLayout" Target="../slideLayouts/slideLayout92.xml"/><Relationship Id="rId9" Type="http://schemas.openxmlformats.org/officeDocument/2006/relationships/slideLayout" Target="../slideLayouts/slideLayout97.xml"/><Relationship Id="rId14" Type="http://schemas.openxmlformats.org/officeDocument/2006/relationships/image" Target="../media/image2.emf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7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6.xml"/><Relationship Id="rId12" Type="http://schemas.openxmlformats.org/officeDocument/2006/relationships/theme" Target="../theme/theme10.xml"/><Relationship Id="rId2" Type="http://schemas.openxmlformats.org/officeDocument/2006/relationships/slideLayout" Target="../slideLayouts/slideLayout101.xml"/><Relationship Id="rId1" Type="http://schemas.openxmlformats.org/officeDocument/2006/relationships/slideLayout" Target="../slideLayouts/slideLayout100.xml"/><Relationship Id="rId6" Type="http://schemas.openxmlformats.org/officeDocument/2006/relationships/slideLayout" Target="../slideLayouts/slideLayout105.xml"/><Relationship Id="rId11" Type="http://schemas.openxmlformats.org/officeDocument/2006/relationships/slideLayout" Target="../slideLayouts/slideLayout110.xml"/><Relationship Id="rId5" Type="http://schemas.openxmlformats.org/officeDocument/2006/relationships/slideLayout" Target="../slideLayouts/slideLayout104.xml"/><Relationship Id="rId10" Type="http://schemas.openxmlformats.org/officeDocument/2006/relationships/slideLayout" Target="../slideLayouts/slideLayout109.xml"/><Relationship Id="rId4" Type="http://schemas.openxmlformats.org/officeDocument/2006/relationships/slideLayout" Target="../slideLayouts/slideLayout103.xml"/><Relationship Id="rId9" Type="http://schemas.openxmlformats.org/officeDocument/2006/relationships/slideLayout" Target="../slideLayouts/slideLayout108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8.xml"/><Relationship Id="rId3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7.xml"/><Relationship Id="rId12" Type="http://schemas.openxmlformats.org/officeDocument/2006/relationships/image" Target="../media/image3.jpeg"/><Relationship Id="rId2" Type="http://schemas.openxmlformats.org/officeDocument/2006/relationships/slideLayout" Target="../slideLayouts/slideLayout112.xml"/><Relationship Id="rId1" Type="http://schemas.openxmlformats.org/officeDocument/2006/relationships/slideLayout" Target="../slideLayouts/slideLayout111.xml"/><Relationship Id="rId6" Type="http://schemas.openxmlformats.org/officeDocument/2006/relationships/slideLayout" Target="../slideLayouts/slideLayout116.xml"/><Relationship Id="rId11" Type="http://schemas.openxmlformats.org/officeDocument/2006/relationships/theme" Target="../theme/theme11.xml"/><Relationship Id="rId5" Type="http://schemas.openxmlformats.org/officeDocument/2006/relationships/slideLayout" Target="../slideLayouts/slideLayout115.xml"/><Relationship Id="rId10" Type="http://schemas.openxmlformats.org/officeDocument/2006/relationships/slideLayout" Target="../slideLayouts/slideLayout120.xml"/><Relationship Id="rId4" Type="http://schemas.openxmlformats.org/officeDocument/2006/relationships/slideLayout" Target="../slideLayouts/slideLayout114.xml"/><Relationship Id="rId9" Type="http://schemas.openxmlformats.org/officeDocument/2006/relationships/slideLayout" Target="../slideLayouts/slideLayout11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image" Target="../media/image4.png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theme" Target="../theme/theme12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8.xml"/><Relationship Id="rId3" Type="http://schemas.openxmlformats.org/officeDocument/2006/relationships/slideLayout" Target="../slideLayouts/slideLayout133.xml"/><Relationship Id="rId7" Type="http://schemas.openxmlformats.org/officeDocument/2006/relationships/slideLayout" Target="../slideLayouts/slideLayout137.xml"/><Relationship Id="rId12" Type="http://schemas.openxmlformats.org/officeDocument/2006/relationships/image" Target="../media/image6.png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Relationship Id="rId6" Type="http://schemas.openxmlformats.org/officeDocument/2006/relationships/slideLayout" Target="../slideLayouts/slideLayout136.xml"/><Relationship Id="rId11" Type="http://schemas.openxmlformats.org/officeDocument/2006/relationships/theme" Target="../theme/theme13.xml"/><Relationship Id="rId5" Type="http://schemas.openxmlformats.org/officeDocument/2006/relationships/slideLayout" Target="../slideLayouts/slideLayout135.xml"/><Relationship Id="rId10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34.xml"/><Relationship Id="rId9" Type="http://schemas.openxmlformats.org/officeDocument/2006/relationships/slideLayout" Target="../slideLayouts/slideLayout139.xml"/></Relationships>
</file>

<file path=ppt/slideMasters/_rels/slideMaster1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7.xml"/><Relationship Id="rId12" Type="http://schemas.openxmlformats.org/officeDocument/2006/relationships/theme" Target="../theme/theme14.xml"/><Relationship Id="rId2" Type="http://schemas.openxmlformats.org/officeDocument/2006/relationships/slideLayout" Target="../slideLayouts/slideLayout142.xml"/><Relationship Id="rId1" Type="http://schemas.openxmlformats.org/officeDocument/2006/relationships/slideLayout" Target="../slideLayouts/slideLayout141.xml"/><Relationship Id="rId6" Type="http://schemas.openxmlformats.org/officeDocument/2006/relationships/slideLayout" Target="../slideLayouts/slideLayout146.xml"/><Relationship Id="rId11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45.xml"/><Relationship Id="rId10" Type="http://schemas.openxmlformats.org/officeDocument/2006/relationships/slideLayout" Target="../slideLayouts/slideLayout150.xml"/><Relationship Id="rId4" Type="http://schemas.openxmlformats.org/officeDocument/2006/relationships/slideLayout" Target="../slideLayouts/slideLayout144.xml"/><Relationship Id="rId9" Type="http://schemas.openxmlformats.org/officeDocument/2006/relationships/slideLayout" Target="../slideLayouts/slideLayout1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8E2B1F-3BA7-43D8-54B8-9DA63BB590FA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9CD4F25-35BD-D59F-8D88-D390634E6B3E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166792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1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3">
            <a:biLevel thresh="75000"/>
            <a:alphaModFix amt="30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  <p:pic>
        <p:nvPicPr>
          <p:cNvPr id="11" name="Picture 10" descr="Shape, rectangle&#10;&#10;Description automatically generated">
            <a:extLst>
              <a:ext uri="{FF2B5EF4-FFF2-40B4-BE49-F238E27FC236}">
                <a16:creationId xmlns:a16="http://schemas.microsoft.com/office/drawing/2014/main" id="{FB1B3E2C-5634-B283-5DA9-CF2AA0C62510}"/>
              </a:ext>
            </a:extLst>
          </p:cNvPr>
          <p:cNvPicPr>
            <a:picLocks noChangeAspect="1"/>
          </p:cNvPicPr>
          <p:nvPr/>
        </p:nvPicPr>
        <p:blipFill rotWithShape="1">
          <a:blip r:embed="rId14"/>
          <a:srcRect l="1" r="786" b="90698"/>
          <a:stretch/>
        </p:blipFill>
        <p:spPr>
          <a:xfrm>
            <a:off x="0" y="0"/>
            <a:ext cx="12192000" cy="75603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143A73D-BC11-784C-91CA-D338A5444653}"/>
              </a:ext>
            </a:extLst>
          </p:cNvPr>
          <p:cNvSpPr txBox="1"/>
          <p:nvPr userDrawn="1"/>
        </p:nvSpPr>
        <p:spPr>
          <a:xfrm rot="16200000">
            <a:off x="-2391618" y="3266444"/>
            <a:ext cx="5420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>
                <a:solidFill>
                  <a:schemeClr val="bg1">
                    <a:lumMod val="95000"/>
                    <a:lumOff val="5000"/>
                  </a:schemeClr>
                </a:solidFill>
                <a:latin typeface="+mj-lt"/>
              </a:rPr>
              <a:t>ICT40120 Certificate IV in Programming</a:t>
            </a:r>
          </a:p>
        </p:txBody>
      </p:sp>
    </p:spTree>
    <p:extLst>
      <p:ext uri="{BB962C8B-B14F-4D97-AF65-F5344CB8AC3E}">
        <p14:creationId xmlns:p14="http://schemas.microsoft.com/office/powerpoint/2010/main" val="38834974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100000">
              <a:schemeClr val="bg1"/>
            </a:gs>
            <a:gs pos="43000">
              <a:srgbClr val="1E0000"/>
            </a:gs>
            <a:gs pos="0">
              <a:srgbClr val="440000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5733F300-0A4E-72B7-DE64-0D266581486E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t="-1" b="90593"/>
          <a:stretch/>
        </p:blipFill>
        <p:spPr>
          <a:xfrm>
            <a:off x="0" y="0"/>
            <a:ext cx="12192000" cy="769434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  <a:endParaRPr lang="en-AU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0E973E00-A12D-4309-BB0C-5DBFA5830906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205152-70D5-811E-385A-E03732D71908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8C820FA-D10F-B52A-49E6-ADA3FA488BA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30000"/>
            <a:biLevel thresh="7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2540220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4C11DD-A15C-4F20-5497-445A07C596AC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AF5C0C4-2700-5C2E-E243-A32AC6D7823C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0554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E11DD5-AE95-6FD5-F8ED-581EC2126623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CB93067-C2A8-9188-F67D-1811D395F548}"/>
              </a:ext>
            </a:extLst>
          </p:cNvPr>
          <p:cNvPicPr>
            <a:picLocks noChangeAspect="1"/>
          </p:cNvPicPr>
          <p:nvPr/>
        </p:nvPicPr>
        <p:blipFill>
          <a:blip r:embed="rId14">
            <a:biLevel thresh="50000"/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6734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pic>
        <p:nvPicPr>
          <p:cNvPr id="7" name="Picture 6" descr="Shape&#10;&#10;Description automatically generated with low confidence">
            <a:extLst>
              <a:ext uri="{FF2B5EF4-FFF2-40B4-BE49-F238E27FC236}">
                <a16:creationId xmlns:a16="http://schemas.microsoft.com/office/drawing/2014/main" id="{A7CC75FF-9724-8147-A0FC-729B7F64182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/>
          <a:stretch/>
        </p:blipFill>
        <p:spPr>
          <a:xfrm>
            <a:off x="1905000" y="0"/>
            <a:ext cx="10287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763C976-4323-BEC4-D794-29DE4A65855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0561454-5231-CD4C-E25B-2A0FBF4C7721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  <a:biLevel thresh="25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9955855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  <p:sldLayoutId id="2147483739" r:id="rId5"/>
    <p:sldLayoutId id="2147483740" r:id="rId6"/>
    <p:sldLayoutId id="2147483741" r:id="rId7"/>
    <p:sldLayoutId id="2147483742" r:id="rId8"/>
    <p:sldLayoutId id="2147483743" r:id="rId9"/>
    <p:sldLayoutId id="2147483744" r:id="rId10"/>
    <p:sldLayoutId id="2147483745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A6338CD-FB51-C544-9C7B-5E5A4109094C}" type="slidenum">
              <a:rPr lang="en-AU" smtClean="0"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ACC2F6B-FCEF-2A83-9D11-F99C242B3A0E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DCD787-14C6-1E61-13ED-101927EA526B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019740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ED6E24-8DEC-3744-9360-4F74DC4CCB8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23C2C9F-DCB7-A316-B061-B71274F85B8F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00798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AF743F-302A-D5A5-923F-4E3553F2D647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BE2B0E-C479-8999-813C-931896F81869}"/>
              </a:ext>
            </a:extLst>
          </p:cNvPr>
          <p:cNvPicPr>
            <a:picLocks noChangeAspect="1"/>
          </p:cNvPicPr>
          <p:nvPr/>
        </p:nvPicPr>
        <p:blipFill>
          <a:blip r:embed="rId14">
            <a:alphaModFix amt="16000"/>
          </a:blip>
          <a:stretch>
            <a:fillRect/>
          </a:stretch>
        </p:blipFill>
        <p:spPr>
          <a:xfrm>
            <a:off x="8942050" y="819947"/>
            <a:ext cx="3249950" cy="526861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959627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</p:sldLayoutIdLst>
  <p:transition spd="slow">
    <p:fade/>
  </p:transition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35D370-27CE-1543-DE20-99096E7ED37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7917601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7" r:id="rId1"/>
    <p:sldLayoutId id="2147483808" r:id="rId2"/>
    <p:sldLayoutId id="2147483809" r:id="rId3"/>
    <p:sldLayoutId id="2147483810" r:id="rId4"/>
    <p:sldLayoutId id="2147483811" r:id="rId5"/>
    <p:sldLayoutId id="2147483812" r:id="rId6"/>
    <p:sldLayoutId id="2147483813" r:id="rId7"/>
    <p:sldLayoutId id="2147483814" r:id="rId8"/>
    <p:sldLayoutId id="2147483815" r:id="rId9"/>
    <p:sldLayoutId id="2147483816" r:id="rId10"/>
    <p:sldLayoutId id="2147483817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Shape, rectangle&#10;&#10;Description automatically generated">
            <a:extLst>
              <a:ext uri="{FF2B5EF4-FFF2-40B4-BE49-F238E27FC236}">
                <a16:creationId xmlns:a16="http://schemas.microsoft.com/office/drawing/2014/main" id="{36171E2D-D81E-EA46-9D5C-D0B6971A59F6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22" b="1614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CA7F89-7143-E432-6480-FB158F149B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26784963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25" r:id="rId7"/>
    <p:sldLayoutId id="2147483826" r:id="rId8"/>
    <p:sldLayoutId id="2147483827" r:id="rId9"/>
    <p:sldLayoutId id="2147483828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r="98" b="1570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35C7F7-5515-9DD4-EE0B-1026F29427E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14427445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0" r:id="rId1"/>
    <p:sldLayoutId id="2147483831" r:id="rId2"/>
    <p:sldLayoutId id="2147483832" r:id="rId3"/>
    <p:sldLayoutId id="2147483833" r:id="rId4"/>
    <p:sldLayoutId id="2147483834" r:id="rId5"/>
    <p:sldLayoutId id="2147483835" r:id="rId6"/>
    <p:sldLayoutId id="2147483836" r:id="rId7"/>
    <p:sldLayoutId id="2147483837" r:id="rId8"/>
    <p:sldLayoutId id="2147483838" r:id="rId9"/>
    <p:sldLayoutId id="2147483839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A723EB-BC03-DD4E-9F7E-B3288E0DD892}"/>
              </a:ext>
            </a:extLst>
          </p:cNvPr>
          <p:cNvPicPr>
            <a:picLocks noChangeAspect="1"/>
          </p:cNvPicPr>
          <p:nvPr/>
        </p:nvPicPr>
        <p:blipFill rotWithShape="1">
          <a:blip r:embed="rId12"/>
          <a:srcRect l="680" t="15106" r="9315" b="9369"/>
          <a:stretch/>
        </p:blipFill>
        <p:spPr>
          <a:xfrm>
            <a:off x="-57876" y="0"/>
            <a:ext cx="12249875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r>
              <a:rPr lang="en-AU"/>
              <a:t>© Copyright North Metropolitan TAFE, Perth, Western Australia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327F613D-7A8E-3A48-AF4E-A19DD3719B48}" type="slidenum">
              <a:rPr lang="en-AU" smtClean="0"/>
              <a:pPr/>
              <a:t>‹#›</a:t>
            </a:fld>
            <a:endParaRPr lang="en-A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34ABB8-7D50-6384-C614-FB8D78343DD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6868781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>
              <a:lumMod val="9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9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Shape, rectangle&#10;&#10;Description automatically generated">
            <a:extLst>
              <a:ext uri="{FF2B5EF4-FFF2-40B4-BE49-F238E27FC236}">
                <a16:creationId xmlns:a16="http://schemas.microsoft.com/office/drawing/2014/main" id="{51AD53CD-BBDA-9043-A0EF-5709EA63C29B}"/>
              </a:ext>
            </a:extLst>
          </p:cNvPr>
          <p:cNvPicPr>
            <a:picLocks noChangeAspect="1"/>
          </p:cNvPicPr>
          <p:nvPr/>
        </p:nvPicPr>
        <p:blipFill rotWithShape="1">
          <a:blip r:embed="rId13"/>
          <a:srcRect l="1" r="786"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0B23FD3-C42A-5049-BED4-6D597AAF1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69434"/>
            <a:ext cx="10515600" cy="921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78AADD-B94A-7449-A94D-F4B994CD21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105BCA-FC40-2D43-8148-E17F20FFA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240875"/>
            <a:ext cx="41148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BC871-57B4-0845-886F-69B6961E9359}"/>
              </a:ext>
            </a:extLst>
          </p:cNvPr>
          <p:cNvSpPr>
            <a:spLocks noGrp="1" noChangeAspect="1"/>
          </p:cNvSpPr>
          <p:nvPr>
            <p:ph type="sldNum" sz="quarter" idx="4"/>
          </p:nvPr>
        </p:nvSpPr>
        <p:spPr>
          <a:xfrm>
            <a:off x="10273800" y="6240875"/>
            <a:ext cx="1080000" cy="50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chemeClr val="tx1">
                    <a:lumMod val="75000"/>
                  </a:schemeClr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defRPr>
            </a:lvl1pPr>
          </a:lstStyle>
          <a:p>
            <a:fld id="{4854181D-6920-4594-9A5D-6CE56DC9F8B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329E7-8084-71E1-C3DE-7E44BA3F9B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865813" y="63500"/>
            <a:ext cx="4889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U" sz="10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OFFICIAL</a:t>
            </a:r>
          </a:p>
        </p:txBody>
      </p:sp>
    </p:spTree>
    <p:extLst>
      <p:ext uri="{BB962C8B-B14F-4D97-AF65-F5344CB8AC3E}">
        <p14:creationId xmlns:p14="http://schemas.microsoft.com/office/powerpoint/2010/main" val="353681918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</p:sldLayoutIdLst>
  <p:transition spd="slow">
    <p:fad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6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32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bg1">
              <a:lumMod val="95000"/>
              <a:lumOff val="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6791"/>
            <a:ext cx="9144000" cy="1867973"/>
          </a:xfrm>
        </p:spPr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Visualising OOP</a:t>
            </a:r>
          </a:p>
        </p:txBody>
      </p:sp>
      <p:sp>
        <p:nvSpPr>
          <p:cNvPr id="29" name="Subtitle 28">
            <a:extLst>
              <a:ext uri="{FF2B5EF4-FFF2-40B4-BE49-F238E27FC236}">
                <a16:creationId xmlns:a16="http://schemas.microsoft.com/office/drawing/2014/main" id="{1C085F66-B097-8E41-C65E-FB613CEF61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17222"/>
            <a:ext cx="9144000" cy="1087102"/>
          </a:xfrm>
        </p:spPr>
        <p:txBody>
          <a:bodyPr>
            <a:normAutofit/>
          </a:bodyPr>
          <a:lstStyle/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80433223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73157-7D4C-4413-9455-A6DCBBD2F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Quick intro…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FA502-DEA4-4E56-A1A3-DFE5B334A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74265"/>
            <a:ext cx="10515600" cy="245899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lvl="2"/>
            <a:r>
              <a:rPr lang="en-AU" dirty="0">
                <a:cs typeface="Calibri"/>
              </a:rPr>
              <a:t>Web developer turned Software Developer</a:t>
            </a:r>
            <a:endParaRPr lang="en-AU" b="1" i="1" dirty="0">
              <a:cs typeface="Calibri"/>
            </a:endParaRPr>
          </a:p>
          <a:p>
            <a:pPr lvl="2"/>
            <a:r>
              <a:rPr lang="en-AU" dirty="0">
                <a:cs typeface="Calibri"/>
              </a:rPr>
              <a:t>Teach Python, JavaScript, PHP, Data Analysis &amp; Software Application Development</a:t>
            </a:r>
          </a:p>
          <a:p>
            <a:pPr lvl="2"/>
            <a:r>
              <a:rPr lang="en-AU" dirty="0">
                <a:cs typeface="Calibri"/>
              </a:rPr>
              <a:t>Cert III to Diploma level (Joondalup, East Perth and Northbridge)</a:t>
            </a:r>
          </a:p>
          <a:p>
            <a:pPr lvl="2">
              <a:buFont typeface="Courier New" panose="020B0604020202020204" pitchFamily="34" charset="0"/>
              <a:buChar char="o"/>
            </a:pPr>
            <a:endParaRPr lang="en-AU" dirty="0">
              <a:cs typeface="Calibri"/>
            </a:endParaRPr>
          </a:p>
          <a:p>
            <a:pPr marL="914400" lvl="2" indent="0">
              <a:buNone/>
            </a:pPr>
            <a:endParaRPr lang="en-AU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2025242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>
            <a:extLst>
              <a:ext uri="{FF2B5EF4-FFF2-40B4-BE49-F238E27FC236}">
                <a16:creationId xmlns:a16="http://schemas.microsoft.com/office/drawing/2014/main" id="{065F1D14-4430-FC90-3C26-E7C64BE2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br>
              <a:rPr lang="en-AU" dirty="0"/>
            </a:br>
            <a:r>
              <a:rPr lang="en-AU" dirty="0"/>
              <a:t>Staring early with OOP</a:t>
            </a:r>
          </a:p>
        </p:txBody>
      </p:sp>
    </p:spTree>
    <p:extLst>
      <p:ext uri="{BB962C8B-B14F-4D97-AF65-F5344CB8AC3E}">
        <p14:creationId xmlns:p14="http://schemas.microsoft.com/office/powerpoint/2010/main" val="1918315746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Are we there yet?</a:t>
            </a:r>
            <a:br>
              <a:rPr lang="en-US" dirty="0"/>
            </a:br>
            <a:endParaRPr lang="en-AU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D8133397-421C-E73E-0AD3-D4BD0115C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1804" y="2115257"/>
            <a:ext cx="9696629" cy="10413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3300" dirty="0">
                <a:latin typeface="+mj-lt"/>
              </a:rPr>
              <a:t>grappling with how to express logic in a new language</a:t>
            </a: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2F1A1C0-ABD3-0C5E-2C29-21ABF93D8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4888" y="1523494"/>
            <a:ext cx="6485878" cy="533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3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start with understanding the basics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1927C5-8917-C24F-249E-D34DE0706FC7}"/>
              </a:ext>
            </a:extLst>
          </p:cNvPr>
          <p:cNvSpPr txBox="1"/>
          <p:nvPr/>
        </p:nvSpPr>
        <p:spPr>
          <a:xfrm>
            <a:off x="921378" y="3329889"/>
            <a:ext cx="108918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</a:rPr>
              <a:t>gradually moving towards more complex </a:t>
            </a:r>
            <a:r>
              <a:rPr lang="en-US" altLang="en-US" sz="3300" dirty="0">
                <a:solidFill>
                  <a:srgbClr val="FFFFFF"/>
                </a:solidFill>
                <a:latin typeface="+mj-lt"/>
              </a:rPr>
              <a:t>code structure</a:t>
            </a:r>
            <a:r>
              <a: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Unicode MS"/>
                <a:ea typeface="+mn-ea"/>
                <a:cs typeface="+mn-cs"/>
              </a:rPr>
              <a:t>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47EFD8D-DD75-9B41-E06F-91D195E3FA4F}"/>
              </a:ext>
            </a:extLst>
          </p:cNvPr>
          <p:cNvSpPr txBox="1"/>
          <p:nvPr/>
        </p:nvSpPr>
        <p:spPr>
          <a:xfrm>
            <a:off x="921378" y="2666681"/>
            <a:ext cx="10891838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you might start with simple programs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C5A80A6-7A04-DA1E-5C92-0D8809FC0AEC}"/>
              </a:ext>
            </a:extLst>
          </p:cNvPr>
          <p:cNvSpPr txBox="1"/>
          <p:nvPr/>
        </p:nvSpPr>
        <p:spPr>
          <a:xfrm>
            <a:off x="921378" y="3993097"/>
            <a:ext cx="10975016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33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as you progress, you'll start to see common patterns of code. </a:t>
            </a:r>
          </a:p>
        </p:txBody>
      </p:sp>
    </p:spTree>
    <p:extLst>
      <p:ext uri="{BB962C8B-B14F-4D97-AF65-F5344CB8AC3E}">
        <p14:creationId xmlns:p14="http://schemas.microsoft.com/office/powerpoint/2010/main" val="10778274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1" grpId="0"/>
      <p:bldP spid="13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Benefits of OOP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1055971" y="5626901"/>
            <a:ext cx="563740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3200" b="1" i="1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Consider your use of API’s…</a:t>
            </a: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8BFB1A8C-DE63-CB3B-8116-D782887A6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141" y="1682727"/>
            <a:ext cx="7070271" cy="887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Code can be broken down into pieces that are easier to manage </a:t>
            </a:r>
            <a:r>
              <a:rPr lang="en-US" altLang="en-US" sz="2800" dirty="0">
                <a:latin typeface="+mj-lt"/>
              </a:rPr>
              <a:t>&amp;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debug. </a:t>
            </a:r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585182BF-15F8-1EDC-713C-C0B6AF638D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141" y="2488318"/>
            <a:ext cx="5607231" cy="887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latin typeface="+mj-lt"/>
              </a:rPr>
              <a:t>Code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created for one program can be used in other programs</a:t>
            </a:r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A28D103D-2445-D866-364E-ABD4209EFF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482" y="3306216"/>
            <a:ext cx="6234249" cy="887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Hiding code helps keep data safe from outside interference and misuse. </a:t>
            </a:r>
          </a:p>
        </p:txBody>
      </p:sp>
      <p:sp>
        <p:nvSpPr>
          <p:cNvPr id="14" name="Rectangle 4">
            <a:extLst>
              <a:ext uri="{FF2B5EF4-FFF2-40B4-BE49-F238E27FC236}">
                <a16:creationId xmlns:a16="http://schemas.microsoft.com/office/drawing/2014/main" id="{7C20C767-3948-743C-3C4C-B2459E7984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6141" y="4112195"/>
            <a:ext cx="6103620" cy="13183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Allows a single access point </a:t>
            </a:r>
            <a:r>
              <a:rPr lang="en-US" altLang="en-US" sz="2800" dirty="0">
                <a:latin typeface="+mj-lt"/>
              </a:rPr>
              <a:t>route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to code making it more flexible and usable on a larger scale. </a:t>
            </a:r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CD28BDEA-6B50-6AAE-40F7-90C54F0FEE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7943925"/>
              </p:ext>
            </p:extLst>
          </p:nvPr>
        </p:nvGraphicFramePr>
        <p:xfrm>
          <a:off x="7437702" y="1669724"/>
          <a:ext cx="4256706" cy="35185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102098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2" grpId="0"/>
      <p:bldP spid="13" grpId="0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Variables </a:t>
            </a:r>
            <a:r>
              <a:rPr lang="en-AU" b="1" i="1" dirty="0"/>
              <a:t>aka</a:t>
            </a:r>
            <a:r>
              <a:rPr lang="en-AU" b="1" dirty="0"/>
              <a:t> Attributes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DE58D5-B0FF-9DD0-350C-1FD89562B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230060"/>
            <a:ext cx="6602641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Declaration -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assigning a value to </a:t>
            </a:r>
            <a:r>
              <a:rPr lang="en-US" altLang="en-US" sz="2800" dirty="0">
                <a:latin typeface="+mj-lt"/>
              </a:rPr>
              <a:t>a property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EDB2BBE-FC15-01F6-CEB8-E6E03E15E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3044395"/>
            <a:ext cx="5263813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Types –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attributes can have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several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A38DD76-B78A-0A46-7FA1-CA5B272C3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3883122"/>
            <a:ext cx="5580951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Attributes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can be used in expressions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A85E6-2037-8534-2CF0-0C9F10232A4E}"/>
              </a:ext>
            </a:extLst>
          </p:cNvPr>
          <p:cNvSpPr txBox="1"/>
          <p:nvPr/>
        </p:nvSpPr>
        <p:spPr>
          <a:xfrm>
            <a:off x="8692244" y="2344239"/>
            <a:ext cx="26615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endParaRPr lang="pl-P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l-PL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"Hello"</a:t>
            </a:r>
            <a:endParaRPr lang="pl-P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l-PL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l-PL" sz="24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endParaRPr lang="pl-PL" sz="24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pl-PL" sz="24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l-PL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z</a:t>
            </a:r>
            <a:r>
              <a:rPr lang="pl-PL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034496497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Collections – </a:t>
            </a:r>
            <a:r>
              <a:rPr lang="en-AU" b="1" i="1" dirty="0"/>
              <a:t>but</a:t>
            </a:r>
            <a:r>
              <a:rPr lang="en-AU" b="1" dirty="0"/>
              <a:t> in 2D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DE58D5-B0FF-9DD0-350C-1FD89562B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103666"/>
            <a:ext cx="4316246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AU" altLang="en-US" sz="2800" dirty="0">
                <a:latin typeface="+mj-lt"/>
              </a:rPr>
              <a:t>Lists - ordered &amp; changeable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EDB2BBE-FC15-01F6-CEB8-E6E03E15E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716141"/>
            <a:ext cx="4532266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AU" sz="2800" i="0" dirty="0">
                <a:effectLst/>
                <a:latin typeface="+mj-lt"/>
              </a:rPr>
              <a:t>Tuples</a:t>
            </a:r>
            <a:r>
              <a:rPr lang="en-AU" sz="2800" dirty="0">
                <a:latin typeface="+mj-lt"/>
              </a:rPr>
              <a:t> - o</a:t>
            </a:r>
            <a:r>
              <a:rPr lang="en-AU" sz="2800" b="0" i="0" dirty="0">
                <a:effectLst/>
                <a:latin typeface="+mj-lt"/>
              </a:rPr>
              <a:t>rdered &amp; immutable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A38DD76-B78A-0A46-7FA1-CA5B272C3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3259248"/>
            <a:ext cx="5965095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Dictionaries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- </a:t>
            </a:r>
            <a:r>
              <a:rPr kumimoji="0" lang="en-AU" altLang="en-US" sz="28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latin typeface="+mj-lt"/>
              </a:rPr>
              <a:t>u</a:t>
            </a:r>
            <a:r>
              <a:rPr lang="en-AU" sz="2800" b="0" i="0" dirty="0">
                <a:effectLst/>
                <a:latin typeface="+mj-lt"/>
              </a:rPr>
              <a:t>nordered key-value pairs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A85E6-2037-8534-2CF0-0C9F10232A4E}"/>
              </a:ext>
            </a:extLst>
          </p:cNvPr>
          <p:cNvSpPr txBox="1"/>
          <p:nvPr/>
        </p:nvSpPr>
        <p:spPr>
          <a:xfrm>
            <a:off x="7027818" y="1792171"/>
            <a:ext cx="500795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0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20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"name"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"organisation"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"XYZ Corp"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"location"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"Perth"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sz="20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is_client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20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"projects"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 Alpha"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"2024-		01-01"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"2024-06-30"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[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 Beta"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"2024-07-	01"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20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"2024-12-31"</a:t>
            </a:r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r>
              <a:rPr lang="en-AU" sz="20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9152148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Classes – Our blueprint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DE58D5-B0FF-9DD0-350C-1FD89562B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103666"/>
            <a:ext cx="4408515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2800" dirty="0"/>
              <a:t>blueprint for creating objects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EDB2BBE-FC15-01F6-CEB8-E6E03E15E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716141"/>
            <a:ext cx="5594480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2800" dirty="0"/>
              <a:t>defines a set of attributes &amp; methods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A38DD76-B78A-0A46-7FA1-CA5B272C3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3290025"/>
            <a:ext cx="5410135" cy="3949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AU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creates our objects when we ask them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A85E6-2037-8534-2CF0-0C9F10232A4E}"/>
              </a:ext>
            </a:extLst>
          </p:cNvPr>
          <p:cNvSpPr txBox="1"/>
          <p:nvPr/>
        </p:nvSpPr>
        <p:spPr>
          <a:xfrm>
            <a:off x="7053943" y="1536174"/>
            <a:ext cx="48985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dirty="0">
                <a:solidFill>
                  <a:srgbClr val="6A9955"/>
                </a:solidFill>
                <a:latin typeface="Consolas" panose="020B0609020204030204" pitchFamily="49" charset="0"/>
              </a:rPr>
              <a:t># Declaration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AU" dirty="0">
                <a:solidFill>
                  <a:srgbClr val="569CD6"/>
                </a:solidFill>
                <a:latin typeface="Consolas" panose="020B0609020204030204" pitchFamily="49" charset="0"/>
              </a:rPr>
              <a:t>class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dirty="0">
                <a:solidFill>
                  <a:srgbClr val="4EC9B0"/>
                </a:solidFill>
                <a:latin typeface="Consolas" panose="020B0609020204030204" pitchFamily="49" charset="0"/>
              </a:rPr>
              <a:t>Organisation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:</a:t>
            </a:r>
          </a:p>
          <a:p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AU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AU" dirty="0" err="1">
                <a:solidFill>
                  <a:srgbClr val="DCDCAA"/>
                </a:solidFill>
                <a:latin typeface="Consolas" panose="020B0609020204030204" pitchFamily="49" charset="0"/>
              </a:rPr>
              <a:t>init</a:t>
            </a:r>
            <a:r>
              <a:rPr lang="en-AU" dirty="0">
                <a:solidFill>
                  <a:srgbClr val="DCDCAA"/>
                </a:solidFill>
                <a:latin typeface="Consolas" panose="020B0609020204030204" pitchFamily="49" charset="0"/>
              </a:rPr>
              <a:t>__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, 		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location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AU" dirty="0">
                <a:solidFill>
                  <a:srgbClr val="6A9955"/>
                </a:solidFill>
                <a:latin typeface="Consolas" panose="020B0609020204030204" pitchFamily="49" charset="0"/>
              </a:rPr>
              <a:t># Attributes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AU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AU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AU" dirty="0" err="1">
                <a:solidFill>
                  <a:srgbClr val="9CDCFE"/>
                </a:solidFill>
                <a:latin typeface="Consolas" panose="020B0609020204030204" pitchFamily="49" charset="0"/>
              </a:rPr>
              <a:t>location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location</a:t>
            </a:r>
          </a:p>
          <a:p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AU" dirty="0">
                <a:solidFill>
                  <a:srgbClr val="6A9955"/>
                </a:solidFill>
                <a:latin typeface="Consolas" panose="020B0609020204030204" pitchFamily="49" charset="0"/>
              </a:rPr>
              <a:t># Methods</a:t>
            </a:r>
            <a:endParaRPr lang="en-AU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    </a:t>
            </a:r>
            <a:r>
              <a:rPr lang="en-AU" dirty="0">
                <a:solidFill>
                  <a:srgbClr val="569CD6"/>
                </a:solidFill>
                <a:latin typeface="Consolas" panose="020B0609020204030204" pitchFamily="49" charset="0"/>
              </a:rPr>
              <a:t>def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dirty="0" err="1">
                <a:solidFill>
                  <a:srgbClr val="DCDCAA"/>
                </a:solidFill>
                <a:latin typeface="Consolas" panose="020B0609020204030204" pitchFamily="49" charset="0"/>
              </a:rPr>
              <a:t>display_info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):</a:t>
            </a:r>
          </a:p>
          <a:p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        </a:t>
            </a:r>
            <a:r>
              <a:rPr lang="en-AU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AU" dirty="0" err="1">
                <a:solidFill>
                  <a:srgbClr val="569CD6"/>
                </a:solidFill>
                <a:latin typeface="Consolas" panose="020B0609020204030204" pitchFamily="49" charset="0"/>
              </a:rPr>
              <a:t>f</a:t>
            </a:r>
            <a:r>
              <a:rPr lang="en-AU" dirty="0" err="1">
                <a:solidFill>
                  <a:srgbClr val="CE9178"/>
                </a:solidFill>
                <a:latin typeface="Consolas" panose="020B0609020204030204" pitchFamily="49" charset="0"/>
              </a:rPr>
              <a:t>"Organisation</a:t>
            </a:r>
            <a:r>
              <a:rPr lang="en-AU" dirty="0">
                <a:solidFill>
                  <a:srgbClr val="CE9178"/>
                </a:solidFill>
                <a:latin typeface="Consolas" panose="020B0609020204030204" pitchFamily="49" charset="0"/>
              </a:rPr>
              <a:t>: 			</a:t>
            </a:r>
            <a:r>
              <a:rPr lang="en-AU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AU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AU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AU" dirty="0">
                <a:solidFill>
                  <a:srgbClr val="CE9178"/>
                </a:solidFill>
                <a:latin typeface="Consolas" panose="020B0609020204030204" pitchFamily="49" charset="0"/>
              </a:rPr>
              <a:t>, Location: 		</a:t>
            </a:r>
            <a:r>
              <a:rPr lang="en-AU" dirty="0">
                <a:solidFill>
                  <a:srgbClr val="569CD6"/>
                </a:solidFill>
                <a:latin typeface="Consolas" panose="020B0609020204030204" pitchFamily="49" charset="0"/>
              </a:rPr>
              <a:t>{</a:t>
            </a:r>
            <a:r>
              <a:rPr lang="en-AU" dirty="0" err="1">
                <a:solidFill>
                  <a:srgbClr val="9CDCFE"/>
                </a:solidFill>
                <a:latin typeface="Consolas" panose="020B0609020204030204" pitchFamily="49" charset="0"/>
              </a:rPr>
              <a:t>self</a:t>
            </a:r>
            <a:r>
              <a:rPr lang="en-AU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AU" dirty="0" err="1">
                <a:solidFill>
                  <a:srgbClr val="9CDCFE"/>
                </a:solidFill>
                <a:latin typeface="Consolas" panose="020B0609020204030204" pitchFamily="49" charset="0"/>
              </a:rPr>
              <a:t>location</a:t>
            </a:r>
            <a:r>
              <a:rPr lang="en-AU" dirty="0">
                <a:solidFill>
                  <a:srgbClr val="569CD6"/>
                </a:solidFill>
                <a:latin typeface="Consolas" panose="020B0609020204030204" pitchFamily="49" charset="0"/>
              </a:rPr>
              <a:t>}</a:t>
            </a:r>
            <a:r>
              <a:rPr lang="en-AU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AU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0644041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Creating our Object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DE58D5-B0FF-9DD0-350C-1FD89562B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103666"/>
            <a:ext cx="6780831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2800" dirty="0"/>
              <a:t>an instance of a class has its own unique data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EDB2BBE-FC15-01F6-CEB8-E6E03E15E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716141"/>
            <a:ext cx="9046515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2800" dirty="0"/>
              <a:t>instance is created by calling the class as if it were a function</a:t>
            </a:r>
            <a:r>
              <a:rPr lang="en-AU" sz="2800" dirty="0">
                <a:latin typeface="SegoeUIVariable"/>
              </a:rPr>
              <a:t>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A38DD76-B78A-0A46-7FA1-CA5B272C3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3259248"/>
            <a:ext cx="9455152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AU" altLang="en-US" sz="2800" dirty="0"/>
              <a:t>a</a:t>
            </a:r>
            <a:r>
              <a:rPr kumimoji="0" lang="en-AU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ttributes of the instance can be accessed by using dot notation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A85E6-2037-8534-2CF0-0C9F10232A4E}"/>
              </a:ext>
            </a:extLst>
          </p:cNvPr>
          <p:cNvSpPr txBox="1"/>
          <p:nvPr/>
        </p:nvSpPr>
        <p:spPr>
          <a:xfrm>
            <a:off x="1149531" y="4571950"/>
            <a:ext cx="73152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9CDCFE"/>
                </a:solidFill>
                <a:latin typeface="Consolas" panose="020B0609020204030204" pitchFamily="49" charset="0"/>
              </a:rPr>
              <a:t>org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sz="2400" dirty="0">
                <a:solidFill>
                  <a:srgbClr val="D4D4D4"/>
                </a:solidFill>
                <a:latin typeface="Consolas" panose="020B0609020204030204" pitchFamily="49" charset="0"/>
              </a:rPr>
              <a:t>=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en-AU" sz="2400" dirty="0">
                <a:solidFill>
                  <a:srgbClr val="4EC9B0"/>
                </a:solidFill>
                <a:latin typeface="Consolas" panose="020B0609020204030204" pitchFamily="49" charset="0"/>
              </a:rPr>
              <a:t>Organisation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AU" sz="2400" dirty="0">
                <a:solidFill>
                  <a:srgbClr val="CE9178"/>
                </a:solidFill>
                <a:latin typeface="Consolas" panose="020B0609020204030204" pitchFamily="49" charset="0"/>
              </a:rPr>
              <a:t>"XYZ </a:t>
            </a:r>
            <a:r>
              <a:rPr lang="en-AU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Corp"</a:t>
            </a:r>
            <a:r>
              <a:rPr lang="en-AU" sz="2400" dirty="0" err="1">
                <a:solidFill>
                  <a:srgbClr val="CCCCCC"/>
                </a:solidFill>
                <a:latin typeface="Consolas" panose="020B0609020204030204" pitchFamily="49" charset="0"/>
              </a:rPr>
              <a:t>,</a:t>
            </a:r>
            <a:r>
              <a:rPr lang="en-AU" sz="2400" dirty="0" err="1">
                <a:solidFill>
                  <a:srgbClr val="CE9178"/>
                </a:solidFill>
                <a:latin typeface="Consolas" panose="020B0609020204030204" pitchFamily="49" charset="0"/>
              </a:rPr>
              <a:t>"Perth</a:t>
            </a:r>
            <a:r>
              <a:rPr lang="en-AU" sz="2400" dirty="0">
                <a:solidFill>
                  <a:srgbClr val="CE9178"/>
                </a:solidFill>
                <a:latin typeface="Consolas" panose="020B0609020204030204" pitchFamily="49" charset="0"/>
              </a:rPr>
              <a:t>"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en-AU" sz="2400" dirty="0">
                <a:solidFill>
                  <a:srgbClr val="DCDCAA"/>
                </a:solidFill>
                <a:latin typeface="Consolas" panose="020B0609020204030204" pitchFamily="49" charset="0"/>
              </a:rPr>
              <a:t>print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(</a:t>
            </a:r>
            <a:r>
              <a:rPr lang="en-AU" sz="2400" dirty="0">
                <a:solidFill>
                  <a:srgbClr val="9CDCFE"/>
                </a:solidFill>
                <a:latin typeface="Consolas" panose="020B0609020204030204" pitchFamily="49" charset="0"/>
              </a:rPr>
              <a:t>org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AU" sz="24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287713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Handling the Object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DE58D5-B0FF-9DD0-350C-1FD89562B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103666"/>
            <a:ext cx="9001439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2800" dirty="0"/>
              <a:t>contains properties (attributes) and behaviours (methods).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EDB2BBE-FC15-01F6-CEB8-E6E03E15E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735289"/>
            <a:ext cx="10204269" cy="887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properties </a:t>
            </a:r>
            <a:r>
              <a:rPr lang="en-AU" sz="2800" dirty="0"/>
              <a:t>- data stored in the object e.g. </a:t>
            </a:r>
            <a:r>
              <a:rPr lang="en-AU" sz="2400" dirty="0">
                <a:solidFill>
                  <a:srgbClr val="9CDCFE"/>
                </a:solidFill>
                <a:latin typeface="Consolas" panose="020B0609020204030204" pitchFamily="49" charset="0"/>
              </a:rPr>
              <a:t>org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AU" sz="2400" dirty="0">
                <a:solidFill>
                  <a:srgbClr val="9CDCFE"/>
                </a:solidFill>
                <a:latin typeface="Consolas" panose="020B0609020204030204" pitchFamily="49" charset="0"/>
              </a:rPr>
              <a:t>name</a:t>
            </a:r>
            <a:endParaRPr lang="en-AU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A38DD76-B78A-0A46-7FA1-CA5B272C3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3469889"/>
            <a:ext cx="8283486" cy="1256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behaviours</a:t>
            </a:r>
            <a:r>
              <a:rPr lang="en-AU" sz="2800" dirty="0"/>
              <a:t> - the actions that the object can perform, </a:t>
            </a:r>
          </a:p>
          <a:p>
            <a:r>
              <a:rPr lang="en-AU" sz="2800" dirty="0"/>
              <a:t>	defined by its methods e.g</a:t>
            </a:r>
            <a:r>
              <a:rPr lang="en-AU" dirty="0"/>
              <a:t>. </a:t>
            </a:r>
            <a:r>
              <a:rPr lang="en-AU" sz="2400" dirty="0" err="1">
                <a:solidFill>
                  <a:srgbClr val="9CDCFE"/>
                </a:solidFill>
                <a:latin typeface="Consolas" panose="020B0609020204030204" pitchFamily="49" charset="0"/>
              </a:rPr>
              <a:t>org</a:t>
            </a:r>
            <a:r>
              <a:rPr lang="en-AU" sz="2400" dirty="0" err="1">
                <a:solidFill>
                  <a:srgbClr val="CCCCCC"/>
                </a:solidFill>
                <a:latin typeface="Consolas" panose="020B0609020204030204" pitchFamily="49" charset="0"/>
              </a:rPr>
              <a:t>.</a:t>
            </a:r>
            <a:r>
              <a:rPr lang="en-AU" sz="2400" dirty="0" err="1">
                <a:solidFill>
                  <a:srgbClr val="DCDCAA"/>
                </a:solidFill>
                <a:latin typeface="Consolas" panose="020B0609020204030204" pitchFamily="49" charset="0"/>
              </a:rPr>
              <a:t>display_info</a:t>
            </a:r>
            <a:r>
              <a:rPr lang="en-AU" sz="2400" dirty="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FA85E6-2037-8534-2CF0-0C9F10232A4E}"/>
              </a:ext>
            </a:extLst>
          </p:cNvPr>
          <p:cNvSpPr txBox="1"/>
          <p:nvPr/>
        </p:nvSpPr>
        <p:spPr>
          <a:xfrm>
            <a:off x="1018903" y="4945579"/>
            <a:ext cx="735438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sz="24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AU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24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24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Organisation</a:t>
            </a:r>
            <a:r>
              <a:rPr lang="en-AU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"XYZ Corp"</a:t>
            </a:r>
            <a:r>
              <a:rPr lang="en-AU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24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"Perth"</a:t>
            </a:r>
            <a:r>
              <a:rPr lang="en-AU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24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AU" sz="24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24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display_info</a:t>
            </a:r>
            <a:r>
              <a:rPr lang="en-AU" sz="24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80606494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4 Pillars of OOP</a:t>
            </a:r>
            <a:endParaRPr lang="en-AU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DE58D5-B0FF-9DD0-350C-1FD89562B9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103666"/>
            <a:ext cx="9555629" cy="4565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AU" sz="2800" b="1" dirty="0"/>
              <a:t>Encapsulation</a:t>
            </a:r>
            <a:r>
              <a:rPr lang="en-AU" sz="2800" dirty="0"/>
              <a:t> - wrapping up methods &amp; attributes in a class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EDB2BBE-FC15-01F6-CEB8-E6E03E15EE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2735289"/>
            <a:ext cx="10204269" cy="887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Abstraction </a:t>
            </a:r>
            <a:r>
              <a:rPr lang="en-AU" sz="2800" dirty="0"/>
              <a:t>– only showing the essential attributes &amp; methods</a:t>
            </a:r>
            <a:endParaRPr lang="en-AU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7A38DD76-B78A-0A46-7FA1-CA5B272C3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3429000"/>
            <a:ext cx="8539454" cy="825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Inheritance</a:t>
            </a:r>
            <a:r>
              <a:rPr lang="en-AU" sz="2800" dirty="0"/>
              <a:t> – creating new classes from existing classes</a:t>
            </a:r>
            <a:endParaRPr lang="en-AU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1CD6091-9735-55FE-C9EA-A9B4988608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9531" y="4038931"/>
            <a:ext cx="10515600" cy="1256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sz="2800" b="1" dirty="0"/>
              <a:t>Polymorphism</a:t>
            </a:r>
            <a:r>
              <a:rPr lang="en-AU" sz="2800" dirty="0"/>
              <a:t> – a class to handle multiple different </a:t>
            </a:r>
          </a:p>
          <a:p>
            <a:pPr lvl="6"/>
            <a:r>
              <a:rPr lang="en-AU" sz="2800" dirty="0"/>
              <a:t>	properties &amp; behaviours</a:t>
            </a:r>
            <a:endParaRPr lang="en-AU" sz="2400" dirty="0">
              <a:solidFill>
                <a:srgbClr val="CCCCCC"/>
              </a:solidFill>
              <a:latin typeface="Consolas" panose="020B0609020204030204" pitchFamily="49" charset="0"/>
            </a:endParaRPr>
          </a:p>
          <a:p>
            <a:pPr marL="171450" lvl="0" indent="-1714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38638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0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Encapsulation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7183"/>
            <a:ext cx="10160726" cy="2971388"/>
          </a:xfrm>
        </p:spPr>
        <p:txBody>
          <a:bodyPr>
            <a:normAutofit/>
          </a:bodyPr>
          <a:lstStyle/>
          <a:p>
            <a:r>
              <a:rPr lang="en-AU" sz="3200" b="0" i="0" dirty="0">
                <a:effectLst/>
                <a:latin typeface="+mj-lt"/>
              </a:rPr>
              <a:t>bundling of data (attributes) &amp; methods that act on that data into a single place (a class). </a:t>
            </a:r>
          </a:p>
          <a:p>
            <a:r>
              <a:rPr lang="en-AU" sz="3200" dirty="0">
                <a:latin typeface="+mj-lt"/>
              </a:rPr>
              <a:t>data is secure as it can only be accessed through the attributes &amp; methods of the class</a:t>
            </a:r>
          </a:p>
          <a:p>
            <a:r>
              <a:rPr lang="en-AU" sz="3200" dirty="0">
                <a:latin typeface="+mj-lt"/>
              </a:rPr>
              <a:t>gives us a reusable template to use throughout our code</a:t>
            </a:r>
          </a:p>
        </p:txBody>
      </p:sp>
    </p:spTree>
    <p:extLst>
      <p:ext uri="{BB962C8B-B14F-4D97-AF65-F5344CB8AC3E}">
        <p14:creationId xmlns:p14="http://schemas.microsoft.com/office/powerpoint/2010/main" val="2128482695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Encapsulation in code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955765" y="1690688"/>
            <a:ext cx="10670177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Organisation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A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 property (a </a:t>
            </a:r>
            <a:r>
              <a:rPr lang="en-A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colored</a:t>
            </a: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ball in the jar)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another property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display_info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</a:t>
            </a: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 method (another </a:t>
            </a:r>
            <a:r>
              <a:rPr lang="en-A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colored</a:t>
            </a: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ball)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U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"Organisation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Location: 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Creating an instance of Organisation (the jar)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Organisation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"XYZ Corp"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"Perth"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Accessing properties and methods (looking at the </a:t>
            </a:r>
            <a:r>
              <a:rPr lang="en-AU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colored</a:t>
            </a:r>
            <a:r>
              <a:rPr lang="en-AU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balls in the jar)</a:t>
            </a:r>
            <a:endParaRPr lang="en-AU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A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org</a:t>
            </a:r>
            <a:r>
              <a:rPr lang="en-AU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display_info</a:t>
            </a:r>
            <a:r>
              <a:rPr lang="en-AU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  <a:p>
            <a:br>
              <a:rPr lang="en-AU" b="0" dirty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</a:br>
            <a:endParaRPr lang="en-AU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545627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Inheritance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7183"/>
            <a:ext cx="10160726" cy="2971388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+mj-lt"/>
              </a:rPr>
              <a:t>o</a:t>
            </a:r>
            <a:r>
              <a:rPr lang="en-AU" sz="3200" b="0" i="0" dirty="0">
                <a:effectLst/>
                <a:latin typeface="+mj-lt"/>
              </a:rPr>
              <a:t>ne class can use the attributes &amp; behaviours of another (parent/child)</a:t>
            </a:r>
          </a:p>
          <a:p>
            <a:r>
              <a:rPr lang="en-AU" sz="3200" dirty="0">
                <a:latin typeface="+mj-lt"/>
              </a:rPr>
              <a:t>code can simply be reused &amp; not re-written</a:t>
            </a:r>
          </a:p>
          <a:p>
            <a:r>
              <a:rPr lang="en-AU" sz="3200" dirty="0">
                <a:latin typeface="+mj-lt"/>
              </a:rPr>
              <a:t>the new class(child) is free to have its own properties &amp; behaviours</a:t>
            </a:r>
          </a:p>
        </p:txBody>
      </p:sp>
    </p:spTree>
    <p:extLst>
      <p:ext uri="{BB962C8B-B14F-4D97-AF65-F5344CB8AC3E}">
        <p14:creationId xmlns:p14="http://schemas.microsoft.com/office/powerpoint/2010/main" val="2404562749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6109"/>
            <a:ext cx="10515600" cy="921254"/>
          </a:xfrm>
        </p:spPr>
        <p:txBody>
          <a:bodyPr/>
          <a:lstStyle/>
          <a:p>
            <a:r>
              <a:rPr lang="en-AU" b="1" dirty="0"/>
              <a:t>Inheritance in Code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0" y="1039698"/>
            <a:ext cx="10670177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Organisation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Contact is a subclass of Organisation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is_client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Inherits properties from Organisation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 new property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is_client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is_client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 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another new property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display_contact_info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  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This is a new method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client_status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 client"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is_client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"not a client"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"Contact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contact_name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client_status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of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display_contact_type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"Client"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is_client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"Non-client"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Creating an instance of Contact (the smaller jar)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"XYZ Corp"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"Perth"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Accessing properties and methods (looking at the </a:t>
            </a:r>
            <a:r>
              <a:rPr lang="en-AU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colored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balls in the jar)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is_client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display_contact_info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AU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922789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Abstraction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7183"/>
            <a:ext cx="10160726" cy="2971388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+mj-lt"/>
              </a:rPr>
              <a:t>hide certain important behaviours &amp; attributes</a:t>
            </a:r>
            <a:endParaRPr lang="en-AU" sz="3200" b="0" i="0" dirty="0">
              <a:effectLst/>
              <a:latin typeface="+mj-lt"/>
            </a:endParaRPr>
          </a:p>
          <a:p>
            <a:r>
              <a:rPr lang="en-AU" sz="3200" dirty="0">
                <a:latin typeface="+mj-lt"/>
              </a:rPr>
              <a:t>child class only see what it requires (inheritance)</a:t>
            </a:r>
          </a:p>
          <a:p>
            <a:r>
              <a:rPr lang="en-AU" sz="3200" dirty="0">
                <a:latin typeface="+mj-lt"/>
              </a:rPr>
              <a:t>child class can override (re-write what in inherits)</a:t>
            </a:r>
          </a:p>
          <a:p>
            <a:r>
              <a:rPr lang="en-AU" sz="3200" dirty="0">
                <a:latin typeface="+mj-lt"/>
              </a:rPr>
              <a:t>hides complexity but allows for reuse</a:t>
            </a:r>
          </a:p>
        </p:txBody>
      </p:sp>
    </p:spTree>
    <p:extLst>
      <p:ext uri="{BB962C8B-B14F-4D97-AF65-F5344CB8AC3E}">
        <p14:creationId xmlns:p14="http://schemas.microsoft.com/office/powerpoint/2010/main" val="1462761755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177"/>
            <a:ext cx="10515600" cy="921254"/>
          </a:xfrm>
        </p:spPr>
        <p:txBody>
          <a:bodyPr/>
          <a:lstStyle/>
          <a:p>
            <a:r>
              <a:rPr lang="en-AU" b="1" dirty="0"/>
              <a:t>Abstraction in Code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0" y="1337991"/>
            <a:ext cx="10670177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Organisation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super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Overriding the </a:t>
            </a:r>
            <a:r>
              <a:rPr lang="en-AU" sz="1600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display_info</a:t>
            </a: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method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Organisation: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Location: 			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location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Creating an instance of Project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"XYZ Corp"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"Perth"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 Alpha"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Displaying project info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AU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9029701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/>
              <a:t>Polymorphism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FA97-0C20-4F2D-99D9-17821E1BBA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7183"/>
            <a:ext cx="10160726" cy="2971388"/>
          </a:xfrm>
        </p:spPr>
        <p:txBody>
          <a:bodyPr>
            <a:normAutofit/>
          </a:bodyPr>
          <a:lstStyle/>
          <a:p>
            <a:r>
              <a:rPr lang="en-AU" sz="3200" dirty="0">
                <a:latin typeface="+mj-lt"/>
              </a:rPr>
              <a:t>o</a:t>
            </a:r>
            <a:r>
              <a:rPr lang="en-AU" sz="3200" b="0" i="0" dirty="0">
                <a:effectLst/>
                <a:latin typeface="+mj-lt"/>
              </a:rPr>
              <a:t>ne class can use the attributes &amp; behaviours of another (parent/child)</a:t>
            </a:r>
          </a:p>
          <a:p>
            <a:r>
              <a:rPr lang="en-AU" sz="3200" dirty="0">
                <a:latin typeface="+mj-lt"/>
              </a:rPr>
              <a:t>code can simply be reused &amp; not re-written</a:t>
            </a:r>
          </a:p>
          <a:p>
            <a:r>
              <a:rPr lang="en-AU" sz="3200" dirty="0">
                <a:latin typeface="+mj-lt"/>
              </a:rPr>
              <a:t>the new class(child) is free to have its own properties &amp; behaviours</a:t>
            </a:r>
          </a:p>
        </p:txBody>
      </p:sp>
    </p:spTree>
    <p:extLst>
      <p:ext uri="{BB962C8B-B14F-4D97-AF65-F5344CB8AC3E}">
        <p14:creationId xmlns:p14="http://schemas.microsoft.com/office/powerpoint/2010/main" val="210199603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B73F8-9869-4DBF-B757-7F9EFC3F4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177"/>
            <a:ext cx="10515600" cy="921254"/>
          </a:xfrm>
        </p:spPr>
        <p:txBody>
          <a:bodyPr/>
          <a:lstStyle/>
          <a:p>
            <a:r>
              <a:rPr lang="en-AU" b="1" dirty="0"/>
              <a:t>Polymorphism in Code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3D9BF-FA8C-EDAF-5D2E-1959EDF05EC1}"/>
              </a:ext>
            </a:extLst>
          </p:cNvPr>
          <p:cNvSpPr txBox="1"/>
          <p:nvPr/>
        </p:nvSpPr>
        <p:spPr>
          <a:xfrm>
            <a:off x="838200" y="1086844"/>
            <a:ext cx="10670177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init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__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display_project_info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n-AU" sz="16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project_name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Contact: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.contact_name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, Type: 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self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.display_contact_type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AU" sz="16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Creating instances of Contact and Project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client_contact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"XYZ Corp"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"Perth"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"John Doe"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non_client_contact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"XYZ Corp"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"Perth"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"Jane Doe"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>
                <a:solidFill>
                  <a:srgbClr val="4FC1FF"/>
                </a:solidFill>
                <a:effectLst/>
                <a:latin typeface="Consolas" panose="020B0609020204030204" pitchFamily="49" charset="0"/>
              </a:rPr>
              <a:t>False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project1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 Alpha"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client_contact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project2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AU" sz="16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Project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AU" sz="16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"Project Beta"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AU" sz="16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non_client_contact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n-AU" sz="16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Displaying project info</a:t>
            </a:r>
            <a:endParaRPr lang="en-AU" sz="16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project1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display_project_info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AU" sz="16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project2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AU" sz="16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display_project_info</a:t>
            </a:r>
            <a:r>
              <a:rPr lang="en-AU" sz="16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endParaRPr lang="en-AU" sz="1600" b="0" dirty="0">
              <a:solidFill>
                <a:srgbClr val="D4D4D4"/>
              </a:solidFill>
              <a:effectLst/>
              <a:latin typeface="Menlo" panose="020B06090308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571009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ED57-C2A9-3C49-034A-CB7A22890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8018" y="1592394"/>
            <a:ext cx="10515600" cy="921254"/>
          </a:xfrm>
        </p:spPr>
        <p:txBody>
          <a:bodyPr/>
          <a:lstStyle/>
          <a:p>
            <a:r>
              <a:rPr lang="en-AU" dirty="0"/>
              <a:t>Thank you.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9ED46-7272-9488-BD53-105D8B4770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018" y="2896779"/>
            <a:ext cx="10515600" cy="2576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i="1" dirty="0">
                <a:solidFill>
                  <a:srgbClr val="FFC000"/>
                </a:solidFill>
              </a:rPr>
              <a:t>Disclaimer</a:t>
            </a:r>
          </a:p>
          <a:p>
            <a:pPr marL="0" indent="0">
              <a:buNone/>
            </a:pPr>
            <a:r>
              <a:rPr lang="en-AU" sz="2400" i="1" dirty="0">
                <a:solidFill>
                  <a:srgbClr val="FFC000"/>
                </a:solidFill>
              </a:rPr>
              <a:t>I won't be taking any hard questions on this …. sorry</a:t>
            </a:r>
          </a:p>
        </p:txBody>
      </p:sp>
    </p:spTree>
    <p:extLst>
      <p:ext uri="{BB962C8B-B14F-4D97-AF65-F5344CB8AC3E}">
        <p14:creationId xmlns:p14="http://schemas.microsoft.com/office/powerpoint/2010/main" val="1168571510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9B867-F86C-9F53-2C09-210C6FDE683C}"/>
              </a:ext>
            </a:extLst>
          </p:cNvPr>
          <p:cNvSpPr txBox="1"/>
          <p:nvPr/>
        </p:nvSpPr>
        <p:spPr>
          <a:xfrm>
            <a:off x="1" y="1272618"/>
            <a:ext cx="12191999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5600" dirty="0"/>
              <a:t>🦆</a:t>
            </a:r>
          </a:p>
        </p:txBody>
      </p:sp>
    </p:spTree>
    <p:extLst>
      <p:ext uri="{BB962C8B-B14F-4D97-AF65-F5344CB8AC3E}">
        <p14:creationId xmlns:p14="http://schemas.microsoft.com/office/powerpoint/2010/main" val="1415668464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C92A6A38-762D-4D1E-84F6-35B86993516B}"/>
    </a:ext>
  </a:extLst>
</a:theme>
</file>

<file path=ppt/theme/theme2.xml><?xml version="1.0" encoding="utf-8"?>
<a:theme xmlns:a="http://schemas.openxmlformats.org/drawingml/2006/main" name="8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3.xml><?xml version="1.0" encoding="utf-8"?>
<a:theme xmlns:a="http://schemas.openxmlformats.org/drawingml/2006/main" name="9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D1B6720D-EE33-4432-8F34-AC78FA415D44}"/>
    </a:ext>
  </a:extLst>
</a:theme>
</file>

<file path=ppt/theme/theme4.xml><?xml version="1.0" encoding="utf-8"?>
<a:theme xmlns:a="http://schemas.openxmlformats.org/drawingml/2006/main" name="3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74005428-A334-41FB-9C76-B70EADF29CBB}"/>
    </a:ext>
  </a:extLst>
</a:theme>
</file>

<file path=ppt/theme/theme5.xml><?xml version="1.0" encoding="utf-8"?>
<a:theme xmlns:a="http://schemas.openxmlformats.org/drawingml/2006/main" name="4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B2A232E-75D7-4897-BB1C-74DF42300102}"/>
    </a:ext>
  </a:extLst>
</a:theme>
</file>

<file path=ppt/theme/theme6.xml><?xml version="1.0" encoding="utf-8"?>
<a:theme xmlns:a="http://schemas.openxmlformats.org/drawingml/2006/main" name="5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B197BA3C-52E1-452E-9ECF-A8FC308A75CB}"/>
    </a:ext>
  </a:extLst>
</a:theme>
</file>

<file path=ppt/theme/theme7.xml><?xml version="1.0" encoding="utf-8"?>
<a:theme xmlns:a="http://schemas.openxmlformats.org/drawingml/2006/main" name="TAFE-Dark-BG-animated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091D9253-E664-4300-BB76-B0EA74ABD4E3}"/>
    </a:ext>
  </a:extLst>
</a:theme>
</file>

<file path=ppt/theme/theme8.xml><?xml version="1.0" encoding="utf-8"?>
<a:theme xmlns:a="http://schemas.openxmlformats.org/drawingml/2006/main" name="6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F5315164-D39B-4AAC-B304-B1A2B031A95B}"/>
    </a:ext>
  </a:extLst>
</a:theme>
</file>

<file path=ppt/theme/theme9.xml><?xml version="1.0" encoding="utf-8"?>
<a:theme xmlns:a="http://schemas.openxmlformats.org/drawingml/2006/main" name="7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-2023.potx" id="{921313E3-754C-4B0C-B337-F29123D3135B}" vid="{53110149-A4D3-4904-BBE1-036CB5C878D3}"/>
    </a:ext>
  </a:extLst>
</a:theme>
</file>

<file path=ppt/theme/theme10.xml><?xml version="1.0" encoding="utf-8"?>
<a:theme xmlns:a="http://schemas.openxmlformats.org/drawingml/2006/main" name="1_TAFE-White-BG-C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C" id="{512C2FDB-8C93-844A-9C7C-E16B2F56908F}" vid="{F409DB23-9C1D-2B4A-B99D-0844671217B0}"/>
    </a:ext>
  </a:extLst>
</a:theme>
</file>

<file path=ppt/theme/theme11.xml><?xml version="1.0" encoding="utf-8"?>
<a:theme xmlns:a="http://schemas.openxmlformats.org/drawingml/2006/main" name="10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11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12_Office Theme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TAFE-White-BG-B">
  <a:themeElements>
    <a:clrScheme name="NMTAF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75D5FF"/>
      </a:hlink>
      <a:folHlink>
        <a:srgbClr val="FF89D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AFE-White-BG-B" id="{2956925C-A3E0-A44D-A1CA-96DE5E326E72}" vid="{BF725D3F-94CF-3B48-BC06-35479312206A}"/>
    </a:ext>
  </a:extLst>
</a:theme>
</file>

<file path=ppt/theme/theme1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Presentation-2023</Template>
  <TotalTime>398</TotalTime>
  <Words>2106</Words>
  <Application>Microsoft Macintosh PowerPoint</Application>
  <PresentationFormat>Widescreen</PresentationFormat>
  <Paragraphs>228</Paragraphs>
  <Slides>21</Slides>
  <Notes>14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14</vt:i4>
      </vt:variant>
      <vt:variant>
        <vt:lpstr>Slide Titles</vt:lpstr>
      </vt:variant>
      <vt:variant>
        <vt:i4>21</vt:i4>
      </vt:variant>
    </vt:vector>
  </HeadingPairs>
  <TitlesOfParts>
    <vt:vector size="45" baseType="lpstr">
      <vt:lpstr>Arial Unicode MS</vt:lpstr>
      <vt:lpstr>Arial</vt:lpstr>
      <vt:lpstr>Calibri</vt:lpstr>
      <vt:lpstr>Calibri Light</vt:lpstr>
      <vt:lpstr>Consolas</vt:lpstr>
      <vt:lpstr>Courier New</vt:lpstr>
      <vt:lpstr>Fira Code</vt:lpstr>
      <vt:lpstr>Menlo</vt:lpstr>
      <vt:lpstr>SegoeUIVariable</vt:lpstr>
      <vt:lpstr>Söhne</vt:lpstr>
      <vt:lpstr>TAFE-White-BG-C</vt:lpstr>
      <vt:lpstr>8_Office Theme</vt:lpstr>
      <vt:lpstr>9_Office Theme</vt:lpstr>
      <vt:lpstr>3_Office Theme</vt:lpstr>
      <vt:lpstr>4_Office Theme</vt:lpstr>
      <vt:lpstr>5_Office Theme</vt:lpstr>
      <vt:lpstr>TAFE-Dark-BG-animated</vt:lpstr>
      <vt:lpstr>6_Office Theme</vt:lpstr>
      <vt:lpstr>7_Office Theme</vt:lpstr>
      <vt:lpstr>1_TAFE-White-BG-C</vt:lpstr>
      <vt:lpstr>10_Office Theme</vt:lpstr>
      <vt:lpstr>11_Office Theme</vt:lpstr>
      <vt:lpstr>12_Office Theme</vt:lpstr>
      <vt:lpstr>TAFE-White-BG-B</vt:lpstr>
      <vt:lpstr> Visualising OOP</vt:lpstr>
      <vt:lpstr>Quick intro…</vt:lpstr>
      <vt:lpstr> Staring early with OOP</vt:lpstr>
      <vt:lpstr>Are we there yet? </vt:lpstr>
      <vt:lpstr>Benefits of OOP</vt:lpstr>
      <vt:lpstr>Variables aka Attributes</vt:lpstr>
      <vt:lpstr>Collections – but in 2D</vt:lpstr>
      <vt:lpstr>Classes – Our blueprint</vt:lpstr>
      <vt:lpstr>Creating our Object</vt:lpstr>
      <vt:lpstr>Handling the Object</vt:lpstr>
      <vt:lpstr>4 Pillars of OOP</vt:lpstr>
      <vt:lpstr>Encapsulation</vt:lpstr>
      <vt:lpstr>Encapsulation in code</vt:lpstr>
      <vt:lpstr>Inheritance</vt:lpstr>
      <vt:lpstr>Inheritance in Code</vt:lpstr>
      <vt:lpstr>Abstraction</vt:lpstr>
      <vt:lpstr>Abstraction in Code</vt:lpstr>
      <vt:lpstr>Polymorphism</vt:lpstr>
      <vt:lpstr>Polymorphism in Code</vt:lpstr>
      <vt:lpstr>Thank you.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Technologies Introduction</dc:title>
  <dc:creator>Adrian Gould</dc:creator>
  <cp:lastModifiedBy>John Robertson</cp:lastModifiedBy>
  <cp:revision>15</cp:revision>
  <dcterms:created xsi:type="dcterms:W3CDTF">2023-07-07T02:00:43Z</dcterms:created>
  <dcterms:modified xsi:type="dcterms:W3CDTF">2025-02-11T10:41:50Z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3ac7e5b-5da2-46c7-8677-8a6b50f7d886_Enabled">
    <vt:lpwstr>true</vt:lpwstr>
  </property>
  <property fmtid="{D5CDD505-2E9C-101B-9397-08002B2CF9AE}" pid="3" name="MSIP_Label_f3ac7e5b-5da2-46c7-8677-8a6b50f7d886_SetDate">
    <vt:lpwstr>2023-07-09T17:39:43Z</vt:lpwstr>
  </property>
  <property fmtid="{D5CDD505-2E9C-101B-9397-08002B2CF9AE}" pid="4" name="MSIP_Label_f3ac7e5b-5da2-46c7-8677-8a6b50f7d886_Method">
    <vt:lpwstr>Standard</vt:lpwstr>
  </property>
  <property fmtid="{D5CDD505-2E9C-101B-9397-08002B2CF9AE}" pid="5" name="MSIP_Label_f3ac7e5b-5da2-46c7-8677-8a6b50f7d886_Name">
    <vt:lpwstr>Official</vt:lpwstr>
  </property>
  <property fmtid="{D5CDD505-2E9C-101B-9397-08002B2CF9AE}" pid="6" name="MSIP_Label_f3ac7e5b-5da2-46c7-8677-8a6b50f7d886_SiteId">
    <vt:lpwstr>218881e8-07ad-4142-87d7-f6b90d17009b</vt:lpwstr>
  </property>
  <property fmtid="{D5CDD505-2E9C-101B-9397-08002B2CF9AE}" pid="7" name="MSIP_Label_f3ac7e5b-5da2-46c7-8677-8a6b50f7d886_ActionId">
    <vt:lpwstr>934bf055-5d58-4591-8f85-6de4d295ed91</vt:lpwstr>
  </property>
  <property fmtid="{D5CDD505-2E9C-101B-9397-08002B2CF9AE}" pid="8" name="MSIP_Label_f3ac7e5b-5da2-46c7-8677-8a6b50f7d886_ContentBits">
    <vt:lpwstr>1</vt:lpwstr>
  </property>
  <property fmtid="{D5CDD505-2E9C-101B-9397-08002B2CF9AE}" pid="9" name="ClassificationContentMarkingHeaderLocations">
    <vt:lpwstr>TAFE-White-BG-C:4\8_Office Theme:4\9_Office Theme:4\3_Office Theme:4\4_Office Theme:4\5_Office Theme:4\TAFE-Dark-BG-animated:4\6_Office Theme:4\7_Office Theme:4\1_TAFE-White-BG-C:7\10_Office Theme:8\11_Office Theme:7\12_Office Theme:7\TAFE-White-BG-B:7</vt:lpwstr>
  </property>
  <property fmtid="{D5CDD505-2E9C-101B-9397-08002B2CF9AE}" pid="10" name="ClassificationContentMarkingHeaderText">
    <vt:lpwstr>OFFICIAL</vt:lpwstr>
  </property>
</Properties>
</file>