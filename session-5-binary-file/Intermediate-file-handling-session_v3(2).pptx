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257" r:id="rId5"/>
    <p:sldId id="307" r:id="rId6"/>
    <p:sldId id="306" r:id="rId7"/>
    <p:sldId id="315" r:id="rId8"/>
    <p:sldId id="316" r:id="rId9"/>
    <p:sldId id="317" r:id="rId10"/>
    <p:sldId id="318" r:id="rId11"/>
    <p:sldId id="319" r:id="rId12"/>
    <p:sldId id="322" r:id="rId13"/>
    <p:sldId id="336" r:id="rId14"/>
    <p:sldId id="348" r:id="rId15"/>
    <p:sldId id="337" r:id="rId16"/>
    <p:sldId id="321" r:id="rId17"/>
    <p:sldId id="325" r:id="rId18"/>
    <p:sldId id="326" r:id="rId19"/>
    <p:sldId id="338" r:id="rId20"/>
    <p:sldId id="327" r:id="rId21"/>
    <p:sldId id="330" r:id="rId22"/>
    <p:sldId id="340" r:id="rId23"/>
    <p:sldId id="339" r:id="rId24"/>
    <p:sldId id="328" r:id="rId25"/>
    <p:sldId id="329" r:id="rId26"/>
    <p:sldId id="341" r:id="rId27"/>
    <p:sldId id="331" r:id="rId28"/>
    <p:sldId id="332" r:id="rId29"/>
    <p:sldId id="349" r:id="rId30"/>
    <p:sldId id="333" r:id="rId31"/>
    <p:sldId id="342" r:id="rId32"/>
    <p:sldId id="343" r:id="rId33"/>
    <p:sldId id="344" r:id="rId34"/>
    <p:sldId id="346" r:id="rId35"/>
    <p:sldId id="347" r:id="rId36"/>
    <p:sldId id="334" r:id="rId37"/>
    <p:sldId id="335" r:id="rId38"/>
  </p:sldIdLst>
  <p:sldSz cx="12192000" cy="6858000"/>
  <p:notesSz cx="7104063" cy="10234613"/>
  <p:custShowLst>
    <p:custShow name="Review of player double linked" id="0">
      <p:sldLst/>
    </p:custShow>
  </p:custShowLst>
  <p:custDataLst>
    <p:tags r:id="rId4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E631FFDE-1010-498F-9120-6F57EFC23AC7}">
          <p14:sldIdLst>
            <p14:sldId id="257"/>
            <p14:sldId id="307"/>
            <p14:sldId id="306"/>
            <p14:sldId id="315"/>
            <p14:sldId id="316"/>
            <p14:sldId id="317"/>
            <p14:sldId id="318"/>
            <p14:sldId id="319"/>
            <p14:sldId id="322"/>
            <p14:sldId id="336"/>
            <p14:sldId id="348"/>
            <p14:sldId id="337"/>
            <p14:sldId id="321"/>
            <p14:sldId id="325"/>
            <p14:sldId id="326"/>
            <p14:sldId id="338"/>
            <p14:sldId id="327"/>
            <p14:sldId id="330"/>
            <p14:sldId id="340"/>
            <p14:sldId id="339"/>
            <p14:sldId id="328"/>
            <p14:sldId id="329"/>
            <p14:sldId id="341"/>
            <p14:sldId id="331"/>
            <p14:sldId id="332"/>
            <p14:sldId id="349"/>
            <p14:sldId id="333"/>
            <p14:sldId id="342"/>
            <p14:sldId id="343"/>
            <p14:sldId id="344"/>
            <p14:sldId id="346"/>
            <p14:sldId id="347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92D050"/>
    <a:srgbClr val="63C55F"/>
    <a:srgbClr val="9BBB59"/>
    <a:srgbClr val="000000"/>
    <a:srgbClr val="D81C24"/>
    <a:srgbClr val="D9262E"/>
    <a:srgbClr val="262626"/>
    <a:srgbClr val="C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62034" autoAdjust="0"/>
  </p:normalViewPr>
  <p:slideViewPr>
    <p:cSldViewPr snapToGrid="0" snapToObjects="1">
      <p:cViewPr varScale="1">
        <p:scale>
          <a:sx n="45" d="100"/>
          <a:sy n="45" d="100"/>
        </p:scale>
        <p:origin x="1756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4" d="100"/>
          <a:sy n="104" d="100"/>
        </p:scale>
        <p:origin x="27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opencv-python/" TargetMode="External"/><Relationship Id="rId3" Type="http://schemas.openxmlformats.org/officeDocument/2006/relationships/hyperlink" Target="https://docs.python.org/3/library/wave.html" TargetMode="External"/><Relationship Id="rId7" Type="http://schemas.openxmlformats.org/officeDocument/2006/relationships/hyperlink" Target="https://pypi.org/project/Pillow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python.org/3/library/struct.html" TargetMode="External"/><Relationship Id="rId5" Type="http://schemas.openxmlformats.org/officeDocument/2006/relationships/hyperlink" Target="https://docs.python.org/3/library/socket.html" TargetMode="External"/><Relationship Id="rId4" Type="http://schemas.openxmlformats.org/officeDocument/2006/relationships/hyperlink" Target="https://docs.python.org/3/library/sqlite3.html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created by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045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82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407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68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With uses the context manager - an object that defines the methods __enter__ and __exit__ and is used to manage resources like file streams or network (includes automatic clean up)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3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Starting Position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Indicates where the file pointer begins when the file is opened.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Can Read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A tick in this column indicates that the mode allows reading from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Can Write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A tick in this column indicates that the mode allows writing to the file.</a:t>
            </a:r>
          </a:p>
          <a:p>
            <a:br>
              <a:rPr lang="en-A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9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First – what do we mean by open at a position in the file?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The "position in the file" refers to the location of the file pointer, which determines where reading or writing operations will begin.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For example, opening at the ”beginning of file" means that reading will start from the first character, and writing will replace content from the start.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In ”append" modes, opening at the "End of file" means that writing will add content to the end of the existing file, without overwriting any existing content.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The seek() method can change this position during file operations, allowing for more specific control over where reading and writing occur.</a:t>
            </a:r>
          </a:p>
          <a:p>
            <a:pPr marL="228600" indent="-228600" algn="l">
              <a:buFont typeface="+mj-lt"/>
              <a:buAutoNum type="arabicPeriod"/>
            </a:pP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Second – what does it mean to open a file in text mode?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Text mode refers to the handling of a file's contents as a string of characters using the system's default character encoding (typically UTF-8).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In text mode, line endings are handled automatically, translating between the universal newline character '\n' and the system's native line ending sequence.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Opening a file in text mode is appropriate for working with human-readable content, such as plain text documents.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00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solidFill>
                  <a:srgbClr val="374151"/>
                </a:solidFill>
                <a:effectLst/>
                <a:latin typeface="Söhne"/>
              </a:rPr>
              <a:t>Special Interpretations &amp; Reading Characters</a:t>
            </a:r>
          </a:p>
          <a:p>
            <a:pPr algn="l"/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Line endings and multi-byte Unicode characters are treated as single positions in text mode.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These nuances allow consistent navigation and interaction with text files, regardless of underlying encoding or platform-specific details.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96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to generate a binary representation of text (entertainment purposes only!)</a:t>
            </a:r>
            <a:br>
              <a:rPr lang="en-US" dirty="0"/>
            </a:b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binary_representation = ' '.join([bin(ord(c))[2:].zfill(8) for c in "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 is just a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standardised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binary file format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"])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binary_representation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What pattern do you notice?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72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1DA1-3A9C-A758-C8F0-9EA1BDCF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535BF-7E39-7832-45E1-A8C29C1A1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E1C1-4E4B-25B7-BB9B-1DE92DB60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solidFill>
                  <a:srgbClr val="374151"/>
                </a:solidFill>
                <a:effectLst/>
                <a:latin typeface="Söhne"/>
              </a:rPr>
              <a:t>Special Interpretations &amp; Reading Characters</a:t>
            </a: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where characters with higher Unicode code points generally require more bytes for encoding.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the number of bytes used for each character's UTF-8 encoding can vary based on its Unicode code point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27214-91AF-3613-70E1-49B7B1B1C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0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characters for hex 0-9 &amp; A-F</a:t>
            </a:r>
          </a:p>
          <a:p>
            <a:r>
              <a:rPr lang="en-US" dirty="0"/>
              <a:t>Hex works the same way as decimal but in 16s instead of 10s</a:t>
            </a:r>
          </a:p>
          <a:p>
            <a:r>
              <a:rPr lang="en-US" dirty="0"/>
              <a:t>2630 = 2×10³ + 6×10² + 3×10¹ + 0×10⁰</a:t>
            </a:r>
          </a:p>
          <a:p>
            <a:r>
              <a:rPr lang="en-US" dirty="0"/>
              <a:t>A46 = 10×16² + 4×16¹ + 6×16⁰	</a:t>
            </a:r>
          </a:p>
          <a:p>
            <a:r>
              <a:rPr lang="en-US" dirty="0"/>
              <a:t>(where10 is A)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765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A2A7-4898-83D4-8C3E-CAAE3508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D30A-2870-4F17-9B1D-1B1DAD843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F6539-1684-F562-8EA1-D71AE8550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solidFill>
                  <a:srgbClr val="374151"/>
                </a:solidFill>
                <a:effectLst/>
                <a:latin typeface="Söhne"/>
              </a:rPr>
              <a:t>Special Interpretations &amp; Reading Characters</a:t>
            </a: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where characters with higher Unicode code points generally require more bytes for encoding.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the number of bytes used for each character's UTF-8 encoding can vary based on its Unicode code point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B54F0-208F-8859-5B46-C160E941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54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Mode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The file access mode, with a 'b' to indicate binary.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Starting Position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Where the file pointer begins when the file is opened.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Can Read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A tick indicates that the mode allows reading from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Can Write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A tick indicates that the mode allows writing to the file.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Description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A brief description of what the mode does.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Binary modes behave similarly to their text counterparts but operates on the file as raw bytes rather than handling the content as encoded characters. 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makes binary modes suitable for non-text files like images or any situation where precise byte-for-byte handling is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17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More accurately when we open a file in binary, we specify that we don’t want to interpret the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instead, we are intent on getting the value of each 8 bits (usually represented as decimal 0-255).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interpretation is then up to us!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49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know why we can represent any byte as a value between 0-255!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037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7AD6-F6CE-96E1-DF11-7B86E07B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70DE5-8485-9541-9C8C-ACD4BDC13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1B9D9-B990-CC03-6902-20E7B954C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know why we can represent any byte as a value between 0-255!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EDCB3-2B18-3E1E-C632-AF6AB5FED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2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solidFill>
                  <a:srgbClr val="374151"/>
                </a:solidFill>
                <a:effectLst/>
                <a:latin typeface="Söhne"/>
              </a:rPr>
              <a:t>Why Encoding Matters:</a:t>
            </a: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Different encodings may represent the same characters with different bytes.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Knowing the correct encoding is essential for accurately translating bytes into characters and vice versa.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Lucky now almost everything is utf8!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AU" b="1" i="0" dirty="0">
                <a:solidFill>
                  <a:srgbClr val="374151"/>
                </a:solidFill>
                <a:effectLst/>
                <a:latin typeface="Söhne"/>
              </a:rPr>
              <a:t>Working with Textual Binary Files in Python:</a:t>
            </a:r>
            <a:endParaRPr lang="en-AU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Open the file in binary mode (e.g., "rb") if you need control over the encoding.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Use the decode method to convert bytes into characters.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Use the encode method to convert characters back into bytes.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Understanding the nature of the data helps you choose the right approach, whether treating it as text or as raw bytes.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162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Bytes to int to bytes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topic explains how integers can be converted to bytes and then back to integers in Python, using specific methods designed for these operations.</a:t>
            </a: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(42).to_bytes(1)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Explanation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method is used to convert an integer (in this case, 42) to a bytes object, representing it in binary format.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Parameter Explanation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 1 is the length in bytes(8 bits) that the output must fit into. The method will raise an OverflowError if the integer is too large to be represented in this many bytes.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Note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Using a length of 1 byte(8 bits) means that the value must be in the range 0-255. If the integer is outside this range, an error will be thrown.</a:t>
            </a:r>
          </a:p>
          <a:p>
            <a:pPr algn="l"/>
            <a:endParaRPr lang="en-AU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int.from_bytes(</a:t>
            </a:r>
            <a:r>
              <a:rPr lang="en-AU" b="1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some_bytes</a:t>
            </a: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)</a:t>
            </a:r>
          </a:p>
          <a:p>
            <a:pPr algn="l"/>
            <a:endParaRPr lang="en-AU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is a static method on the int class that converts a bytes object (or a bytes-like object) back to an integer.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Notice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It's important to highlight that this is a static method, meaning it is called on the class itself rather than an instance of the class.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Relevance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This method plays a crucial role in scenarios where data is read from a binary file or received over a network and must be interpreted as an integer.</a:t>
            </a:r>
          </a:p>
          <a:p>
            <a:pPr algn="l"/>
            <a:endParaRPr lang="en-AU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Additional Notes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Practical Applications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These methods can be applied in various fields such as data serialisation, network communication, or working with binary file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13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0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85CD-779C-B0CA-E1AE-C3CD38AB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CF301-FC7F-D7AE-C87B-F07901E4B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ACD6A-606E-35E6-EBCB-14A1BC68C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b="0" i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63A0C-B637-D208-3339-FDADD31DD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78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slide introduces the concept that although data can be represented in various binary formats, high-level interfaces and libraries are often provided to simplify interaction with that data. These abstractions shield developers from the complexities of the underlying binary formats.</a:t>
            </a:r>
          </a:p>
          <a:p>
            <a:pPr algn="l"/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wave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Link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 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3"/>
              </a:rPr>
              <a:t>Wave Library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standard library module in Python provides a high-level interface for working with WAV sound files. It hides the underlying complexities of the binary format and allows developers to work with sound data easily.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sqlite3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Link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 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4"/>
              </a:rPr>
              <a:t>SQLite3 Library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Python's built-in sqlite3 module is used to work with SQLite database files. It provides a SQL interface to access and manipulate the binary data in the database without having to deal with the raw binary structure.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Socket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Link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 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5"/>
              </a:rPr>
              <a:t>Socket Library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The socket module facilitates network communications, providing a high-level interface to send and receive data in binary form over networks. It abstracts underlying protocols like TCP/IP.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Struct: 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6"/>
              </a:rPr>
              <a:t>Struct Library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The struct module provides functions to interpret packed binary data. It's used to create string representations of C struct-like data structures and can translate between Python values and C structs represented as Python bytes.</a:t>
            </a:r>
          </a:p>
          <a:p>
            <a:pPr algn="l"/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Pillow: 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7"/>
              </a:rPr>
              <a:t>Pillow Library</a:t>
            </a:r>
            <a:r>
              <a:rPr lang="en-AU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An external library that simplifies working with images, allowing the processing and handling of various image file formats without dealing directly with binary encoding and decoding.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OpenCV: </a:t>
            </a:r>
            <a:r>
              <a:rPr lang="en-AU" b="0" i="0" u="none" strike="noStrike" dirty="0">
                <a:solidFill>
                  <a:srgbClr val="0088CC"/>
                </a:solidFill>
                <a:effectLst/>
                <a:latin typeface="Helvetica Neue" panose="02000503000000020004" pitchFamily="2" charset="0"/>
                <a:hlinkClick r:id="rId8"/>
              </a:rPr>
              <a:t>OpenCV Library</a:t>
            </a:r>
            <a:endParaRPr lang="en-AU" b="0" i="0" u="none" strike="noStrike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OpenCV is an open-source computer vision and machine learning library. It abstracts the underlying binary representations of images and videos, offering various tools and functions for processing visual data.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algn="l"/>
            <a:r>
              <a:rPr lang="en-AU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Additional Notes: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Emphasise that these high-level interfaces are essential in software development, allowing developers to work with complex binary data without needing to understand all underlying details.</a:t>
            </a:r>
          </a:p>
          <a:p>
            <a:pPr algn="l"/>
            <a:r>
              <a:rPr lang="en-AU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Encourage students to explore these libraries and understand how they can be applied in various scenarios, from multimedia processing to database handling to networking.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33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How does this compare to the minimum number of bytes for a text representation?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In a text representation, each cell can be represented using a character: either ' ', 'X', or 'O'.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Assuming the use of ASCII encoding, each character would take </a:t>
            </a: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1 byte</a:t>
            </a: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Therefore, the text representation would require 9 * 1 byte =</a:t>
            </a:r>
            <a:r>
              <a:rPr lang="en-AU" b="1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9 bytes</a:t>
            </a:r>
            <a:r>
              <a:rPr lang="en-AU" b="1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or 72 bits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Optional: If separators like commas or newline characters are used between cells or rows, additional bytes will be required.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AU" b="0" i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61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Additional Discussion Points: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Efficiency Comparison</a:t>
            </a: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Highlight the efficiency of the binary representation, using only one-third the bytes of the text representation.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Practicality and Readability</a:t>
            </a: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Discuss how the binary representation may be more efficient but less human-readable. Consider the trade-offs between different representation methods.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Real-World Applications</a:t>
            </a: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Relate this discussion to real-world scenarios where choosing the right data representation can have significant impacts on storage efficiency and processing speed.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1" i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Encoding and Decoding Challenges</a:t>
            </a:r>
            <a:r>
              <a:rPr lang="en-AU" b="0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: Consider the complexity of encoding and decoding the binary representation. Is the gain in efficiency worth the added complexity?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89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AU" b="1" i="0" dirty="0">
                <a:effectLst/>
                <a:latin typeface="Söhne"/>
              </a:rPr>
              <a:t>What Are Random-Access Algorithms?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Random-access algorithms allow data to be read or written in any order, 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as opposed to sequential access, where data must be accessed in a specific sequence. 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Random access enables programs to jump directly to a specific location within a file, 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making it ideal for binary file handling where data might be scattered or organised in non-sequential blocks.</a:t>
            </a:r>
          </a:p>
          <a:p>
            <a:pPr algn="l"/>
            <a:endParaRPr lang="en-A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/>
            <a:r>
              <a:rPr lang="en-AU" b="1" i="0" dirty="0">
                <a:effectLst/>
                <a:latin typeface="Söhne"/>
              </a:rPr>
              <a:t>Importance in Binary File Handling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When working with binary files, data is often organised in complex structures, and direct access to specific parts is crucial. </a:t>
            </a:r>
          </a:p>
          <a:p>
            <a:pPr algn="l"/>
            <a:r>
              <a:rPr lang="en-AU" b="0" i="0" dirty="0">
                <a:solidFill>
                  <a:srgbClr val="D1D5DB"/>
                </a:solidFill>
                <a:effectLst/>
                <a:latin typeface="Söhne"/>
              </a:rPr>
              <a:t>Random-access algorithms enable the efficient management, retrieval, and modification of specific portions of data without having to traverse the entire file.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06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159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46A6-7E66-7822-C30B-DC428A41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F71E2-542C-6A22-9413-A50AEE398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D9A27-51E3-6668-9F59-6656AFE4B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E808-B495-AA51-EDA0-187D8252C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60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0x96Ox4BOxDC</a:t>
            </a:r>
          </a:p>
          <a:p>
            <a:r>
              <a:rPr lang="en-US" dirty="0"/>
              <a:t>\\x96\\x4B\\xDC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3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90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124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 dirty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732016"/>
            <a:ext cx="10084039" cy="1450021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211303"/>
            <a:ext cx="10084038" cy="428986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 dirty="0"/>
              <a:t>Cluster Name</a:t>
            </a:r>
            <a:endParaRPr lang="en-A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871530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 dirty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dirty="0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Week/Session 00 – Presentation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4/03/2026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710508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5755274"/>
            <a:ext cx="10972800" cy="52783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53685" y="672443"/>
            <a:ext cx="3328716" cy="5395071"/>
          </a:xfrm>
          <a:prstGeom prst="roundRect">
            <a:avLst>
              <a:gd name="adj" fmla="val 4147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3960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76053"/>
            <a:ext cx="6207659" cy="382380"/>
          </a:xfrm>
          <a:prstGeom prst="rect">
            <a:avLst/>
          </a:prstGeom>
        </p:spPr>
        <p:txBody>
          <a:bodyPr anchor="t"/>
          <a:lstStyle>
            <a:lvl1pPr algn="l">
              <a:defRPr sz="1800" b="1" cap="none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AU" noProof="0" dirty="0"/>
              <a:t>PRESENTATION TEMPLATE CREATED BY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78086" y="873914"/>
            <a:ext cx="1561468" cy="1561468"/>
          </a:xfrm>
          <a:prstGeom prst="roundRect">
            <a:avLst>
              <a:gd name="adj" fmla="val 411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58681"/>
            <a:ext cx="6207659" cy="633082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Adrian Gould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101835"/>
            <a:ext cx="6207659" cy="33354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LECTURER SOFTWARE DEVELOPMENT, WEB DEVELOPMENT,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5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oundRect">
            <a:avLst>
              <a:gd name="adj" fmla="val 2544"/>
            </a:avLst>
          </a:prstGeo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6C36-AC3E-7459-1287-8BAD55E4ED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1" r:id="rId2"/>
    <p:sldLayoutId id="2147483650" r:id="rId3"/>
    <p:sldLayoutId id="2147483665" r:id="rId4"/>
    <p:sldLayoutId id="2147483652" r:id="rId5"/>
    <p:sldLayoutId id="2147483653" r:id="rId6"/>
    <p:sldLayoutId id="2147483661" r:id="rId7"/>
    <p:sldLayoutId id="2147483662" r:id="rId8"/>
    <p:sldLayoutId id="2147483654" r:id="rId9"/>
    <p:sldLayoutId id="2147483663" r:id="rId10"/>
    <p:sldLayoutId id="2147483664" r:id="rId11"/>
    <p:sldLayoutId id="2147483660" r:id="rId12"/>
    <p:sldLayoutId id="2147483668" r:id="rId13"/>
    <p:sldLayoutId id="2147483655" r:id="rId14"/>
    <p:sldLayoutId id="2147483656" r:id="rId15"/>
    <p:sldLayoutId id="214748365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opencv-python/" TargetMode="External"/><Relationship Id="rId3" Type="http://schemas.openxmlformats.org/officeDocument/2006/relationships/hyperlink" Target="https://docs.python.org/3/library/wave.html" TargetMode="External"/><Relationship Id="rId7" Type="http://schemas.openxmlformats.org/officeDocument/2006/relationships/hyperlink" Target="https://pypi.org/project/Pillow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python.org/3/library/struct.html" TargetMode="External"/><Relationship Id="rId5" Type="http://schemas.openxmlformats.org/officeDocument/2006/relationships/hyperlink" Target="https://docs.python.org/3/library/socket.html" TargetMode="External"/><Relationship Id="rId4" Type="http://schemas.openxmlformats.org/officeDocument/2006/relationships/hyperlink" Target="https://docs.python.org/3/library/sqlite3.html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Intermediate programming</a:t>
            </a:r>
            <a:endParaRPr lang="en-AU" dirty="0"/>
          </a:p>
        </p:txBody>
      </p:sp>
      <p:graphicFrame>
        <p:nvGraphicFramePr>
          <p:cNvPr id="20" name="Table Placeholder 19"/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89701313"/>
              </p:ext>
            </p:extLst>
          </p:nvPr>
        </p:nvGraphicFramePr>
        <p:xfrm>
          <a:off x="1050925" y="5448362"/>
          <a:ext cx="10083800" cy="827997"/>
        </p:xfrm>
        <a:graphic>
          <a:graphicData uri="http://schemas.openxmlformats.org/drawingml/2006/table">
            <a:tbl>
              <a:tblPr firstCol="1" bandRow="1">
                <a:tableStyleId>{0E3FDE45-AF77-4B5C-9715-49D594BDF05E}</a:tableStyleId>
              </a:tblPr>
              <a:tblGrid>
                <a:gridCol w="1718238">
                  <a:extLst>
                    <a:ext uri="{9D8B030D-6E8A-4147-A177-3AD203B41FA5}">
                      <a16:colId xmlns:a16="http://schemas.microsoft.com/office/drawing/2014/main" val="1432791058"/>
                    </a:ext>
                  </a:extLst>
                </a:gridCol>
                <a:gridCol w="8365562">
                  <a:extLst>
                    <a:ext uri="{9D8B030D-6E8A-4147-A177-3AD203B41FA5}">
                      <a16:colId xmlns:a16="http://schemas.microsoft.com/office/drawing/2014/main" val="517524959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ICTPRG439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AU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Use pre-existing components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2270444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ICTPRG429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AU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Maintain open-source code programs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877364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ICTPRG443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AU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Apply intermediate programming skills in different languages</a:t>
                      </a:r>
                      <a:endParaRPr lang="en-AU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9170586"/>
                  </a:ext>
                </a:extLst>
              </a:tr>
            </a:tbl>
          </a:graphicData>
        </a:graphic>
      </p:graphicFrame>
      <p:sp>
        <p:nvSpPr>
          <p:cNvPr id="1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1051130" y="5081097"/>
            <a:ext cx="10084038" cy="428986"/>
          </a:xfrm>
        </p:spPr>
        <p:txBody>
          <a:bodyPr/>
          <a:lstStyle/>
          <a:p>
            <a:r>
              <a:rPr lang="en-AU" dirty="0"/>
              <a:t>Cluster: Intermediate programming and open source (IPOS)</a:t>
            </a:r>
          </a:p>
        </p:txBody>
      </p:sp>
      <p:sp>
        <p:nvSpPr>
          <p:cNvPr id="41" name="Content Placeholder 40"/>
          <p:cNvSpPr>
            <a:spLocks noGrp="1"/>
          </p:cNvSpPr>
          <p:nvPr>
            <p:ph sz="quarter" idx="17"/>
          </p:nvPr>
        </p:nvSpPr>
        <p:spPr>
          <a:xfrm>
            <a:off x="1050925" y="4230443"/>
            <a:ext cx="10083800" cy="602809"/>
          </a:xfrm>
        </p:spPr>
        <p:txBody>
          <a:bodyPr/>
          <a:lstStyle/>
          <a:p>
            <a:r>
              <a:rPr lang="en-AU" dirty="0"/>
              <a:t>ICT40220 Certificate IV in Information Technology (Programming)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81A4C-2E98-64A7-48E3-0EE8B192F7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Session 04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9BF87-9BC1-4441-87B2-E595B5963C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AU" dirty="0"/>
              <a:t>John</a:t>
            </a:r>
          </a:p>
        </p:txBody>
      </p:sp>
    </p:spTree>
    <p:extLst>
      <p:ext uri="{BB962C8B-B14F-4D97-AF65-F5344CB8AC3E}">
        <p14:creationId xmlns:p14="http://schemas.microsoft.com/office/powerpoint/2010/main" val="91334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AAC6-D828-D056-43C1-525B38D3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Session 3 you were asked to consider: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821734-FE18-179C-B803-5853E118C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2D data structure, we could iterate over each element in sequence: this is called sequential access</a:t>
            </a:r>
          </a:p>
          <a:p>
            <a:r>
              <a:rPr lang="en-US" dirty="0"/>
              <a:t>We can also go to a specific element directly, this is called random access</a:t>
            </a:r>
          </a:p>
          <a:p>
            <a:r>
              <a:rPr lang="en-US" dirty="0"/>
              <a:t>What are the adv/disadvantages of these approaches?</a:t>
            </a:r>
          </a:p>
          <a:p>
            <a:r>
              <a:rPr lang="en-US" dirty="0"/>
              <a:t>What properties would a data structure need to have to allow for random access? Sequential access?</a:t>
            </a:r>
          </a:p>
        </p:txBody>
      </p:sp>
    </p:spTree>
    <p:extLst>
      <p:ext uri="{BB962C8B-B14F-4D97-AF65-F5344CB8AC3E}">
        <p14:creationId xmlns:p14="http://schemas.microsoft.com/office/powerpoint/2010/main" val="260988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866CBE-6627-770A-72BD-73EEA6D5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FILES, formats, and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C9F31-82FD-544D-D2C8-50B06221E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Now…</a:t>
            </a:r>
          </a:p>
        </p:txBody>
      </p:sp>
    </p:spTree>
    <p:extLst>
      <p:ext uri="{BB962C8B-B14F-4D97-AF65-F5344CB8AC3E}">
        <p14:creationId xmlns:p14="http://schemas.microsoft.com/office/powerpoint/2010/main" val="398951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B3CB72-F99A-78C1-A6B1-95CEB020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0E56E-9347-DE22-2088-CBCEEABAE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and write files in binary mode</a:t>
            </a:r>
          </a:p>
          <a:p>
            <a:r>
              <a:rPr lang="en-US" dirty="0"/>
              <a:t>Use Python’s binary data types</a:t>
            </a:r>
          </a:p>
          <a:p>
            <a:r>
              <a:rPr lang="en-US" dirty="0"/>
              <a:t>Understand random and sequential access</a:t>
            </a:r>
          </a:p>
          <a:p>
            <a:r>
              <a:rPr lang="en-US" dirty="0"/>
              <a:t>Contextualise in terms of data structures more broadly</a:t>
            </a:r>
          </a:p>
        </p:txBody>
      </p:sp>
    </p:spTree>
    <p:extLst>
      <p:ext uri="{BB962C8B-B14F-4D97-AF65-F5344CB8AC3E}">
        <p14:creationId xmlns:p14="http://schemas.microsoft.com/office/powerpoint/2010/main" val="110508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7DB8-6B53-B87C-996F-3F455321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36768-2F94-F506-4905-54C26770A653}"/>
              </a:ext>
            </a:extLst>
          </p:cNvPr>
          <p:cNvSpPr txBox="1"/>
          <p:nvPr/>
        </p:nvSpPr>
        <p:spPr>
          <a:xfrm>
            <a:off x="1709200" y="1890167"/>
            <a:ext cx="609499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A71D5D"/>
                </a:solidFill>
                <a:effectLst/>
              </a:rPr>
              <a:t>with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open</a:t>
            </a:r>
            <a:r>
              <a:rPr lang="en-AU" dirty="0">
                <a:solidFill>
                  <a:srgbClr val="333333"/>
                </a:solidFill>
                <a:effectLst/>
              </a:rPr>
              <a:t>(</a:t>
            </a:r>
            <a:r>
              <a:rPr lang="en-AU" dirty="0">
                <a:solidFill>
                  <a:srgbClr val="183691"/>
                </a:solidFill>
                <a:effectLst/>
              </a:rPr>
              <a:t>"some_text_file.txt"</a:t>
            </a:r>
            <a:r>
              <a:rPr lang="en-AU" dirty="0">
                <a:solidFill>
                  <a:srgbClr val="333333"/>
                </a:solidFill>
                <a:effectLst/>
              </a:rPr>
              <a:t>,</a:t>
            </a:r>
            <a:r>
              <a:rPr lang="en-AU" dirty="0"/>
              <a:t> </a:t>
            </a:r>
            <a:r>
              <a:rPr lang="en-AU" dirty="0">
                <a:solidFill>
                  <a:srgbClr val="183691"/>
                </a:solidFill>
                <a:effectLst/>
              </a:rPr>
              <a:t>"r"</a:t>
            </a:r>
            <a:r>
              <a:rPr lang="en-AU" dirty="0">
                <a:solidFill>
                  <a:srgbClr val="333333"/>
                </a:solidFill>
                <a:effectLst/>
              </a:rPr>
              <a:t>)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as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:</a:t>
            </a:r>
            <a:r>
              <a:rPr lang="en-AU" dirty="0"/>
              <a:t> </a:t>
            </a:r>
          </a:p>
          <a:p>
            <a:r>
              <a:rPr lang="en-AU" dirty="0"/>
              <a:t>	a_string </a:t>
            </a:r>
            <a:r>
              <a:rPr lang="en-AU" dirty="0">
                <a:solidFill>
                  <a:srgbClr val="A71D5D"/>
                </a:solidFill>
                <a:effectLst/>
              </a:rPr>
              <a:t>=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.</a:t>
            </a:r>
            <a:r>
              <a:rPr lang="en-AU" dirty="0"/>
              <a:t>read</a:t>
            </a:r>
            <a:r>
              <a:rPr lang="en-AU" dirty="0">
                <a:solidFill>
                  <a:srgbClr val="333333"/>
                </a:solidFill>
                <a:effectLst/>
              </a:rPr>
              <a:t>()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49DB3-C5C5-03F9-B215-884CD36BE515}"/>
              </a:ext>
            </a:extLst>
          </p:cNvPr>
          <p:cNvSpPr txBox="1"/>
          <p:nvPr/>
        </p:nvSpPr>
        <p:spPr>
          <a:xfrm>
            <a:off x="1709200" y="2782669"/>
            <a:ext cx="609499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A71D5D"/>
                </a:solidFill>
                <a:effectLst/>
              </a:rPr>
              <a:t>with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open</a:t>
            </a:r>
            <a:r>
              <a:rPr lang="en-AU" dirty="0">
                <a:solidFill>
                  <a:srgbClr val="333333"/>
                </a:solidFill>
                <a:effectLst/>
              </a:rPr>
              <a:t>(</a:t>
            </a:r>
            <a:r>
              <a:rPr lang="en-AU" dirty="0">
                <a:solidFill>
                  <a:srgbClr val="183691"/>
                </a:solidFill>
                <a:effectLst/>
              </a:rPr>
              <a:t>"some_text_file.txt"</a:t>
            </a:r>
            <a:r>
              <a:rPr lang="en-AU" dirty="0">
                <a:solidFill>
                  <a:srgbClr val="333333"/>
                </a:solidFill>
                <a:effectLst/>
              </a:rPr>
              <a:t>,</a:t>
            </a:r>
            <a:r>
              <a:rPr lang="en-AU" dirty="0"/>
              <a:t> </a:t>
            </a:r>
            <a:r>
              <a:rPr lang="en-AU" dirty="0">
                <a:solidFill>
                  <a:srgbClr val="183691"/>
                </a:solidFill>
                <a:effectLst/>
              </a:rPr>
              <a:t>”w"</a:t>
            </a:r>
            <a:r>
              <a:rPr lang="en-AU" dirty="0">
                <a:solidFill>
                  <a:srgbClr val="333333"/>
                </a:solidFill>
                <a:effectLst/>
              </a:rPr>
              <a:t>)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as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:</a:t>
            </a:r>
            <a:r>
              <a:rPr lang="en-AU" dirty="0"/>
              <a:t> </a:t>
            </a:r>
          </a:p>
          <a:p>
            <a:r>
              <a:rPr lang="en-AU" dirty="0"/>
              <a:t>	a_string </a:t>
            </a:r>
            <a:r>
              <a:rPr lang="en-AU" dirty="0">
                <a:solidFill>
                  <a:srgbClr val="A71D5D"/>
                </a:solidFill>
                <a:effectLst/>
              </a:rPr>
              <a:t>=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.</a:t>
            </a:r>
            <a:r>
              <a:rPr lang="en-AU" dirty="0"/>
              <a:t>read</a:t>
            </a:r>
            <a:r>
              <a:rPr lang="en-AU" dirty="0">
                <a:solidFill>
                  <a:srgbClr val="333333"/>
                </a:solidFill>
                <a:effectLst/>
              </a:rPr>
              <a:t>()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8A5475-C72C-539E-E3BE-85E8589EFC13}"/>
              </a:ext>
            </a:extLst>
          </p:cNvPr>
          <p:cNvSpPr txBox="1"/>
          <p:nvPr/>
        </p:nvSpPr>
        <p:spPr>
          <a:xfrm>
            <a:off x="1709200" y="3643163"/>
            <a:ext cx="609499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A71D5D"/>
                </a:solidFill>
                <a:effectLst/>
              </a:rPr>
              <a:t>with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open</a:t>
            </a:r>
            <a:r>
              <a:rPr lang="en-AU" dirty="0">
                <a:solidFill>
                  <a:srgbClr val="333333"/>
                </a:solidFill>
                <a:effectLst/>
              </a:rPr>
              <a:t>(</a:t>
            </a:r>
            <a:r>
              <a:rPr lang="en-AU" dirty="0">
                <a:solidFill>
                  <a:srgbClr val="183691"/>
                </a:solidFill>
                <a:effectLst/>
              </a:rPr>
              <a:t>"some_text_file.txt"</a:t>
            </a:r>
            <a:r>
              <a:rPr lang="en-AU" dirty="0">
                <a:solidFill>
                  <a:srgbClr val="333333"/>
                </a:solidFill>
                <a:effectLst/>
              </a:rPr>
              <a:t>,</a:t>
            </a:r>
            <a:r>
              <a:rPr lang="en-AU" dirty="0"/>
              <a:t> </a:t>
            </a:r>
            <a:r>
              <a:rPr lang="en-AU" dirty="0">
                <a:solidFill>
                  <a:srgbClr val="183691"/>
                </a:solidFill>
                <a:effectLst/>
              </a:rPr>
              <a:t>”a"</a:t>
            </a:r>
            <a:r>
              <a:rPr lang="en-AU" dirty="0">
                <a:solidFill>
                  <a:srgbClr val="333333"/>
                </a:solidFill>
                <a:effectLst/>
              </a:rPr>
              <a:t>)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as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:</a:t>
            </a:r>
            <a:r>
              <a:rPr lang="en-AU" dirty="0"/>
              <a:t> </a:t>
            </a:r>
          </a:p>
          <a:p>
            <a:r>
              <a:rPr lang="en-AU" dirty="0"/>
              <a:t>	a_string </a:t>
            </a:r>
            <a:r>
              <a:rPr lang="en-AU" dirty="0">
                <a:solidFill>
                  <a:srgbClr val="A71D5D"/>
                </a:solidFill>
                <a:effectLst/>
              </a:rPr>
              <a:t>=</a:t>
            </a:r>
            <a:r>
              <a:rPr lang="en-AU" dirty="0"/>
              <a:t> </a:t>
            </a:r>
            <a:r>
              <a:rPr lang="en-AU" dirty="0">
                <a:solidFill>
                  <a:srgbClr val="A71D5D"/>
                </a:solidFill>
                <a:effectLst/>
              </a:rPr>
              <a:t>file</a:t>
            </a:r>
            <a:r>
              <a:rPr lang="en-AU" dirty="0">
                <a:solidFill>
                  <a:srgbClr val="333333"/>
                </a:solidFill>
                <a:effectLst/>
              </a:rPr>
              <a:t>.</a:t>
            </a:r>
            <a:r>
              <a:rPr lang="en-AU" dirty="0"/>
              <a:t>read</a:t>
            </a:r>
            <a:r>
              <a:rPr lang="en-AU" dirty="0">
                <a:solidFill>
                  <a:srgbClr val="333333"/>
                </a:solidFill>
                <a:effectLst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5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D7AB-1E0A-BE8F-7489-AEED71DE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text modes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D5ABEF-B108-4CB8-F31B-E7CF12767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450668"/>
              </p:ext>
            </p:extLst>
          </p:nvPr>
        </p:nvGraphicFramePr>
        <p:xfrm>
          <a:off x="1778063" y="1678711"/>
          <a:ext cx="8988846" cy="4809122"/>
        </p:xfrm>
        <a:graphic>
          <a:graphicData uri="http://schemas.openxmlformats.org/drawingml/2006/table">
            <a:tbl>
              <a:tblPr/>
              <a:tblGrid>
                <a:gridCol w="1170057">
                  <a:extLst>
                    <a:ext uri="{9D8B030D-6E8A-4147-A177-3AD203B41FA5}">
                      <a16:colId xmlns:a16="http://schemas.microsoft.com/office/drawing/2014/main" val="1251889012"/>
                    </a:ext>
                  </a:extLst>
                </a:gridCol>
                <a:gridCol w="2683616">
                  <a:extLst>
                    <a:ext uri="{9D8B030D-6E8A-4147-A177-3AD203B41FA5}">
                      <a16:colId xmlns:a16="http://schemas.microsoft.com/office/drawing/2014/main" val="1589255358"/>
                    </a:ext>
                  </a:extLst>
                </a:gridCol>
                <a:gridCol w="2282972">
                  <a:extLst>
                    <a:ext uri="{9D8B030D-6E8A-4147-A177-3AD203B41FA5}">
                      <a16:colId xmlns:a16="http://schemas.microsoft.com/office/drawing/2014/main" val="1364893611"/>
                    </a:ext>
                  </a:extLst>
                </a:gridCol>
                <a:gridCol w="1519963">
                  <a:extLst>
                    <a:ext uri="{9D8B030D-6E8A-4147-A177-3AD203B41FA5}">
                      <a16:colId xmlns:a16="http://schemas.microsoft.com/office/drawing/2014/main" val="1121745539"/>
                    </a:ext>
                  </a:extLst>
                </a:gridCol>
                <a:gridCol w="1332238">
                  <a:extLst>
                    <a:ext uri="{9D8B030D-6E8A-4147-A177-3AD203B41FA5}">
                      <a16:colId xmlns:a16="http://schemas.microsoft.com/office/drawing/2014/main" val="2934795683"/>
                    </a:ext>
                  </a:extLst>
                </a:gridCol>
              </a:tblGrid>
              <a:tr h="269072"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Mode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Starting Position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Can Read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Can Write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634695"/>
                  </a:ext>
                </a:extLst>
              </a:tr>
              <a:tr h="360677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"r"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Read-only mode. File must exist.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9561"/>
                  </a:ext>
                </a:extLst>
              </a:tr>
              <a:tr h="363012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"r+"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Read and write mode. File must exist.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7442"/>
                  </a:ext>
                </a:extLst>
              </a:tr>
              <a:tr h="817368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"w"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Write-only mode. Truncates if exists or creates new file.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4777"/>
                  </a:ext>
                </a:extLst>
              </a:tr>
              <a:tr h="878290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"w+"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Write and read mode. Truncates if exists or creates new file.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936216"/>
                  </a:ext>
                </a:extLst>
              </a:tr>
              <a:tr h="756446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"a"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Append mode. Appends if exists or creates new file.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End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602217"/>
                  </a:ext>
                </a:extLst>
              </a:tr>
              <a:tr h="878290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"a+"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Append and read mode. Appends if exists or creates new file.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End of file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7499" marR="27499" marT="12692" marB="12692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20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53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92F1-665E-2518-AC29-452CFFC8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mean, though?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B31FA-1C1A-CDB6-D76C-E1F12BA9E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– what do we mean by open at a position in the file?</a:t>
            </a:r>
          </a:p>
          <a:p>
            <a:r>
              <a:rPr lang="en-US" dirty="0"/>
              <a:t>Second – what does it mean to open a file in text mode?</a:t>
            </a:r>
          </a:p>
        </p:txBody>
      </p:sp>
    </p:spTree>
    <p:extLst>
      <p:ext uri="{BB962C8B-B14F-4D97-AF65-F5344CB8AC3E}">
        <p14:creationId xmlns:p14="http://schemas.microsoft.com/office/powerpoint/2010/main" val="201347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B690-84FE-FA0C-DFF4-04B92A84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Files in Python: Intermediate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F83E-8A94-7BB8-DD4B-7E00FB433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When you open a file, Python returns a file object.</a:t>
            </a:r>
          </a:p>
          <a:p>
            <a:r>
              <a:rPr lang="en-US" sz="3400" dirty="0"/>
              <a:t>This object provides methods for interacting with the file, such as reading or writing.</a:t>
            </a:r>
          </a:p>
          <a:p>
            <a:pPr marL="0" indent="0">
              <a:buNone/>
            </a:pPr>
            <a:br>
              <a:rPr lang="en-US" sz="3400" b="1" dirty="0"/>
            </a:br>
            <a:r>
              <a:rPr lang="en-US" sz="3400" b="1" dirty="0"/>
              <a:t>File Positioning</a:t>
            </a:r>
          </a:p>
          <a:p>
            <a:r>
              <a:rPr lang="en-US" sz="3400" dirty="0"/>
              <a:t>The position indicates where the next read or write operation will happen.</a:t>
            </a:r>
          </a:p>
          <a:p>
            <a:r>
              <a:rPr lang="en-US" sz="3400" dirty="0"/>
              <a:t>Functions like seek() can change this position and tell() reports the current position.</a:t>
            </a:r>
          </a:p>
          <a:p>
            <a:r>
              <a:rPr lang="en-US" sz="3400" dirty="0"/>
              <a:t>In text mode, this position corresponds to characters, not necessarily bytes.</a:t>
            </a:r>
          </a:p>
          <a:p>
            <a:r>
              <a:rPr lang="en-US" sz="3400" dirty="0"/>
              <a:t>Every read and write operation moves the pointer. </a:t>
            </a:r>
          </a:p>
          <a:p>
            <a:r>
              <a:rPr lang="en-US" sz="3400" dirty="0"/>
              <a:t>The method .read(n) allows you to move the pointer a defined number</a:t>
            </a:r>
          </a:p>
          <a:p>
            <a:pPr marL="0" indent="0">
              <a:buNone/>
            </a:pP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51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n you believe The Matrix came out 23 years ago, in 1999?">
            <a:extLst>
              <a:ext uri="{FF2B5EF4-FFF2-40B4-BE49-F238E27FC236}">
                <a16:creationId xmlns:a16="http://schemas.microsoft.com/office/drawing/2014/main" id="{CD507C7A-5C2E-59CC-0169-781FCD55D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96DFE3-9EE1-0AB4-1F3E-0BDEA9DB7DFA}"/>
              </a:ext>
            </a:extLst>
          </p:cNvPr>
          <p:cNvSpPr txBox="1"/>
          <p:nvPr/>
        </p:nvSpPr>
        <p:spPr>
          <a:xfrm>
            <a:off x="3507522" y="1759907"/>
            <a:ext cx="5018688" cy="369332"/>
          </a:xfrm>
          <a:prstGeom prst="rect">
            <a:avLst/>
          </a:prstGeom>
          <a:solidFill>
            <a:schemeClr val="tx1">
              <a:alpha val="80000"/>
            </a:schemeClr>
          </a:solidFill>
          <a:ln w="57150">
            <a:solidFill>
              <a:srgbClr val="63C55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Text is just a </a:t>
            </a:r>
            <a:r>
              <a:rPr lang="en-US" dirty="0" err="1">
                <a:solidFill>
                  <a:schemeClr val="bg1"/>
                </a:solidFill>
              </a:rPr>
              <a:t>standardised</a:t>
            </a:r>
            <a:r>
              <a:rPr lang="en-US" dirty="0">
                <a:solidFill>
                  <a:schemeClr val="bg1"/>
                </a:solidFill>
              </a:rPr>
              <a:t> binary file format. </a:t>
            </a:r>
          </a:p>
        </p:txBody>
      </p:sp>
      <p:sp>
        <p:nvSpPr>
          <p:cNvPr id="2" name="!!binary">
            <a:extLst>
              <a:ext uri="{FF2B5EF4-FFF2-40B4-BE49-F238E27FC236}">
                <a16:creationId xmlns:a16="http://schemas.microsoft.com/office/drawing/2014/main" id="{A939280E-970B-BEA0-2433-9332BA3BFE1C}"/>
              </a:ext>
            </a:extLst>
          </p:cNvPr>
          <p:cNvSpPr txBox="1"/>
          <p:nvPr/>
        </p:nvSpPr>
        <p:spPr>
          <a:xfrm>
            <a:off x="1513415" y="2827282"/>
            <a:ext cx="9006903" cy="2585323"/>
          </a:xfrm>
          <a:prstGeom prst="rect">
            <a:avLst/>
          </a:prstGeom>
          <a:solidFill>
            <a:schemeClr val="tx1">
              <a:alpha val="80000"/>
            </a:schemeClr>
          </a:solidFill>
          <a:ln w="57150">
            <a:solidFill>
              <a:srgbClr val="63C55F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01010100 01100101 01111000 01110100 00100000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01101001 01110011 00100000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01101010 01110101 01110011 01110100 00100000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01100001 00100000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01110011 01110100 01100001 01101110 01100100 01100001 01110010 01100100 01101001 01110011 01100101 01100100 00100000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01100010 01101001 01101110 01100001 01110010 01111001 00100000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01100110 01101001 01101100 01100101 00100000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01100110 01101111 01110010 01101101 01100001 01110100 00101110</a:t>
            </a:r>
          </a:p>
        </p:txBody>
      </p:sp>
      <p:sp>
        <p:nvSpPr>
          <p:cNvPr id="6" name="somethinbg">
            <a:extLst>
              <a:ext uri="{FF2B5EF4-FFF2-40B4-BE49-F238E27FC236}">
                <a16:creationId xmlns:a16="http://schemas.microsoft.com/office/drawing/2014/main" id="{CE82540B-472C-E507-834C-DE2145C46420}"/>
              </a:ext>
            </a:extLst>
          </p:cNvPr>
          <p:cNvSpPr txBox="1"/>
          <p:nvPr/>
        </p:nvSpPr>
        <p:spPr>
          <a:xfrm>
            <a:off x="4894381" y="877198"/>
            <a:ext cx="2244969" cy="369332"/>
          </a:xfrm>
          <a:prstGeom prst="rect">
            <a:avLst/>
          </a:prstGeom>
          <a:solidFill>
            <a:schemeClr val="tx1">
              <a:alpha val="80000"/>
            </a:schemeClr>
          </a:solidFill>
          <a:ln w="38100">
            <a:solidFill>
              <a:srgbClr val="63C55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Everything is binary</a:t>
            </a:r>
          </a:p>
        </p:txBody>
      </p:sp>
    </p:spTree>
    <p:extLst>
      <p:ext uri="{BB962C8B-B14F-4D97-AF65-F5344CB8AC3E}">
        <p14:creationId xmlns:p14="http://schemas.microsoft.com/office/powerpoint/2010/main" val="214612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11E56-C81D-1A41-3107-D158E6C2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DEE0-9F04-D184-8508-58AF684C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Single/Multi - Byte Unicode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D32F-8783-6D8C-9197-F7556D4FA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3356"/>
            <a:ext cx="5726805" cy="35221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3900" b="0" i="0" dirty="0">
                <a:solidFill>
                  <a:schemeClr val="bg1"/>
                </a:solidFill>
                <a:effectLst/>
              </a:rPr>
              <a:t>Latin Alphabet Character:</a:t>
            </a:r>
          </a:p>
          <a:p>
            <a:pPr marL="0" indent="0">
              <a:buNone/>
            </a:pPr>
            <a:endParaRPr lang="en-AU" sz="3900" b="0" i="0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3900" b="0" i="0" dirty="0">
                <a:solidFill>
                  <a:schemeClr val="bg1"/>
                </a:solidFill>
                <a:effectLst/>
              </a:rPr>
              <a:t>Character: 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3900" b="0" i="0" dirty="0">
                <a:solidFill>
                  <a:schemeClr val="bg1"/>
                </a:solidFill>
                <a:effectLst/>
              </a:rPr>
              <a:t>Unicode </a:t>
            </a:r>
            <a:r>
              <a:rPr lang="en-AU" sz="3900" dirty="0">
                <a:solidFill>
                  <a:schemeClr val="bg1"/>
                </a:solidFill>
              </a:rPr>
              <a:t>C</a:t>
            </a:r>
            <a:r>
              <a:rPr lang="en-AU" sz="3900" b="0" i="0" dirty="0">
                <a:solidFill>
                  <a:schemeClr val="bg1"/>
                </a:solidFill>
                <a:effectLst/>
              </a:rPr>
              <a:t>ode Point: U+0048.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3900" b="0" i="0" dirty="0">
                <a:solidFill>
                  <a:schemeClr val="bg1"/>
                </a:solidFill>
                <a:effectLst/>
              </a:rPr>
              <a:t>UTF-8 encoded:0x48 (1 byte).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3900" dirty="0">
                <a:solidFill>
                  <a:schemeClr val="bg1"/>
                </a:solidFill>
              </a:rPr>
              <a:t>Ox48 or \x48 in hexadecimal</a:t>
            </a:r>
            <a:endParaRPr lang="en-AU" sz="3900" b="0" i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BED654-DBEB-CBF1-E259-FD84688DD5BE}"/>
              </a:ext>
            </a:extLst>
          </p:cNvPr>
          <p:cNvSpPr txBox="1">
            <a:spLocks/>
          </p:cNvSpPr>
          <p:nvPr/>
        </p:nvSpPr>
        <p:spPr>
          <a:xfrm>
            <a:off x="6453809" y="2170420"/>
            <a:ext cx="5486400" cy="3522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AU" dirty="0">
                <a:solidFill>
                  <a:schemeClr val="bg1"/>
                </a:solidFill>
              </a:rPr>
              <a:t>Emoji Character:</a:t>
            </a:r>
          </a:p>
          <a:p>
            <a:pPr marL="0" indent="0">
              <a:buFont typeface="Arial"/>
              <a:buNone/>
            </a:pPr>
            <a:endParaRPr lang="en-AU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</a:rPr>
              <a:t>Character: 😊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</a:rPr>
              <a:t>Unicode Code Point: </a:t>
            </a:r>
            <a:r>
              <a:rPr lang="en-AU" b="0" i="1" dirty="0">
                <a:solidFill>
                  <a:srgbClr val="FFC000"/>
                </a:solidFill>
                <a:effectLst/>
              </a:rPr>
              <a:t>U+1F60A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chemeClr val="bg1"/>
                </a:solidFill>
                <a:effectLst/>
              </a:rPr>
              <a:t>UTF-8 Encoding: </a:t>
            </a:r>
            <a:r>
              <a:rPr lang="en-AU" i="1" dirty="0">
                <a:solidFill>
                  <a:srgbClr val="FFC000"/>
                </a:solidFill>
                <a:effectLst/>
              </a:rPr>
              <a:t>F0 9F 98 8A (4 bytes)</a:t>
            </a:r>
          </a:p>
          <a:p>
            <a:pPr marL="0" indent="0">
              <a:buFont typeface="Arial"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941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56AC-6088-5EEA-EC38-70A93FE6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4995-F30E-647F-968E-A60A1DE6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a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989F-4899-206B-F678-BC24B3E6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Take the character – </a:t>
            </a:r>
            <a:r>
              <a:rPr lang="en-US" b="1" dirty="0">
                <a:solidFill>
                  <a:srgbClr val="FFC000"/>
                </a:solidFill>
              </a:rPr>
              <a:t>H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# converted to hex</a:t>
            </a:r>
          </a:p>
          <a:p>
            <a:pPr marL="0" indent="0">
              <a:buNone/>
            </a:pPr>
            <a:r>
              <a:rPr lang="en-AU" b="1" dirty="0"/>
              <a:t>Divide by 16</a:t>
            </a:r>
            <a:r>
              <a:rPr lang="en-AU" dirty="0"/>
              <a:t> (since hex is base-16):</a:t>
            </a:r>
          </a:p>
          <a:p>
            <a:pPr marL="0" indent="0">
              <a:buNone/>
            </a:pPr>
            <a:r>
              <a:rPr lang="en-AU" dirty="0"/>
              <a:t>• </a:t>
            </a:r>
            <a:r>
              <a:rPr lang="en-AU" b="1" dirty="0"/>
              <a:t>72 ÷ 16 = 4 remainder 8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• </a:t>
            </a:r>
            <a:r>
              <a:rPr lang="en-AU" b="1" dirty="0"/>
              <a:t>Quotient:</a:t>
            </a:r>
            <a:r>
              <a:rPr lang="en-AU" dirty="0"/>
              <a:t> 4</a:t>
            </a:r>
          </a:p>
          <a:p>
            <a:pPr marL="0" indent="0">
              <a:buNone/>
            </a:pPr>
            <a:r>
              <a:rPr lang="en-AU" dirty="0"/>
              <a:t>• </a:t>
            </a:r>
            <a:r>
              <a:rPr lang="en-AU" b="1" dirty="0"/>
              <a:t>Remainder:</a:t>
            </a:r>
            <a:r>
              <a:rPr lang="en-AU" dirty="0"/>
              <a:t> 8</a:t>
            </a:r>
          </a:p>
          <a:p>
            <a:pPr marL="0" indent="0">
              <a:buNone/>
            </a:pP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Our hex value is </a:t>
            </a:r>
            <a:r>
              <a:rPr lang="en-AU" b="1" dirty="0">
                <a:solidFill>
                  <a:srgbClr val="FFC000"/>
                </a:solidFill>
              </a:rPr>
              <a:t>0x48 or \x48 </a:t>
            </a:r>
            <a:r>
              <a:rPr lang="en-AU" b="1" dirty="0">
                <a:solidFill>
                  <a:srgbClr val="FF0000"/>
                </a:solidFill>
                <a:sym typeface="Wingdings" pitchFamily="2" charset="2"/>
              </a:rPr>
              <a:t>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66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2207-FDDB-2479-A216-62F93C94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F302-B3FD-DE38-5580-3E99D837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to binary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CDA36-D2D3-BB67-953B-4B7CDD967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622" y="1753780"/>
            <a:ext cx="7979909" cy="15045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3600" b="0" i="0" dirty="0">
                <a:solidFill>
                  <a:schemeClr val="bg1"/>
                </a:solidFill>
                <a:effectLst/>
              </a:rPr>
              <a:t>Character</a:t>
            </a:r>
            <a:r>
              <a:rPr lang="en-AU" sz="3600" dirty="0">
                <a:solidFill>
                  <a:schemeClr val="bg1"/>
                </a:solidFill>
              </a:rPr>
              <a:t> :</a:t>
            </a:r>
            <a:r>
              <a:rPr lang="en-AU" sz="3600" i="1" dirty="0">
                <a:solidFill>
                  <a:srgbClr val="FFC000"/>
                </a:solidFill>
              </a:rPr>
              <a:t> </a:t>
            </a:r>
            <a:r>
              <a:rPr lang="en-AU" sz="3600" b="1" i="1" dirty="0">
                <a:solidFill>
                  <a:srgbClr val="4F81BD"/>
                </a:solidFill>
              </a:rPr>
              <a:t>H</a:t>
            </a:r>
            <a:endParaRPr lang="en-AU" sz="3600" b="1" i="1" dirty="0">
              <a:solidFill>
                <a:srgbClr val="4F81BD"/>
              </a:solidFill>
              <a:effectLst/>
            </a:endParaRPr>
          </a:p>
          <a:p>
            <a:pPr lvl="1"/>
            <a:r>
              <a:rPr lang="en-AU" sz="3200" i="1" dirty="0">
                <a:solidFill>
                  <a:schemeClr val="bg1"/>
                </a:solidFill>
                <a:effectLst/>
              </a:rPr>
              <a:t>ASCII 72</a:t>
            </a:r>
          </a:p>
          <a:p>
            <a:pPr lvl="1"/>
            <a:r>
              <a:rPr lang="en-AU" sz="3200" i="1" dirty="0">
                <a:solidFill>
                  <a:schemeClr val="bg1"/>
                </a:solidFill>
                <a:effectLst/>
              </a:rPr>
              <a:t>Hexadecimal 0x48</a:t>
            </a:r>
          </a:p>
          <a:p>
            <a:pPr lvl="1"/>
            <a:r>
              <a:rPr lang="en-AU" sz="3200" i="1" dirty="0">
                <a:solidFill>
                  <a:schemeClr val="bg1"/>
                </a:solidFill>
                <a:effectLst/>
              </a:rPr>
              <a:t>Binary: </a:t>
            </a:r>
            <a:r>
              <a:rPr lang="en-AU" sz="3200" i="1" dirty="0">
                <a:solidFill>
                  <a:srgbClr val="FFC000"/>
                </a:solidFill>
              </a:rPr>
              <a:t>01000100</a:t>
            </a:r>
            <a:endParaRPr lang="en-AU" sz="3200" i="1" dirty="0">
              <a:solidFill>
                <a:srgbClr val="FFC000"/>
              </a:solidFill>
              <a:effectLst/>
            </a:endParaRPr>
          </a:p>
          <a:p>
            <a:endParaRPr lang="en-AU" sz="3600" b="1" i="1" dirty="0">
              <a:solidFill>
                <a:srgbClr val="FFC000"/>
              </a:solidFill>
              <a:effectLst/>
            </a:endParaRP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9D4644-EFAB-51AD-9222-55FE85E74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619970"/>
              </p:ext>
            </p:extLst>
          </p:nvPr>
        </p:nvGraphicFramePr>
        <p:xfrm>
          <a:off x="823624" y="3588154"/>
          <a:ext cx="10758776" cy="2349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847">
                  <a:extLst>
                    <a:ext uri="{9D8B030D-6E8A-4147-A177-3AD203B41FA5}">
                      <a16:colId xmlns:a16="http://schemas.microsoft.com/office/drawing/2014/main" val="2866733206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1779448291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1658257171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1586463321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2294410696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1883185176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3014289306"/>
                    </a:ext>
                  </a:extLst>
                </a:gridCol>
                <a:gridCol w="1344847">
                  <a:extLst>
                    <a:ext uri="{9D8B030D-6E8A-4147-A177-3AD203B41FA5}">
                      <a16:colId xmlns:a16="http://schemas.microsoft.com/office/drawing/2014/main" val="2362715305"/>
                    </a:ext>
                  </a:extLst>
                </a:gridCol>
              </a:tblGrid>
              <a:tr h="11807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      </a:t>
                      </a: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0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720713"/>
                  </a:ext>
                </a:extLst>
              </a:tr>
              <a:tr h="5843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64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542892"/>
                  </a:ext>
                </a:extLst>
              </a:tr>
              <a:tr h="5843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552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11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4B1B32-CC11-8B36-12FA-F4D93DB8E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90466"/>
              </p:ext>
            </p:extLst>
          </p:nvPr>
        </p:nvGraphicFramePr>
        <p:xfrm>
          <a:off x="1953490" y="1180726"/>
          <a:ext cx="8372105" cy="4851024"/>
        </p:xfrm>
        <a:graphic>
          <a:graphicData uri="http://schemas.openxmlformats.org/drawingml/2006/table">
            <a:tbl>
              <a:tblPr/>
              <a:tblGrid>
                <a:gridCol w="760021">
                  <a:extLst>
                    <a:ext uri="{9D8B030D-6E8A-4147-A177-3AD203B41FA5}">
                      <a16:colId xmlns:a16="http://schemas.microsoft.com/office/drawing/2014/main" val="1780175969"/>
                    </a:ext>
                  </a:extLst>
                </a:gridCol>
                <a:gridCol w="3117273">
                  <a:extLst>
                    <a:ext uri="{9D8B030D-6E8A-4147-A177-3AD203B41FA5}">
                      <a16:colId xmlns:a16="http://schemas.microsoft.com/office/drawing/2014/main" val="1049583552"/>
                    </a:ext>
                  </a:extLst>
                </a:gridCol>
                <a:gridCol w="2018805">
                  <a:extLst>
                    <a:ext uri="{9D8B030D-6E8A-4147-A177-3AD203B41FA5}">
                      <a16:colId xmlns:a16="http://schemas.microsoft.com/office/drawing/2014/main" val="1309140937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84367487"/>
                    </a:ext>
                  </a:extLst>
                </a:gridCol>
                <a:gridCol w="1169721">
                  <a:extLst>
                    <a:ext uri="{9D8B030D-6E8A-4147-A177-3AD203B41FA5}">
                      <a16:colId xmlns:a16="http://schemas.microsoft.com/office/drawing/2014/main" val="3832992617"/>
                    </a:ext>
                  </a:extLst>
                </a:gridCol>
              </a:tblGrid>
              <a:tr h="231923"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Mode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Starting Position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Can Read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dirty="0">
                          <a:solidFill>
                            <a:srgbClr val="000000"/>
                          </a:solidFill>
                          <a:effectLst/>
                        </a:rPr>
                        <a:t>Can Write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616682"/>
                  </a:ext>
                </a:extLst>
              </a:tr>
              <a:tr h="494477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"rb"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Read-only binary mode. File must exist.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11187"/>
                  </a:ext>
                </a:extLst>
              </a:tr>
              <a:tr h="546987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"rb+"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Read and write binary mode. File must exist.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8752"/>
                  </a:ext>
                </a:extLst>
              </a:tr>
              <a:tr h="809541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"wb"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Write-only binary mode. Truncates if exists or creates a new file.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60582"/>
                  </a:ext>
                </a:extLst>
              </a:tr>
              <a:tr h="862052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"wb+"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Write and read binary mode. Truncates if exists or creates a new file.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Beginning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87839"/>
                  </a:ext>
                </a:extLst>
              </a:tr>
              <a:tr h="757031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"ab"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Append binary mode. Appends if exists or creates a new file.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End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800" dirty="0">
                        <a:effectLst/>
                      </a:endParaRP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74314"/>
                  </a:ext>
                </a:extLst>
              </a:tr>
              <a:tr h="862052"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"ab+"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Append and read binary mode. Appends if exists or creates a new file.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End of file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effectLst/>
                        </a:rPr>
                        <a:t>✅</a:t>
                      </a:r>
                    </a:p>
                  </a:txBody>
                  <a:tcPr marL="23703" marR="23703" marT="10940" marB="10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03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97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51A-3C0A-5904-023E-F92849E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files and Bytes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19E3-819A-56AF-E168-C6A84760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files contain data without any specific encoding or interpretation.</a:t>
            </a:r>
          </a:p>
          <a:p>
            <a:r>
              <a:rPr lang="en-US" dirty="0"/>
              <a:t>When reading a file in binary mode (e.g., "rb"), the data is returned as a byte's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6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51A-3C0A-5904-023E-F92849E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a bytes object?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19E3-819A-56AF-E168-C6A847605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6082748" cy="4563491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sequence</a:t>
            </a:r>
            <a:r>
              <a:rPr lang="en-US" dirty="0"/>
              <a:t> of bytes</a:t>
            </a:r>
          </a:p>
          <a:p>
            <a:r>
              <a:rPr lang="en-US" dirty="0"/>
              <a:t>iterable (like a list or tuple)</a:t>
            </a:r>
          </a:p>
          <a:p>
            <a:r>
              <a:rPr lang="en-US" dirty="0"/>
              <a:t>immutable (like a tuple)</a:t>
            </a:r>
          </a:p>
          <a:p>
            <a:r>
              <a:rPr lang="en-US" dirty="0"/>
              <a:t>contains inbuilt methods</a:t>
            </a:r>
          </a:p>
          <a:p>
            <a:r>
              <a:rPr lang="en-US" dirty="0"/>
              <a:t>each element is of type integer</a:t>
            </a:r>
          </a:p>
          <a:p>
            <a:pPr lvl="1"/>
            <a:r>
              <a:rPr lang="en-US" dirty="0"/>
              <a:t>of what values?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A1D875-46D9-9DF1-4E4F-9F20643E6038}"/>
              </a:ext>
            </a:extLst>
          </p:cNvPr>
          <p:cNvSpPr txBox="1">
            <a:spLocks/>
          </p:cNvSpPr>
          <p:nvPr/>
        </p:nvSpPr>
        <p:spPr>
          <a:xfrm>
            <a:off x="7315200" y="1940391"/>
            <a:ext cx="4041913" cy="3678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decode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index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count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startswith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split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join()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06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A7D92-AB71-96FC-EDD6-BB3DF898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AC2E-0016-1DFE-54B7-D3FD9EFB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0-255???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264B9-53B8-2391-7362-251926BC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11425518" cy="4563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each bit can have a value 0 or 1, there are </a:t>
            </a:r>
            <a:r>
              <a:rPr lang="en-US" i="1" dirty="0">
                <a:solidFill>
                  <a:srgbClr val="FFC000"/>
                </a:solidFill>
              </a:rPr>
              <a:t>256(2**8) </a:t>
            </a:r>
            <a:r>
              <a:rPr lang="en-US" dirty="0"/>
              <a:t>possible combinations.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Translating directly into integer values ranging from </a:t>
            </a:r>
            <a:r>
              <a:rPr lang="en-US" dirty="0">
                <a:solidFill>
                  <a:srgbClr val="FFC000"/>
                </a:solidFill>
              </a:rPr>
              <a:t>0</a:t>
            </a:r>
            <a:r>
              <a:rPr lang="en-US" dirty="0"/>
              <a:t> to </a:t>
            </a:r>
            <a:r>
              <a:rPr lang="en-US" dirty="0">
                <a:solidFill>
                  <a:srgbClr val="FFC000"/>
                </a:solidFill>
              </a:rPr>
              <a:t>255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1" dirty="0">
                <a:solidFill>
                  <a:schemeClr val="bg1"/>
                </a:solidFill>
              </a:rPr>
              <a:t>00000000</a:t>
            </a:r>
            <a:r>
              <a:rPr lang="en-US" dirty="0">
                <a:solidFill>
                  <a:schemeClr val="bg1"/>
                </a:solidFill>
              </a:rPr>
              <a:t> represents the integer</a:t>
            </a:r>
            <a:r>
              <a:rPr lang="en-US" i="1" dirty="0">
                <a:solidFill>
                  <a:schemeClr val="bg1"/>
                </a:solidFill>
              </a:rPr>
              <a:t> 0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i="1" dirty="0">
                <a:solidFill>
                  <a:schemeClr val="bg1"/>
                </a:solidFill>
              </a:rPr>
              <a:t>11111111</a:t>
            </a:r>
            <a:r>
              <a:rPr lang="en-US" dirty="0">
                <a:solidFill>
                  <a:schemeClr val="bg1"/>
                </a:solidFill>
              </a:rPr>
              <a:t> represents the integer </a:t>
            </a:r>
            <a:r>
              <a:rPr lang="en-US" i="1" dirty="0">
                <a:solidFill>
                  <a:schemeClr val="bg1"/>
                </a:solidFill>
              </a:rPr>
              <a:t>255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5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51A-3C0A-5904-023E-F92849E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Bytes to text to bytes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347D6-2336-6E3D-C230-51A06EC24E01}"/>
              </a:ext>
            </a:extLst>
          </p:cNvPr>
          <p:cNvSpPr txBox="1"/>
          <p:nvPr/>
        </p:nvSpPr>
        <p:spPr>
          <a:xfrm>
            <a:off x="608595" y="2090172"/>
            <a:ext cx="107740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unicode_string = </a:t>
            </a:r>
            <a:r>
              <a:rPr lang="en-AU" sz="2400" dirty="0">
                <a:solidFill>
                  <a:schemeClr val="accent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br>
              <a:rPr lang="en-AU" sz="24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AU" sz="24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AU" sz="2400" dirty="0">
                <a:solidFill>
                  <a:schemeClr val="accent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UTF-8 encoding</a:t>
            </a:r>
            <a:r>
              <a:rPr lang="en-AU" sz="2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text to binary</a:t>
            </a:r>
          </a:p>
          <a:p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bytes_object= unicode_str.encode(</a:t>
            </a:r>
            <a:r>
              <a:rPr lang="en-AU" sz="24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'utf-8’</a:t>
            </a: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AU" sz="2400" i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#b'Hello, world!'</a:t>
            </a:r>
            <a:endParaRPr lang="en-AU" sz="2400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AU" sz="2400" i="1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AU" sz="2400" dirty="0">
                <a:solidFill>
                  <a:schemeClr val="accent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AU" sz="2400" dirty="0">
                <a:solidFill>
                  <a:schemeClr val="accent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Unicode </a:t>
            </a:r>
            <a:r>
              <a:rPr lang="en-AU" sz="2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decoding binary to text – returns</a:t>
            </a:r>
            <a:r>
              <a:rPr lang="en-AU" sz="2400" i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decoded_string = bytes_object.decode(</a:t>
            </a:r>
            <a:r>
              <a:rPr lang="en-AU" sz="24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'utf-8’</a:t>
            </a: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AU" sz="2400" i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#‘Hello, world!'</a:t>
            </a:r>
            <a:endParaRPr lang="en-AU" sz="2400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2D11E-35CB-5674-31D6-62359E6172B4}"/>
              </a:ext>
            </a:extLst>
          </p:cNvPr>
          <p:cNvSpPr txBox="1"/>
          <p:nvPr/>
        </p:nvSpPr>
        <p:spPr>
          <a:xfrm>
            <a:off x="608594" y="5724235"/>
            <a:ext cx="815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Note: byte literals are objects that start </a:t>
            </a:r>
            <a:r>
              <a:rPr lang="en-AU" sz="2800" dirty="0">
                <a:solidFill>
                  <a:schemeClr val="bg1"/>
                </a:solidFill>
              </a:rPr>
              <a:t>b’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414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51A-3C0A-5904-023E-F92849E7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37213"/>
            <a:ext cx="10972800" cy="1003205"/>
          </a:xfrm>
        </p:spPr>
        <p:txBody>
          <a:bodyPr/>
          <a:lstStyle/>
          <a:p>
            <a:r>
              <a:rPr lang="en-US" dirty="0"/>
              <a:t>Bytes &gt;&gt;&gt; int &gt;&gt;&gt;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19E3-819A-56AF-E168-C6A847605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1" y="4545004"/>
            <a:ext cx="10972800" cy="1634383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br>
              <a:rPr lang="en-US" sz="3500" dirty="0"/>
            </a:br>
            <a:endParaRPr lang="en-US" sz="3600" dirty="0"/>
          </a:p>
          <a:p>
            <a:pPr marL="457200" lvl="1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Notice this an inbuilt method on the</a:t>
            </a:r>
            <a:r>
              <a:rPr lang="en-US" sz="3600" b="1" dirty="0">
                <a:solidFill>
                  <a:schemeClr val="bg1"/>
                </a:solidFill>
              </a:rPr>
              <a:t> int </a:t>
            </a:r>
            <a:r>
              <a:rPr lang="en-US" sz="3600" dirty="0">
                <a:solidFill>
                  <a:schemeClr val="bg1"/>
                </a:solidFill>
              </a:rPr>
              <a:t>class!</a:t>
            </a:r>
            <a:br>
              <a:rPr lang="en-US" sz="3500" dirty="0"/>
            </a:br>
            <a:endParaRPr lang="en-US" sz="35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7E13D-39E6-CBA2-2287-70A68924BC45}"/>
              </a:ext>
            </a:extLst>
          </p:cNvPr>
          <p:cNvSpPr txBox="1"/>
          <p:nvPr/>
        </p:nvSpPr>
        <p:spPr>
          <a:xfrm>
            <a:off x="834889" y="1774583"/>
            <a:ext cx="875968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sz="2800" dirty="0">
                <a:solidFill>
                  <a:srgbClr val="BCBEC4"/>
                </a:solidFill>
                <a:effectLst/>
              </a:rPr>
            </a:br>
            <a: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Convert integer 42 to a bytes object</a:t>
            </a:r>
            <a:b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bytes_42 = (42).to_bytes(</a:t>
            </a:r>
            <a:r>
              <a:rPr lang="en-AU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AU" sz="2400" dirty="0">
                <a:solidFill>
                  <a:schemeClr val="accent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b'*'</a:t>
            </a:r>
            <a:b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Convert the bytes object back to an integer</a:t>
            </a:r>
            <a:br>
              <a:rPr lang="en-AU" sz="2400" dirty="0">
                <a:solidFill>
                  <a:srgbClr val="7A7E8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integer_from_bytes = </a:t>
            </a:r>
            <a:r>
              <a:rPr lang="en-AU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sz="2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.from_bytes(bytes_42</a:t>
            </a:r>
            <a:r>
              <a:rPr lang="en-AU" sz="24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AU" sz="2400" dirty="0">
                <a:solidFill>
                  <a:schemeClr val="accent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42</a:t>
            </a:r>
          </a:p>
        </p:txBody>
      </p:sp>
    </p:spTree>
    <p:extLst>
      <p:ext uri="{BB962C8B-B14F-4D97-AF65-F5344CB8AC3E}">
        <p14:creationId xmlns:p14="http://schemas.microsoft.com/office/powerpoint/2010/main" val="2583619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851A-3C0A-5904-023E-F92849E7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37213"/>
            <a:ext cx="10972800" cy="1003205"/>
          </a:xfrm>
        </p:spPr>
        <p:txBody>
          <a:bodyPr/>
          <a:lstStyle/>
          <a:p>
            <a:r>
              <a:rPr lang="en-US"/>
              <a:t>Understanding </a:t>
            </a:r>
            <a:r>
              <a:rPr lang="en-US" err="1"/>
              <a:t>Endianess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7E13D-39E6-CBA2-2287-70A68924BC45}"/>
              </a:ext>
            </a:extLst>
          </p:cNvPr>
          <p:cNvSpPr txBox="1"/>
          <p:nvPr/>
        </p:nvSpPr>
        <p:spPr>
          <a:xfrm>
            <a:off x="609600" y="1964073"/>
            <a:ext cx="112238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>
                <a:solidFill>
                  <a:schemeClr val="bg1"/>
                </a:solidFill>
                <a:effectLst/>
              </a:rPr>
              <a:t>'big' endian, the most significant byte is stored first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>
                <a:solidFill>
                  <a:schemeClr val="bg1"/>
                </a:solidFill>
                <a:effectLst/>
              </a:rPr>
              <a:t>'little' endian, the least significant byte is stored first</a:t>
            </a:r>
          </a:p>
          <a:p>
            <a:endParaRPr lang="en-AU" sz="3200">
              <a:solidFill>
                <a:schemeClr val="bg1"/>
              </a:solidFill>
              <a:effectLst/>
            </a:endParaRPr>
          </a:p>
          <a:p>
            <a:r>
              <a:rPr lang="en-AU" sz="3200">
                <a:solidFill>
                  <a:schemeClr val="bg1"/>
                </a:solidFill>
                <a:effectLst/>
              </a:rPr>
              <a:t>e.</a:t>
            </a:r>
            <a:r>
              <a:rPr lang="en-AU" sz="3200">
                <a:solidFill>
                  <a:schemeClr val="bg1"/>
                </a:solidFill>
              </a:rPr>
              <a:t>g. </a:t>
            </a:r>
            <a:r>
              <a:rPr lang="en-AU" sz="3200">
                <a:solidFill>
                  <a:schemeClr val="bg1"/>
                </a:solidFill>
                <a:effectLst/>
              </a:rPr>
              <a:t>consider the 32-bit(8*4) integer 0x12345678:</a:t>
            </a:r>
          </a:p>
          <a:p>
            <a:endParaRPr lang="en-AU" sz="3200">
              <a:solidFill>
                <a:schemeClr val="bg1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>
                <a:solidFill>
                  <a:schemeClr val="bg1"/>
                </a:solidFill>
                <a:effectLst/>
              </a:rPr>
              <a:t>big - stored in memory as 12 34 56 78.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>
                <a:solidFill>
                  <a:schemeClr val="bg1"/>
                </a:solidFill>
                <a:effectLst/>
              </a:rPr>
              <a:t>little - stored in memory as 78 56 34 12.</a:t>
            </a:r>
          </a:p>
          <a:p>
            <a:endParaRPr lang="en-AU" sz="3200">
              <a:solidFill>
                <a:schemeClr val="bg1"/>
              </a:solidFill>
            </a:endParaRPr>
          </a:p>
          <a:p>
            <a:r>
              <a:rPr lang="en-AU" sz="3200" i="1">
                <a:solidFill>
                  <a:schemeClr val="bg1">
                    <a:lumMod val="65000"/>
                  </a:schemeClr>
                </a:solidFill>
                <a:effectLst/>
              </a:rPr>
              <a:t>This is used to determine how things are stored in memory</a:t>
            </a:r>
          </a:p>
        </p:txBody>
      </p:sp>
    </p:spTree>
    <p:extLst>
      <p:ext uri="{BB962C8B-B14F-4D97-AF65-F5344CB8AC3E}">
        <p14:creationId xmlns:p14="http://schemas.microsoft.com/office/powerpoint/2010/main" val="801506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3040-E700-59AE-3C1D-F8A5E8EE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7E96-6958-4075-52FB-2C5C0CB4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541" y="2927397"/>
            <a:ext cx="10972800" cy="1003205"/>
          </a:xfrm>
        </p:spPr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19426-4D22-9F9C-E1B4-29086512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1" y="4545004"/>
            <a:ext cx="10972800" cy="163438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br>
              <a:rPr lang="en-US" sz="3500" dirty="0"/>
            </a:br>
            <a:endParaRPr lang="en-US" sz="3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71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537-70F6-5538-B3D3-71C714E2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binary is not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ACB86-92F7-2C38-F0D5-BE740588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68" y="1662123"/>
            <a:ext cx="10522227" cy="45634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Usually there is a high-level interface:</a:t>
            </a:r>
          </a:p>
          <a:p>
            <a:pPr marL="0" indent="0">
              <a:buNone/>
            </a:pPr>
            <a:endParaRPr lang="en-US"/>
          </a:p>
          <a:p>
            <a:pPr lvl="1"/>
            <a:r>
              <a:rPr lang="en-US"/>
              <a:t>wave </a:t>
            </a:r>
            <a:r>
              <a:rPr lang="en-US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https://docs.python.org/3/library/wave.html</a:t>
            </a:r>
            <a:endParaRPr lang="en-US">
              <a:solidFill>
                <a:schemeClr val="accent1"/>
              </a:solidFill>
            </a:endParaRPr>
          </a:p>
          <a:p>
            <a:pPr lvl="1"/>
            <a:r>
              <a:rPr lang="en-US"/>
              <a:t>sqlite3 </a:t>
            </a:r>
            <a:r>
              <a:rPr lang="en-US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https://docs.python.org/3/library/sqlite3.html</a:t>
            </a:r>
            <a:endParaRPr lang="en-US">
              <a:solidFill>
                <a:schemeClr val="accent1"/>
              </a:solidFill>
            </a:endParaRPr>
          </a:p>
          <a:p>
            <a:pPr lvl="1"/>
            <a:r>
              <a:rPr lang="en-US"/>
              <a:t>Socket </a:t>
            </a:r>
            <a:r>
              <a:rPr lang="en-US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https://docs.python.org/3/library/socket.html</a:t>
            </a:r>
            <a:r>
              <a:rPr lang="en-US">
                <a:solidFill>
                  <a:schemeClr val="accent1"/>
                </a:solidFill>
              </a:rPr>
              <a:t> 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struct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https://docs.python.org/3/library/struct.html</a:t>
            </a:r>
            <a:r>
              <a:rPr lang="en-US">
                <a:solidFill>
                  <a:schemeClr val="accent1"/>
                </a:solidFill>
              </a:rPr>
              <a:t> </a:t>
            </a:r>
          </a:p>
          <a:p>
            <a:pPr lvl="1"/>
            <a:r>
              <a:rPr lang="en-US"/>
              <a:t>pillow </a:t>
            </a:r>
            <a:r>
              <a:rPr lang="en-US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https://pypi.org/project/Pillow/</a:t>
            </a:r>
            <a:endParaRPr lang="en-US">
              <a:solidFill>
                <a:schemeClr val="accent1"/>
              </a:solidFill>
            </a:endParaRPr>
          </a:p>
          <a:p>
            <a:pPr lvl="1"/>
            <a:r>
              <a:rPr lang="en-US" err="1"/>
              <a:t>openCV</a:t>
            </a:r>
            <a:r>
              <a:rPr lang="en-US"/>
              <a:t> </a:t>
            </a:r>
            <a:r>
              <a:rPr lang="en-US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https://pypi.org/project/opencv-python/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Why is it right to say developers abstract these libraries?</a:t>
            </a:r>
          </a:p>
        </p:txBody>
      </p:sp>
    </p:spTree>
    <p:extLst>
      <p:ext uri="{BB962C8B-B14F-4D97-AF65-F5344CB8AC3E}">
        <p14:creationId xmlns:p14="http://schemas.microsoft.com/office/powerpoint/2010/main" val="359166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6FA5-B50A-D8BC-737E-7606AD6C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50A2-33CB-8632-C019-0239961CC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minimum number of bits to represent the state of a tic-tac-toe board?</a:t>
            </a:r>
          </a:p>
          <a:p>
            <a:r>
              <a:rPr lang="en-US"/>
              <a:t>What is the minimum number of bytes?</a:t>
            </a:r>
          </a:p>
          <a:p>
            <a:r>
              <a:rPr lang="en-US"/>
              <a:t>How does this compare to the minimum number of bytes for a text representation?</a:t>
            </a:r>
          </a:p>
          <a:p>
            <a:endParaRPr lang="en-US"/>
          </a:p>
          <a:p>
            <a:pPr marL="0" indent="0">
              <a:buNone/>
            </a:pPr>
            <a:r>
              <a:rPr lang="en-US" sz="2800" i="1">
                <a:solidFill>
                  <a:schemeClr val="bg1">
                    <a:lumMod val="65000"/>
                  </a:schemeClr>
                </a:solidFill>
              </a:rPr>
              <a:t>This thought experiment works also with a 3x3 pixel image – how many would this be?</a:t>
            </a:r>
          </a:p>
        </p:txBody>
      </p:sp>
    </p:spTree>
    <p:extLst>
      <p:ext uri="{BB962C8B-B14F-4D97-AF65-F5344CB8AC3E}">
        <p14:creationId xmlns:p14="http://schemas.microsoft.com/office/powerpoint/2010/main" val="2014332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6FA5-B50A-D8BC-737E-7606AD6C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50A2-33CB-8632-C019-0239961CC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11331388" cy="45634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4000" b="1"/>
              <a:t>What is the minimum number of bits to represent the state of a tic-tac-toe board?</a:t>
            </a:r>
          </a:p>
          <a:p>
            <a:r>
              <a:rPr lang="en-AU"/>
              <a:t>tic-tac-toe board consists of 9 cells in total.</a:t>
            </a:r>
          </a:p>
          <a:p>
            <a:r>
              <a:rPr lang="en-AU"/>
              <a:t>has one of three states: empty, 'X', or 'O’.</a:t>
            </a:r>
          </a:p>
          <a:p>
            <a:r>
              <a:rPr lang="en-AU"/>
              <a:t>to represent three states, a minimum of 2 bits is needed (00, 01, or 10).</a:t>
            </a:r>
          </a:p>
          <a:p>
            <a:r>
              <a:rPr lang="en-AU"/>
              <a:t>9 cells * 2 bits per cell = 18 bits to represent the entire board.</a:t>
            </a:r>
          </a:p>
          <a:p>
            <a:endParaRPr lang="en-AU"/>
          </a:p>
          <a:p>
            <a:pPr marL="0" indent="0">
              <a:buNone/>
            </a:pPr>
            <a:r>
              <a:rPr lang="en-AU" sz="4000" b="1"/>
              <a:t>What is the minimum number of bytes (8 bits)?</a:t>
            </a:r>
          </a:p>
          <a:p>
            <a:r>
              <a:rPr lang="en-AU"/>
              <a:t>18 bits to represent the state of the board giving us 18 / 8 = 2.25 bytes.</a:t>
            </a:r>
          </a:p>
          <a:p>
            <a:r>
              <a:rPr lang="en-AU"/>
              <a:t>since bytes are the smallest addressable unit in memory, the actual would be 3 bytes.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01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DA9E-B3B9-28EC-D0EF-A108825F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access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8F70-B63A-5CDC-862C-13A1CA7B1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Allow data to be read or written in any order</a:t>
            </a:r>
          </a:p>
          <a:p>
            <a:r>
              <a:rPr lang="en-US"/>
              <a:t>When working with binary files, data is often </a:t>
            </a:r>
            <a:r>
              <a:rPr lang="en-US" err="1"/>
              <a:t>organised</a:t>
            </a:r>
            <a:r>
              <a:rPr lang="en-US"/>
              <a:t> in complex structures</a:t>
            </a:r>
          </a:p>
          <a:p>
            <a:r>
              <a:rPr lang="en-AU"/>
              <a:t>Management, retrieval, and modification of specific portions of data without having to traverse the entire file requires pointers…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83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DA9E-B3B9-28EC-D0EF-A108825F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Pointer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8F70-B63A-5CDC-862C-13A1CA7B1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Seek</a:t>
            </a:r>
            <a:r>
              <a:rPr lang="en-US" b="1"/>
              <a:t>ing</a:t>
            </a:r>
            <a:r>
              <a:rPr lang="en-US"/>
              <a:t>: This is the act of moving the file position pointer to a specific location in a file.</a:t>
            </a:r>
          </a:p>
          <a:p>
            <a:r>
              <a:rPr lang="en-US" b="1">
                <a:solidFill>
                  <a:srgbClr val="FFC000"/>
                </a:solidFill>
              </a:rPr>
              <a:t>Read</a:t>
            </a:r>
            <a:r>
              <a:rPr lang="en-US" b="1"/>
              <a:t>ing</a:t>
            </a:r>
            <a:r>
              <a:rPr lang="en-US"/>
              <a:t> and Writing: With the position pointer at the desired location, data can be read or written at that spot.</a:t>
            </a:r>
          </a:p>
          <a:p>
            <a:r>
              <a:rPr lang="en-US" b="1">
                <a:solidFill>
                  <a:srgbClr val="FFC000"/>
                </a:solidFill>
              </a:rPr>
              <a:t>Tell</a:t>
            </a:r>
            <a:r>
              <a:rPr lang="en-US"/>
              <a:t>: This function allows you to find the current position of the file pointer.</a:t>
            </a:r>
          </a:p>
        </p:txBody>
      </p:sp>
    </p:spTree>
    <p:extLst>
      <p:ext uri="{BB962C8B-B14F-4D97-AF65-F5344CB8AC3E}">
        <p14:creationId xmlns:p14="http://schemas.microsoft.com/office/powerpoint/2010/main" val="382330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27B1-2FFF-D324-FF30-532D1211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2613-8A26-251E-BCA5-697DB1B7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Binary Files are like a Byte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8AC83-8D8F-4C1C-7B48-075C6DE7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11425518" cy="4563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/>
              <a:t>Imagine a binary file stored like this:</a:t>
            </a:r>
          </a:p>
          <a:p>
            <a:pPr marL="0" indent="0">
              <a:buNone/>
            </a:pPr>
            <a:endParaRPr lang="en-AU"/>
          </a:p>
          <a:p>
            <a:pPr marL="0" indent="0">
              <a:buNone/>
            </a:pPr>
            <a:r>
              <a:rPr lang="en-AU" sz="2400">
                <a:latin typeface="Consolas" panose="020B0609020204030204" pitchFamily="49" charset="0"/>
                <a:cs typeface="Consolas" panose="020B0609020204030204" pitchFamily="49" charset="0"/>
              </a:rPr>
              <a:t>Index (Offset) </a:t>
            </a:r>
            <a:r>
              <a:rPr lang="en-AU" sz="24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   0     1     2     3     4     5     6     7</a:t>
            </a:r>
          </a:p>
          <a:p>
            <a:pPr marL="0" indent="0">
              <a:buNone/>
            </a:pPr>
            <a:r>
              <a:rPr lang="en-AU" sz="2400">
                <a:latin typeface="Consolas" panose="020B0609020204030204" pitchFamily="49" charset="0"/>
                <a:cs typeface="Consolas" panose="020B0609020204030204" pitchFamily="49" charset="0"/>
              </a:rPr>
              <a:t>Bytes          →  [48]  [65]  [6C]  [6C]  [6F]  [20]  [48]  [69]</a:t>
            </a:r>
          </a:p>
          <a:p>
            <a:pPr marL="0" indent="0">
              <a:buNone/>
            </a:pPr>
            <a:r>
              <a:rPr lang="en-AU" sz="2400">
                <a:latin typeface="Consolas" panose="020B0609020204030204" pitchFamily="49" charset="0"/>
                <a:cs typeface="Consolas" panose="020B0609020204030204" pitchFamily="49" charset="0"/>
              </a:rPr>
              <a:t>Bytes (hex)    → [0x48][0x65][0x6C][0x6C][0x6F][0x20][0x48][0x69]</a:t>
            </a:r>
          </a:p>
          <a:p>
            <a:pPr marL="0" indent="0">
              <a:buNone/>
            </a:pPr>
            <a:endParaRPr lang="en-AU"/>
          </a:p>
          <a:p>
            <a:pPr marL="0" indent="0">
              <a:buNone/>
            </a:pPr>
            <a:r>
              <a:rPr lang="en-AU"/>
              <a:t>Each box is </a:t>
            </a:r>
            <a:r>
              <a:rPr lang="en-AU" b="1"/>
              <a:t>1 byte(8 bits)</a:t>
            </a:r>
            <a:r>
              <a:rPr lang="en-AU"/>
              <a:t>.</a:t>
            </a:r>
            <a:br>
              <a:rPr lang="en-AU"/>
            </a:br>
            <a:endParaRPr lang="en-AU"/>
          </a:p>
          <a:p>
            <a:pPr marL="0" indent="0">
              <a:buNone/>
            </a:pPr>
            <a:r>
              <a:rPr lang="en-AU"/>
              <a:t>The numbers at the top are the </a:t>
            </a:r>
            <a:r>
              <a:rPr lang="en-AU" b="1" i="1">
                <a:solidFill>
                  <a:schemeClr val="accent1"/>
                </a:solidFill>
              </a:rPr>
              <a:t>byte offsets</a:t>
            </a:r>
            <a:r>
              <a:rPr lang="en-A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0957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B0B7-A4CE-C2F9-00CC-E20789C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(from KBA)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400A-5939-BF6A-81AB-5B93FCE3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following fictional image file format:</a:t>
            </a:r>
          </a:p>
          <a:p>
            <a:pPr lvl="1"/>
            <a:r>
              <a:rPr lang="en-US" b="1" dirty="0"/>
              <a:t>File Structure</a:t>
            </a:r>
            <a:r>
              <a:rPr lang="en-US" dirty="0"/>
              <a:t>: A binary file containing image data.</a:t>
            </a:r>
          </a:p>
          <a:p>
            <a:pPr lvl="1"/>
            <a:r>
              <a:rPr lang="en-US" b="1" dirty="0"/>
              <a:t>First 9 bytes</a:t>
            </a:r>
            <a:r>
              <a:rPr lang="en-US" dirty="0"/>
              <a:t>: Text encoded with the dimensions of the image (e.g., "1920x1080").</a:t>
            </a:r>
          </a:p>
          <a:p>
            <a:pPr marL="0" indent="0">
              <a:buNone/>
            </a:pPr>
            <a:r>
              <a:rPr lang="en-US" b="1" dirty="0"/>
              <a:t>Following bytes</a:t>
            </a:r>
            <a:r>
              <a:rPr lang="en-US" dirty="0"/>
              <a:t>: Series of 3 bytes representing RGB values of each of the pixels e.g.  1920x1080 </a:t>
            </a:r>
            <a:r>
              <a:rPr lang="en-US" b="1" dirty="0">
                <a:solidFill>
                  <a:srgbClr val="FFC000"/>
                </a:solidFill>
              </a:rPr>
              <a:t>150 75 220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97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B0B7-A4CE-C2F9-00CC-E20789C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Converting an RGB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400A-5939-BF6A-81AB-5B93FCE3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Take the RGB – </a:t>
            </a:r>
            <a:r>
              <a:rPr lang="en-US" b="1" dirty="0">
                <a:solidFill>
                  <a:srgbClr val="FFC000"/>
                </a:solidFill>
              </a:rPr>
              <a:t>150 75 220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# converted to hex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150 / 16 = 9 remainder 6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75 / 16 = 4 remainder 11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accent1"/>
                </a:solidFill>
              </a:rPr>
              <a:t>11 is B in hex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220 / 16 = 13 remainder 12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accent1"/>
                </a:solidFill>
              </a:rPr>
              <a:t>12 is C in hex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Our hex value is </a:t>
            </a:r>
            <a:r>
              <a:rPr lang="en-AU" b="1" dirty="0">
                <a:solidFill>
                  <a:srgbClr val="FFC000"/>
                </a:solidFill>
              </a:rPr>
              <a:t>#964BDC</a:t>
            </a: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326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B0B7-A4CE-C2F9-00CC-E20789C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Converting Hex to Binary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158672-A0DC-4366-A5DB-AD75793A2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6" y="-290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B9351B-34CB-42B6-BE5B-32BE802CF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503097"/>
            <a:ext cx="5646084" cy="422860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9F2EB4-D357-482A-946D-F0DA46C5B784}"/>
              </a:ext>
            </a:extLst>
          </p:cNvPr>
          <p:cNvSpPr txBox="1"/>
          <p:nvPr/>
        </p:nvSpPr>
        <p:spPr>
          <a:xfrm>
            <a:off x="3048000" y="61734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>
                <a:solidFill>
                  <a:schemeClr val="bg1"/>
                </a:solidFill>
              </a:rPr>
              <a:t>https://www.wikihow.com/Convert-Binary-to-Hexadecimal</a:t>
            </a:r>
          </a:p>
        </p:txBody>
      </p:sp>
    </p:spTree>
    <p:extLst>
      <p:ext uri="{BB962C8B-B14F-4D97-AF65-F5344CB8AC3E}">
        <p14:creationId xmlns:p14="http://schemas.microsoft.com/office/powerpoint/2010/main" val="50293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B0B7-A4CE-C2F9-00CC-E20789C8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0245"/>
            <a:ext cx="10972800" cy="1003205"/>
          </a:xfrm>
        </p:spPr>
        <p:txBody>
          <a:bodyPr/>
          <a:lstStyle/>
          <a:p>
            <a:r>
              <a:rPr lang="en-US"/>
              <a:t>Converting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400A-5939-BF6A-81AB-5B93FCE3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3600" b="1" dirty="0">
                <a:solidFill>
                  <a:schemeClr val="bg1"/>
                </a:solidFill>
              </a:rPr>
              <a:t>Red &gt; </a:t>
            </a:r>
            <a:r>
              <a:rPr lang="en-AU" sz="3600" b="1" dirty="0">
                <a:solidFill>
                  <a:schemeClr val="accent1"/>
                </a:solidFill>
              </a:rPr>
              <a:t>96</a:t>
            </a:r>
            <a:r>
              <a:rPr lang="en-AU" sz="3600" b="1" dirty="0">
                <a:solidFill>
                  <a:schemeClr val="bg1"/>
                </a:solidFill>
              </a:rPr>
              <a:t> &gt; </a:t>
            </a:r>
            <a:r>
              <a:rPr lang="en-AU" sz="3600" b="1" dirty="0">
                <a:solidFill>
                  <a:schemeClr val="accent3"/>
                </a:solidFill>
              </a:rPr>
              <a:t>1001 0110</a:t>
            </a:r>
          </a:p>
          <a:p>
            <a:pPr marL="0" indent="0">
              <a:buNone/>
            </a:pPr>
            <a:r>
              <a:rPr lang="en-AU" sz="3600" b="1" dirty="0">
                <a:solidFill>
                  <a:schemeClr val="bg1"/>
                </a:solidFill>
              </a:rPr>
              <a:t>Green &gt;</a:t>
            </a:r>
            <a:r>
              <a:rPr lang="en-AU" sz="3600" b="1" dirty="0">
                <a:solidFill>
                  <a:schemeClr val="accent1"/>
                </a:solidFill>
              </a:rPr>
              <a:t> 4B </a:t>
            </a:r>
            <a:r>
              <a:rPr lang="en-AU" sz="3600" b="1" dirty="0">
                <a:solidFill>
                  <a:schemeClr val="bg1"/>
                </a:solidFill>
              </a:rPr>
              <a:t>&gt; </a:t>
            </a:r>
            <a:r>
              <a:rPr lang="en-AU" sz="3600" b="1" dirty="0">
                <a:solidFill>
                  <a:schemeClr val="accent3"/>
                </a:solidFill>
              </a:rPr>
              <a:t>0100 1011</a:t>
            </a:r>
          </a:p>
          <a:p>
            <a:pPr marL="0" indent="0">
              <a:buNone/>
            </a:pPr>
            <a:r>
              <a:rPr lang="en-AU" sz="3600" b="1" dirty="0">
                <a:solidFill>
                  <a:schemeClr val="bg1"/>
                </a:solidFill>
              </a:rPr>
              <a:t>Blue &gt; </a:t>
            </a:r>
            <a:r>
              <a:rPr lang="en-AU" sz="3600" b="1" dirty="0">
                <a:solidFill>
                  <a:schemeClr val="accent1"/>
                </a:solidFill>
              </a:rPr>
              <a:t>DC</a:t>
            </a:r>
            <a:r>
              <a:rPr lang="en-AU" sz="3600" b="1" dirty="0">
                <a:solidFill>
                  <a:schemeClr val="bg1"/>
                </a:solidFill>
              </a:rPr>
              <a:t> &gt; </a:t>
            </a:r>
            <a:r>
              <a:rPr lang="en-AU" sz="3600" b="1" dirty="0">
                <a:solidFill>
                  <a:schemeClr val="accent3"/>
                </a:solidFill>
              </a:rPr>
              <a:t>1101 1100</a:t>
            </a:r>
          </a:p>
          <a:p>
            <a:pPr marL="0" indent="0">
              <a:buNone/>
            </a:pPr>
            <a:endParaRPr lang="en-AU" sz="3600" b="1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AU" sz="3600" b="1" dirty="0">
                <a:solidFill>
                  <a:schemeClr val="bg1">
                    <a:lumMod val="65000"/>
                  </a:schemeClr>
                </a:solidFill>
              </a:rPr>
              <a:t># our RGB value as binary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</a:rPr>
              <a:t>1001 0110 0100 1011 1101 1100</a:t>
            </a:r>
          </a:p>
          <a:p>
            <a:pPr marL="0" indent="0">
              <a:buNone/>
            </a:pP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How many bytes is this?</a:t>
            </a:r>
          </a:p>
          <a:p>
            <a:pPr marL="0" indent="0">
              <a:buNone/>
            </a:pP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138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B0B7-A4CE-C2F9-00CC-E20789C8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99656"/>
            <a:ext cx="11062447" cy="1003205"/>
          </a:xfrm>
        </p:spPr>
        <p:txBody>
          <a:bodyPr/>
          <a:lstStyle/>
          <a:p>
            <a:r>
              <a:rPr lang="en-US"/>
              <a:t>Activity 2</a:t>
            </a:r>
          </a:p>
        </p:txBody>
      </p:sp>
    </p:spTree>
    <p:extLst>
      <p:ext uri="{BB962C8B-B14F-4D97-AF65-F5344CB8AC3E}">
        <p14:creationId xmlns:p14="http://schemas.microsoft.com/office/powerpoint/2010/main" val="1854000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A97D-F1EA-33B2-A64C-7F82FE3F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– Consider…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350C7-6952-310A-F14B-01D87867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10972800" cy="40279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/>
              <a:t>For your open source work you could create a helper method or a custom class which:</a:t>
            </a:r>
          </a:p>
          <a:p>
            <a:pPr marL="0" indent="0">
              <a:buNone/>
            </a:pPr>
            <a:endParaRPr lang="en-AU"/>
          </a:p>
          <a:p>
            <a:r>
              <a:rPr lang="en-AU"/>
              <a:t>which reads, write binary</a:t>
            </a:r>
          </a:p>
          <a:p>
            <a:r>
              <a:rPr lang="en-AU"/>
              <a:t>convert bytes into integers to create RGB values</a:t>
            </a:r>
          </a:p>
          <a:p>
            <a:pPr marL="0" indent="0">
              <a:buNone/>
            </a:pPr>
            <a:endParaRPr lang="en-AU"/>
          </a:p>
          <a:p>
            <a:pPr marL="0" indent="0">
              <a:buNone/>
            </a:pPr>
            <a:r>
              <a:rPr lang="en-AU"/>
              <a:t>This helper/class(</a:t>
            </a:r>
            <a:r>
              <a:rPr lang="en-AU" b="1"/>
              <a:t>object</a:t>
            </a:r>
            <a:r>
              <a:rPr lang="en-AU"/>
              <a:t>) could handle various file formats and would be considered </a:t>
            </a:r>
            <a:r>
              <a:rPr lang="en-AU">
                <a:solidFill>
                  <a:srgbClr val="FFC000"/>
                </a:solidFill>
              </a:rPr>
              <a:t>polymorphic</a:t>
            </a:r>
          </a:p>
          <a:p>
            <a:pPr marL="0" indent="0">
              <a:buNone/>
            </a:pPr>
            <a:endParaRPr lang="en-AU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AU" i="1">
                <a:solidFill>
                  <a:schemeClr val="bg1">
                    <a:lumMod val="65000"/>
                  </a:schemeClr>
                </a:solidFill>
              </a:rPr>
              <a:t>This actually simulates how most media file types are unpacked in all code languages</a:t>
            </a:r>
          </a:p>
        </p:txBody>
      </p:sp>
    </p:spTree>
    <p:extLst>
      <p:ext uri="{BB962C8B-B14F-4D97-AF65-F5344CB8AC3E}">
        <p14:creationId xmlns:p14="http://schemas.microsoft.com/office/powerpoint/2010/main" val="815044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2E80-B9C1-1967-5509-C7F91117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KBA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90AA-F60F-6827-6B86-A35FEE1F1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AU" sz="2800" i="0" dirty="0">
                <a:solidFill>
                  <a:schemeClr val="bg1"/>
                </a:solidFill>
                <a:effectLst/>
              </a:rPr>
              <a:t>Given the binary image file in the assessment outline.</a:t>
            </a:r>
          </a:p>
          <a:p>
            <a:pPr marL="0" indent="0" algn="l">
              <a:buNone/>
            </a:pPr>
            <a:r>
              <a:rPr lang="en-AU" sz="2800" dirty="0">
                <a:solidFill>
                  <a:schemeClr val="bg1"/>
                </a:solidFill>
              </a:rPr>
              <a:t>H</a:t>
            </a:r>
            <a:r>
              <a:rPr lang="en-AU" sz="2800" i="0" dirty="0">
                <a:solidFill>
                  <a:schemeClr val="bg1"/>
                </a:solidFill>
                <a:effectLst/>
              </a:rPr>
              <a:t>ow you would use seek, read, write, and tell (as appropriate) to:</a:t>
            </a:r>
          </a:p>
          <a:p>
            <a:pPr marL="0" indent="0" algn="l">
              <a:buNone/>
            </a:pPr>
            <a:endParaRPr lang="en-AU" sz="2800" i="0" dirty="0">
              <a:solidFill>
                <a:schemeClr val="bg1"/>
              </a:solidFill>
              <a:effectLst/>
            </a:endParaRPr>
          </a:p>
          <a:p>
            <a:pPr marL="514350" indent="-514350" algn="l">
              <a:buFont typeface="+mj-lt"/>
              <a:buAutoNum type="alphaLcPeriod"/>
            </a:pPr>
            <a:r>
              <a:rPr lang="en-AU" sz="2800" i="0" dirty="0">
                <a:solidFill>
                  <a:schemeClr val="bg1"/>
                </a:solidFill>
                <a:effectLst/>
              </a:rPr>
              <a:t>Retrieve the RGB value of the </a:t>
            </a:r>
            <a:r>
              <a:rPr lang="en-AU" sz="2800" dirty="0">
                <a:solidFill>
                  <a:schemeClr val="bg1"/>
                </a:solidFill>
              </a:rPr>
              <a:t>c</a:t>
            </a:r>
            <a:r>
              <a:rPr lang="en-AU" sz="2800" i="0" dirty="0">
                <a:solidFill>
                  <a:schemeClr val="bg1"/>
                </a:solidFill>
                <a:effectLst/>
              </a:rPr>
              <a:t>entral </a:t>
            </a:r>
            <a:r>
              <a:rPr lang="en-AU" sz="2800" dirty="0">
                <a:solidFill>
                  <a:schemeClr val="bg1"/>
                </a:solidFill>
              </a:rPr>
              <a:t>p</a:t>
            </a:r>
            <a:r>
              <a:rPr lang="en-AU" sz="2800" i="0" dirty="0">
                <a:solidFill>
                  <a:schemeClr val="bg1"/>
                </a:solidFill>
                <a:effectLst/>
              </a:rPr>
              <a:t>ixel?</a:t>
            </a:r>
          </a:p>
          <a:p>
            <a:pPr marL="514350" indent="-514350" algn="l">
              <a:buFont typeface="+mj-lt"/>
              <a:buAutoNum type="alphaLcPeriod"/>
            </a:pPr>
            <a:r>
              <a:rPr lang="en-AU" sz="2800" i="0" dirty="0">
                <a:solidFill>
                  <a:schemeClr val="bg1"/>
                </a:solidFill>
                <a:effectLst/>
              </a:rPr>
              <a:t>Retrieve all pixel values as integers from a random 100x100 grid within the image?</a:t>
            </a:r>
          </a:p>
          <a:p>
            <a:pPr marL="514350" indent="-514350" algn="l">
              <a:buFont typeface="+mj-lt"/>
              <a:buAutoNum type="alphaLcPeriod"/>
            </a:pPr>
            <a:r>
              <a:rPr lang="en-AU" sz="2800" dirty="0">
                <a:solidFill>
                  <a:schemeClr val="bg1"/>
                </a:solidFill>
              </a:rPr>
              <a:t>Reduce the resolution by half?</a:t>
            </a:r>
            <a:endParaRPr lang="en-AU" sz="2800" i="0" dirty="0">
              <a:solidFill>
                <a:schemeClr val="bg1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229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A97D-F1EA-33B2-A64C-7F82FE3F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350C7-6952-310A-F14B-01D878670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looking at binary files and random access we started noting the importance of </a:t>
            </a:r>
            <a:r>
              <a:rPr lang="en-US" b="1" dirty="0"/>
              <a:t>data structures</a:t>
            </a:r>
            <a:endParaRPr lang="en-US" dirty="0"/>
          </a:p>
          <a:p>
            <a:r>
              <a:rPr lang="en-US" dirty="0"/>
              <a:t>Data structures apply not just to how data is stored on disk but more importantly how data is stored in memory</a:t>
            </a:r>
          </a:p>
          <a:p>
            <a:r>
              <a:rPr lang="en-US" dirty="0"/>
              <a:t>Just like binary is usually abstracted, so are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372016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7.01.potx" id="{3EDD48A2-5C86-4826-A34B-3DD4694D6775}" vid="{2EDC81D3-35B6-4E09-B25C-3248DC8F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2CBA738D00D4AAC9330883AE1DA78" ma:contentTypeVersion="33" ma:contentTypeDescription="Create a new document." ma:contentTypeScope="" ma:versionID="8e47dcab4e34a32242880baf61f0a73d">
  <xsd:schema xmlns:xsd="http://www.w3.org/2001/XMLSchema" xmlns:xs="http://www.w3.org/2001/XMLSchema" xmlns:p="http://schemas.microsoft.com/office/2006/metadata/properties" xmlns:ns3="3936cbe9-feea-4685-b03c-7f8d09c550f1" xmlns:ns4="833ce3ab-d172-455c-9989-f10facae9784" targetNamespace="http://schemas.microsoft.com/office/2006/metadata/properties" ma:root="true" ma:fieldsID="174389be43a91ce68753c33b6ac99b4e" ns3:_="" ns4:_="">
    <xsd:import namespace="3936cbe9-feea-4685-b03c-7f8d09c550f1"/>
    <xsd:import namespace="833ce3ab-d172-455c-9989-f10facae978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6cbe9-feea-4685-b03c-7f8d09c550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ce3ab-d172-455c-9989-f10facae9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1" nillable="true" ma:displayName="Notebook Type" ma:internalName="NotebookType">
      <xsd:simpleType>
        <xsd:restriction base="dms:Text"/>
      </xsd:simpleType>
    </xsd:element>
    <xsd:element name="FolderType" ma:index="22" nillable="true" ma:displayName="Folder Type" ma:internalName="FolderType">
      <xsd:simpleType>
        <xsd:restriction base="dms:Text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AppVersion" ma:index="24" nillable="true" ma:displayName="App Version" ma:internalName="AppVersion">
      <xsd:simpleType>
        <xsd:restriction base="dms:Text"/>
      </xsd:simpleType>
    </xsd:element>
    <xsd:element name="TeamsChannelId" ma:index="25" nillable="true" ma:displayName="Teams Channel Id" ma:internalName="TeamsChannelId">
      <xsd:simpleType>
        <xsd:restriction base="dms:Text"/>
      </xsd:simpleType>
    </xsd:element>
    <xsd:element name="Owner" ma:index="2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7" nillable="true" ma:displayName="Math Settings" ma:internalName="Math_Settings">
      <xsd:simpleType>
        <xsd:restriction base="dms:Text"/>
      </xsd:simpleType>
    </xsd:element>
    <xsd:element name="DefaultSectionNames" ma:index="2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9" nillable="true" ma:displayName="Is Collaboration Space Locked" ma:internalName="Is_Collaboration_Space_Locked">
      <xsd:simpleType>
        <xsd:restriction base="dms:Boolean"/>
      </xsd:simpleType>
    </xsd:element>
    <xsd:element name="IsNotebookLocked" ma:index="40" nillable="true" ma:displayName="Is Notebook Locked" ma:internalName="IsNotebookLock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833ce3ab-d172-455c-9989-f10facae9784" xsi:nil="true"/>
    <Students xmlns="833ce3ab-d172-455c-9989-f10facae9784">
      <UserInfo>
        <DisplayName/>
        <AccountId xsi:nil="true"/>
        <AccountType/>
      </UserInfo>
    </Students>
    <TeamsChannelId xmlns="833ce3ab-d172-455c-9989-f10facae9784" xsi:nil="true"/>
    <Student_Groups xmlns="833ce3ab-d172-455c-9989-f10facae9784">
      <UserInfo>
        <DisplayName/>
        <AccountId xsi:nil="true"/>
        <AccountType/>
      </UserInfo>
    </Student_Groups>
    <Math_Settings xmlns="833ce3ab-d172-455c-9989-f10facae9784" xsi:nil="true"/>
    <Is_Collaboration_Space_Locked xmlns="833ce3ab-d172-455c-9989-f10facae9784" xsi:nil="true"/>
    <AppVersion xmlns="833ce3ab-d172-455c-9989-f10facae9784" xsi:nil="true"/>
    <Owner xmlns="833ce3ab-d172-455c-9989-f10facae9784">
      <UserInfo>
        <DisplayName/>
        <AccountId xsi:nil="true"/>
        <AccountType/>
      </UserInfo>
    </Owner>
    <Has_Teacher_Only_SectionGroup xmlns="833ce3ab-d172-455c-9989-f10facae9784" xsi:nil="true"/>
    <NotebookType xmlns="833ce3ab-d172-455c-9989-f10facae9784" xsi:nil="true"/>
    <Teachers xmlns="833ce3ab-d172-455c-9989-f10facae9784">
      <UserInfo>
        <DisplayName/>
        <AccountId xsi:nil="true"/>
        <AccountType/>
      </UserInfo>
    </Teachers>
    <Templates xmlns="833ce3ab-d172-455c-9989-f10facae9784" xsi:nil="true"/>
    <DefaultSectionNames xmlns="833ce3ab-d172-455c-9989-f10facae9784" xsi:nil="true"/>
    <CultureName xmlns="833ce3ab-d172-455c-9989-f10facae9784" xsi:nil="true"/>
    <Distribution_Groups xmlns="833ce3ab-d172-455c-9989-f10facae9784" xsi:nil="true"/>
    <Self_Registration_Enabled xmlns="833ce3ab-d172-455c-9989-f10facae9784" xsi:nil="true"/>
    <LMS_Mappings xmlns="833ce3ab-d172-455c-9989-f10facae9784" xsi:nil="true"/>
    <Invited_Teachers xmlns="833ce3ab-d172-455c-9989-f10facae9784" xsi:nil="true"/>
    <Invited_Students xmlns="833ce3ab-d172-455c-9989-f10facae9784" xsi:nil="true"/>
    <IsNotebookLocked xmlns="833ce3ab-d172-455c-9989-f10facae9784" xsi:nil="true"/>
  </documentManagement>
</p:properties>
</file>

<file path=customXml/itemProps1.xml><?xml version="1.0" encoding="utf-8"?>
<ds:datastoreItem xmlns:ds="http://schemas.openxmlformats.org/officeDocument/2006/customXml" ds:itemID="{2EDE3886-A981-4E1C-91EF-EBC9EDE0D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6cbe9-feea-4685-b03c-7f8d09c550f1"/>
    <ds:schemaRef ds:uri="833ce3ab-d172-455c-9989-f10facae97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F79D9B-5A67-492D-BB4F-F3913BAD9421}">
  <ds:schemaRefs>
    <ds:schemaRef ds:uri="833ce3ab-d172-455c-9989-f10facae9784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3936cbe9-feea-4685-b03c-7f8d09c550f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17783</TotalTime>
  <Words>3818</Words>
  <Application>Microsoft Office PowerPoint</Application>
  <PresentationFormat>Widescreen</PresentationFormat>
  <Paragraphs>467</Paragraphs>
  <Slides>34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3270-MEDIUM</vt:lpstr>
      <vt:lpstr>Arial</vt:lpstr>
      <vt:lpstr>Calibri</vt:lpstr>
      <vt:lpstr>Century Gothic</vt:lpstr>
      <vt:lpstr>Consolas</vt:lpstr>
      <vt:lpstr>Helvetica Neue</vt:lpstr>
      <vt:lpstr>Söhne</vt:lpstr>
      <vt:lpstr>Times New Roman</vt:lpstr>
      <vt:lpstr>Wingdings</vt:lpstr>
      <vt:lpstr>Office Theme</vt:lpstr>
      <vt:lpstr>Intermediate programming</vt:lpstr>
      <vt:lpstr>In Session 3 you were asked to consider:</vt:lpstr>
      <vt:lpstr>Binary FILES, formats, and access</vt:lpstr>
      <vt:lpstr>Objectives</vt:lpstr>
      <vt:lpstr>Remember this?</vt:lpstr>
      <vt:lpstr>All the text modes</vt:lpstr>
      <vt:lpstr>What does it mean, though?</vt:lpstr>
      <vt:lpstr>Text Files in Python: Intermediate</vt:lpstr>
      <vt:lpstr>PowerPoint Presentation</vt:lpstr>
      <vt:lpstr>Single/Multi - Byte Unicode Examples</vt:lpstr>
      <vt:lpstr>Converting a Character</vt:lpstr>
      <vt:lpstr>Hexadecimal to binary example</vt:lpstr>
      <vt:lpstr>PowerPoint Presentation</vt:lpstr>
      <vt:lpstr>Binary files and Bytes objects</vt:lpstr>
      <vt:lpstr>So, what’s a bytes object?</vt:lpstr>
      <vt:lpstr>Why 0-255???</vt:lpstr>
      <vt:lpstr>Bytes to text to bytes</vt:lpstr>
      <vt:lpstr>Bytes &gt;&gt;&gt; int &gt;&gt;&gt; bytes</vt:lpstr>
      <vt:lpstr>Understanding Endianess</vt:lpstr>
      <vt:lpstr>Activity 1</vt:lpstr>
      <vt:lpstr>When binary is not text</vt:lpstr>
      <vt:lpstr>Discuss</vt:lpstr>
      <vt:lpstr>Explanation</vt:lpstr>
      <vt:lpstr>Random access algorithms</vt:lpstr>
      <vt:lpstr>Pointer Methods</vt:lpstr>
      <vt:lpstr>Binary Files are like a Byte Array</vt:lpstr>
      <vt:lpstr>Scenario (from KBA)</vt:lpstr>
      <vt:lpstr>Converting an RGB</vt:lpstr>
      <vt:lpstr>Converting Hex to Binary</vt:lpstr>
      <vt:lpstr>Converting to binary</vt:lpstr>
      <vt:lpstr>Activity 2</vt:lpstr>
      <vt:lpstr>Applications – Consider…</vt:lpstr>
      <vt:lpstr>KBA Questions</vt:lpstr>
      <vt:lpstr>Next</vt:lpstr>
      <vt:lpstr>Review of player double linked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sockets</dc:title>
  <dc:creator>Sander Huijsen</dc:creator>
  <cp:lastModifiedBy>John Robertson</cp:lastModifiedBy>
  <cp:revision>84</cp:revision>
  <dcterms:created xsi:type="dcterms:W3CDTF">2020-10-19T10:08:52Z</dcterms:created>
  <dcterms:modified xsi:type="dcterms:W3CDTF">2026-03-04T05:59:20Z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2023-07-25T09:26:32Z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049d08b0-2175-47f4-b162-74ea7c14a0a2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Office Theme:7</vt:lpwstr>
  </property>
  <property fmtid="{D5CDD505-2E9C-101B-9397-08002B2CF9AE}" pid="10" name="ClassificationContentMarkingHeaderText">
    <vt:lpwstr>OFFICIAL</vt:lpwstr>
  </property>
</Properties>
</file>