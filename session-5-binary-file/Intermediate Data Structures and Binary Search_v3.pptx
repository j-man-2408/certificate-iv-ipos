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2"/>
  </p:notesMasterIdLst>
  <p:sldIdLst>
    <p:sldId id="257" r:id="rId5"/>
    <p:sldId id="307" r:id="rId6"/>
    <p:sldId id="306" r:id="rId7"/>
    <p:sldId id="315" r:id="rId8"/>
    <p:sldId id="336" r:id="rId9"/>
    <p:sldId id="337" r:id="rId10"/>
    <p:sldId id="338" r:id="rId11"/>
    <p:sldId id="340" r:id="rId12"/>
    <p:sldId id="316" r:id="rId13"/>
    <p:sldId id="359" r:id="rId14"/>
    <p:sldId id="342" r:id="rId15"/>
    <p:sldId id="343" r:id="rId16"/>
    <p:sldId id="344" r:id="rId17"/>
    <p:sldId id="347" r:id="rId18"/>
    <p:sldId id="346" r:id="rId19"/>
    <p:sldId id="345" r:id="rId20"/>
    <p:sldId id="371" r:id="rId21"/>
    <p:sldId id="360" r:id="rId22"/>
    <p:sldId id="348" r:id="rId23"/>
    <p:sldId id="361" r:id="rId24"/>
    <p:sldId id="362" r:id="rId25"/>
    <p:sldId id="349" r:id="rId26"/>
    <p:sldId id="365" r:id="rId27"/>
    <p:sldId id="372" r:id="rId28"/>
    <p:sldId id="373" r:id="rId29"/>
    <p:sldId id="393" r:id="rId30"/>
    <p:sldId id="350" r:id="rId31"/>
    <p:sldId id="374" r:id="rId32"/>
    <p:sldId id="352" r:id="rId33"/>
    <p:sldId id="366" r:id="rId34"/>
    <p:sldId id="367" r:id="rId35"/>
    <p:sldId id="377" r:id="rId36"/>
    <p:sldId id="354" r:id="rId37"/>
    <p:sldId id="375" r:id="rId38"/>
    <p:sldId id="392" r:id="rId39"/>
    <p:sldId id="376" r:id="rId40"/>
    <p:sldId id="358" r:id="rId41"/>
    <p:sldId id="378" r:id="rId42"/>
    <p:sldId id="379" r:id="rId43"/>
    <p:sldId id="391" r:id="rId44"/>
    <p:sldId id="353" r:id="rId45"/>
    <p:sldId id="369" r:id="rId46"/>
    <p:sldId id="368" r:id="rId47"/>
    <p:sldId id="380" r:id="rId48"/>
    <p:sldId id="357" r:id="rId49"/>
    <p:sldId id="370" r:id="rId50"/>
    <p:sldId id="381" r:id="rId51"/>
    <p:sldId id="355" r:id="rId52"/>
    <p:sldId id="382" r:id="rId53"/>
    <p:sldId id="356" r:id="rId54"/>
    <p:sldId id="384" r:id="rId55"/>
    <p:sldId id="385" r:id="rId56"/>
    <p:sldId id="387" r:id="rId57"/>
    <p:sldId id="388" r:id="rId58"/>
    <p:sldId id="389" r:id="rId59"/>
    <p:sldId id="341" r:id="rId60"/>
    <p:sldId id="335" r:id="rId61"/>
  </p:sldIdLst>
  <p:sldSz cx="12192000" cy="6858000"/>
  <p:notesSz cx="7104063" cy="10234613"/>
  <p:custDataLst>
    <p:tags r:id="rId6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ection>
        <p14:section name="Title Slides" id="{639F86EC-D24F-EB46-8D67-5CC3AD6D5032}">
          <p14:sldIdLst>
            <p14:sldId id="257"/>
          </p14:sldIdLst>
        </p14:section>
        <p14:section name="Introduction" id="{FF7F4879-CDAF-4B91-AFB1-E7EF39A10BE6}">
          <p14:sldIdLst>
            <p14:sldId id="307"/>
            <p14:sldId id="306"/>
            <p14:sldId id="315"/>
            <p14:sldId id="336"/>
            <p14:sldId id="337"/>
            <p14:sldId id="338"/>
            <p14:sldId id="340"/>
            <p14:sldId id="316"/>
            <p14:sldId id="359"/>
            <p14:sldId id="342"/>
            <p14:sldId id="343"/>
            <p14:sldId id="344"/>
          </p14:sldIdLst>
        </p14:section>
        <p14:section name="Data Structures" id="{8D5D6DAB-059B-4A81-80C8-C57FB6699339}">
          <p14:sldIdLst>
            <p14:sldId id="347"/>
            <p14:sldId id="346"/>
            <p14:sldId id="345"/>
            <p14:sldId id="371"/>
            <p14:sldId id="360"/>
            <p14:sldId id="348"/>
            <p14:sldId id="361"/>
            <p14:sldId id="362"/>
            <p14:sldId id="349"/>
            <p14:sldId id="365"/>
            <p14:sldId id="372"/>
            <p14:sldId id="373"/>
            <p14:sldId id="393"/>
            <p14:sldId id="350"/>
            <p14:sldId id="374"/>
            <p14:sldId id="352"/>
            <p14:sldId id="366"/>
            <p14:sldId id="367"/>
            <p14:sldId id="377"/>
            <p14:sldId id="354"/>
            <p14:sldId id="375"/>
            <p14:sldId id="392"/>
            <p14:sldId id="376"/>
            <p14:sldId id="358"/>
            <p14:sldId id="378"/>
            <p14:sldId id="379"/>
            <p14:sldId id="391"/>
            <p14:sldId id="353"/>
            <p14:sldId id="369"/>
            <p14:sldId id="368"/>
            <p14:sldId id="380"/>
            <p14:sldId id="357"/>
            <p14:sldId id="370"/>
            <p14:sldId id="381"/>
          </p14:sldIdLst>
        </p14:section>
        <p14:section name="Searching &amp; Sorting" id="{A8D7FC18-BB03-4319-A0CE-A87C8E0396F3}">
          <p14:sldIdLst>
            <p14:sldId id="355"/>
            <p14:sldId id="382"/>
            <p14:sldId id="356"/>
            <p14:sldId id="384"/>
            <p14:sldId id="385"/>
            <p14:sldId id="387"/>
            <p14:sldId id="388"/>
            <p14:sldId id="389"/>
            <p14:sldId id="341"/>
            <p14:sldId id="33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000000"/>
    <a:srgbClr val="4F81BD"/>
    <a:srgbClr val="D8262E"/>
    <a:srgbClr val="D81C24"/>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10" autoAdjust="0"/>
    <p:restoredTop sz="73783" autoAdjust="0"/>
  </p:normalViewPr>
  <p:slideViewPr>
    <p:cSldViewPr snapToGrid="0" snapToObjects="1">
      <p:cViewPr varScale="1">
        <p:scale>
          <a:sx n="102" d="100"/>
          <a:sy n="102" d="100"/>
        </p:scale>
        <p:origin x="3304" y="472"/>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3/6/26</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python.org/3/library/array.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python.org/3/library/array.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3454282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693407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421733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"Think of a data structure as a specific type of storage facility. Different storage facilities serve different needs, and no one type is perfect for every kind of storage."</a:t>
            </a: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856446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1" i="0" dirty="0">
                <a:solidFill>
                  <a:srgbClr val="D1D5DB"/>
                </a:solidFill>
                <a:effectLst/>
                <a:latin typeface="Söhne"/>
              </a:rPr>
              <a:t>Add items to the end</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Think of a concert where fans line up to get tickets. New fans join at the end of the line.</a:t>
            </a:r>
          </a:p>
          <a:p>
            <a:pPr marL="742950" lvl="1" indent="-285750" algn="l">
              <a:buFont typeface="+mj-lt"/>
              <a:buAutoNum type="arabicPeriod"/>
            </a:pPr>
            <a:r>
              <a:rPr lang="en-AU" b="0" i="0" dirty="0">
                <a:solidFill>
                  <a:srgbClr val="D1D5DB"/>
                </a:solidFill>
                <a:effectLst/>
                <a:latin typeface="Söhne"/>
              </a:rPr>
              <a:t>Discussion Prompt: Why is it important for fans not to cut in the middle or start of the line?</a:t>
            </a:r>
          </a:p>
          <a:p>
            <a:pPr algn="l">
              <a:buFont typeface="+mj-lt"/>
              <a:buAutoNum type="arabicPeriod"/>
            </a:pPr>
            <a:r>
              <a:rPr lang="en-AU" b="1" i="0" dirty="0">
                <a:solidFill>
                  <a:srgbClr val="D1D5DB"/>
                </a:solidFill>
                <a:effectLst/>
                <a:latin typeface="Söhne"/>
              </a:rPr>
              <a:t>Add items to the beginning</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In some emergency situations, critical patients in a hospital are given priority and are attended to before others.</a:t>
            </a:r>
          </a:p>
          <a:p>
            <a:pPr marL="742950" lvl="1" indent="-285750" algn="l">
              <a:buFont typeface="+mj-lt"/>
              <a:buAutoNum type="arabicPeriod"/>
            </a:pPr>
            <a:r>
              <a:rPr lang="en-AU" b="0" i="0" dirty="0">
                <a:solidFill>
                  <a:srgbClr val="D1D5DB"/>
                </a:solidFill>
                <a:effectLst/>
                <a:latin typeface="Söhne"/>
              </a:rPr>
              <a:t>Discussion Prompt: Why might it be crucial to attend to some patients first, even if others arrived earlier?</a:t>
            </a:r>
          </a:p>
          <a:p>
            <a:pPr algn="l">
              <a:buFont typeface="+mj-lt"/>
              <a:buAutoNum type="arabicPeriod"/>
            </a:pPr>
            <a:r>
              <a:rPr lang="en-AU" b="1" i="0" dirty="0">
                <a:solidFill>
                  <a:srgbClr val="D1D5DB"/>
                </a:solidFill>
                <a:effectLst/>
                <a:latin typeface="Söhne"/>
              </a:rPr>
              <a:t>Randomly access an arbitrary position</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In a parking lot, you can drive directly to any parking spot without moving the other cars.</a:t>
            </a:r>
          </a:p>
          <a:p>
            <a:pPr marL="742950" lvl="1" indent="-285750" algn="l">
              <a:buFont typeface="+mj-lt"/>
              <a:buAutoNum type="arabicPeriod"/>
            </a:pPr>
            <a:r>
              <a:rPr lang="en-AU" b="0" i="0" dirty="0">
                <a:solidFill>
                  <a:srgbClr val="D1D5DB"/>
                </a:solidFill>
                <a:effectLst/>
                <a:latin typeface="Söhne"/>
              </a:rPr>
              <a:t>Discussion Prompt: Why is direct access beneficial in a parking scenario?</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111503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123075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000" dirty="0"/>
              <a:t>“why should I care?” when you are intending to program in a high-level language is a reasonable question. </a:t>
            </a:r>
          </a:p>
          <a:p>
            <a:pPr marL="171450" indent="-171450">
              <a:buFont typeface="Arial" panose="020B0604020202020204" pitchFamily="34" charset="0"/>
              <a:buChar char="•"/>
            </a:pPr>
            <a:r>
              <a:rPr lang="en-US" sz="1000" dirty="0"/>
              <a:t>you seldom need to define these data structures yourself,</a:t>
            </a:r>
          </a:p>
          <a:p>
            <a:pPr marL="171450" indent="-171450">
              <a:buFont typeface="Arial" panose="020B0604020202020204" pitchFamily="34" charset="0"/>
              <a:buChar char="•"/>
            </a:pPr>
            <a:r>
              <a:rPr lang="en-US" sz="1000" dirty="0"/>
              <a:t>because most core data structures are implemented in C they will usually be significantly faster than anything you write in Python, </a:t>
            </a:r>
          </a:p>
          <a:p>
            <a:pPr marL="171450" indent="-171450">
              <a:buFont typeface="Arial" panose="020B0604020202020204" pitchFamily="34" charset="0"/>
              <a:buChar char="•"/>
            </a:pPr>
            <a:r>
              <a:rPr lang="en-US" sz="1000" dirty="0"/>
              <a:t>even if they are not </a:t>
            </a:r>
            <a:r>
              <a:rPr lang="en-US" sz="1000" dirty="0" err="1"/>
              <a:t>specialised</a:t>
            </a:r>
            <a:r>
              <a:rPr lang="en-US" sz="1000" dirty="0"/>
              <a:t> or </a:t>
            </a:r>
            <a:r>
              <a:rPr lang="en-US" sz="1000" dirty="0" err="1"/>
              <a:t>optimised</a:t>
            </a:r>
            <a:r>
              <a:rPr lang="en-US" sz="1000" dirty="0"/>
              <a:t> for your application.</a:t>
            </a:r>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2990673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0" dirty="0">
                <a:solidFill>
                  <a:srgbClr val="ECECF1"/>
                </a:solidFill>
                <a:effectLst/>
                <a:latin typeface="Arial" panose="020B0604020202020204" pitchFamily="34" charset="0"/>
                <a:cs typeface="Arial" panose="020B0604020202020204" pitchFamily="34" charset="0"/>
              </a:rPr>
              <a:t>Mental Models &amp; Predictive Power: </a:t>
            </a:r>
            <a:r>
              <a:rPr lang="en-AU" b="0" i="0" dirty="0">
                <a:solidFill>
                  <a:srgbClr val="ECECF1"/>
                </a:solidFill>
                <a:effectLst/>
                <a:latin typeface="Arial" panose="020B0604020202020204" pitchFamily="34" charset="0"/>
                <a:cs typeface="Arial" panose="020B0604020202020204" pitchFamily="34" charset="0"/>
              </a:rPr>
              <a:t>By understanding the underlying mechanics of data structures, developers can form accurate mental models. This aids them in predicting the behaviours, efficiencies, and possible issues arising from using these structures. For example, understanding why dictionary key lookups are fast can help a developer make design choices that leverage this speed.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Understanding Benefits &amp; Limitations: </a:t>
            </a:r>
            <a:r>
              <a:rPr lang="en-AU" b="0" i="0" dirty="0">
                <a:solidFill>
                  <a:srgbClr val="ECECF1"/>
                </a:solidFill>
                <a:effectLst/>
                <a:latin typeface="Arial" panose="020B0604020202020204" pitchFamily="34" charset="0"/>
                <a:cs typeface="Arial" panose="020B0604020202020204" pitchFamily="34" charset="0"/>
              </a:rPr>
              <a:t>Without a foundational understanding, we may misuse or overuse certain data structures. Knowing the strengths and weaknesses of each structure helps in picking the right tool for the task. For example, while lists in Python are versatile, they might not be the best choice for ensuring unique elements or rapid membership tests, unlike sets.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Gateway to Lower-Level Languages</a:t>
            </a:r>
            <a:r>
              <a:rPr lang="en-AU" b="0" i="0" dirty="0">
                <a:solidFill>
                  <a:srgbClr val="ECECF1"/>
                </a:solidFill>
                <a:effectLst/>
                <a:latin typeface="Arial" panose="020B0604020202020204" pitchFamily="34" charset="0"/>
                <a:cs typeface="Arial" panose="020B0604020202020204" pitchFamily="34" charset="0"/>
              </a:rPr>
              <a:t>: A solid grasp of data structures isn't just valuable for Python, but for programming as a whole. If a developer decides to delve into lower-level languages like C or C++, where memory management is crucial and data structures aren't as abstracted, this knowledge becomes invaluable. This transition becomes smoother with an understanding of the core concepts.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Technical Interviews &amp; Beyond</a:t>
            </a:r>
            <a:r>
              <a:rPr lang="en-AU" b="0" i="0" dirty="0">
                <a:solidFill>
                  <a:srgbClr val="ECECF1"/>
                </a:solidFill>
                <a:effectLst/>
                <a:latin typeface="Arial" panose="020B0604020202020204" pitchFamily="34" charset="0"/>
                <a:cs typeface="Arial" panose="020B0604020202020204" pitchFamily="34" charset="0"/>
              </a:rPr>
              <a:t>: Many tech companies still gauge a candidate's understanding of data structures and algorithms during interviews. But beyond just landing a job, this understanding can be a talking point during architectural decisions or when contributing to open-source projects where performance and optimisation discussions are common.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Broadening the Development Mindset</a:t>
            </a:r>
            <a:r>
              <a:rPr lang="en-AU" b="0" i="0" dirty="0">
                <a:solidFill>
                  <a:srgbClr val="ECECF1"/>
                </a:solidFill>
                <a:effectLst/>
                <a:latin typeface="Arial" panose="020B0604020202020204" pitchFamily="34" charset="0"/>
                <a:cs typeface="Arial" panose="020B0604020202020204" pitchFamily="34" charset="0"/>
              </a:rPr>
              <a:t>: Beyond practical applications, understanding data structures and their mechanics can shape the way developers approach problems. It cultivates a mindset of optimisation, efficiency, and clarity, essential traits in software development.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Cross-Language Versatility</a:t>
            </a:r>
            <a:r>
              <a:rPr lang="en-AU" b="0" i="0" dirty="0">
                <a:solidFill>
                  <a:srgbClr val="ECECF1"/>
                </a:solidFill>
                <a:effectLst/>
                <a:latin typeface="Arial" panose="020B0604020202020204" pitchFamily="34" charset="0"/>
                <a:cs typeface="Arial" panose="020B0604020202020204" pitchFamily="34" charset="0"/>
              </a:rPr>
              <a:t>: Python is just one of many languages a developer might encounter or need. When transitioning to or working with another language, foundational knowledge of data structures ensures they aren't starting from scratch.</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1360149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322932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to students that LIFO is the same as FILO and FIFO is the same as LILO</a:t>
            </a:r>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283762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Highly recommended channel that will cover many of these data structures in much more detail than we can afford to:</a:t>
            </a:r>
            <a:br>
              <a:rPr lang="en-US" dirty="0"/>
            </a:br>
            <a:br>
              <a:rPr lang="en-US" dirty="0"/>
            </a:br>
            <a:r>
              <a:rPr lang="en-US" dirty="0"/>
              <a:t>https://</a:t>
            </a:r>
            <a:r>
              <a:rPr lang="en-US" dirty="0" err="1"/>
              <a:t>www.youtube.com</a:t>
            </a:r>
            <a:r>
              <a:rPr lang="en-US" dirty="0"/>
              <a:t>/</a:t>
            </a:r>
            <a:r>
              <a:rPr lang="en-US" dirty="0" err="1"/>
              <a:t>watch?v</a:t>
            </a:r>
            <a:r>
              <a:rPr lang="en-US" dirty="0"/>
              <a:t>=</a:t>
            </a:r>
            <a:r>
              <a:rPr lang="en-US" dirty="0" err="1"/>
              <a:t>cOfhwxirhUE</a:t>
            </a:r>
            <a:endParaRPr lang="en-US" dirty="0"/>
          </a:p>
          <a:p>
            <a:r>
              <a:rPr lang="en-US" dirty="0"/>
              <a:t>https://</a:t>
            </a:r>
            <a:r>
              <a:rPr lang="en-US" dirty="0" err="1"/>
              <a:t>www.youtube.com</a:t>
            </a:r>
            <a:r>
              <a:rPr lang="en-US" dirty="0"/>
              <a:t>/</a:t>
            </a:r>
            <a:r>
              <a:rPr lang="en-US" dirty="0" err="1"/>
              <a:t>watch?v</a:t>
            </a:r>
            <a:r>
              <a:rPr lang="en-US" dirty="0"/>
              <a:t>=ItjAF6et-mQ</a:t>
            </a:r>
          </a:p>
          <a:p>
            <a:endParaRPr lang="en-US" dirty="0"/>
          </a:p>
          <a:p>
            <a:r>
              <a:rPr lang="en-US" dirty="0"/>
              <a:t>Trees are graphs, graphs can have a number to signify direction, weight or both in a relationship</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2958464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93FE9-4924-7BD2-9455-02ECEA1ED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72CB9-B1AD-CBE5-6BD8-E1A9197B4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3299B-38BB-895E-B3B3-C56B97BC45AD}"/>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512FCDB1-D3AE-F009-EC20-0C4849756ED0}"/>
              </a:ext>
            </a:extLst>
          </p:cNvPr>
          <p:cNvSpPr>
            <a:spLocks noGrp="1"/>
          </p:cNvSpPr>
          <p:nvPr>
            <p:ph type="sldNum" sz="quarter" idx="5"/>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2107027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4C8E-EDCF-D98E-515A-CD1F40B63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727A8-4657-471D-3FA8-AC3967D7E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EC897-C013-BC51-EEFA-C7CF18285E07}"/>
              </a:ext>
            </a:extLst>
          </p:cNvPr>
          <p:cNvSpPr>
            <a:spLocks noGrp="1"/>
          </p:cNvSpPr>
          <p:nvPr>
            <p:ph type="body" idx="1"/>
          </p:nvPr>
        </p:nvSpPr>
        <p:spPr/>
        <p:txBody>
          <a:bodyPr/>
          <a:lstStyle/>
          <a:p>
            <a:pPr algn="l"/>
            <a:r>
              <a:rPr lang="en-AU" b="1" i="0" dirty="0">
                <a:solidFill>
                  <a:srgbClr val="000000"/>
                </a:solidFill>
                <a:effectLst/>
                <a:latin typeface="Helvetica Neue" panose="02000503000000020004" pitchFamily="2" charset="0"/>
              </a:rPr>
              <a:t>array Format Specifiers</a:t>
            </a:r>
          </a:p>
          <a:p>
            <a:pPr algn="l"/>
            <a:r>
              <a:rPr lang="en-AU" b="0" i="0" dirty="0">
                <a:solidFill>
                  <a:srgbClr val="333333"/>
                </a:solidFill>
                <a:effectLst/>
                <a:latin typeface="Helvetica Neue" panose="02000503000000020004" pitchFamily="2" charset="0"/>
              </a:rPr>
              <a:t>The array module defines sequences of uniform type, with supported types and their format codes as follows:</a:t>
            </a:r>
          </a:p>
          <a:p>
            <a:pPr algn="l"/>
            <a:r>
              <a:rPr lang="en-AU" b="1" i="0" dirty="0">
                <a:solidFill>
                  <a:srgbClr val="000000"/>
                </a:solidFill>
                <a:effectLst/>
                <a:latin typeface="Helvetica Neue" panose="02000503000000020004" pitchFamily="2" charset="0"/>
              </a:rPr>
              <a:t>Reference</a:t>
            </a:r>
            <a:r>
              <a:rPr lang="en-AU" b="0" i="0" dirty="0">
                <a:solidFill>
                  <a:srgbClr val="333333"/>
                </a:solidFill>
                <a:effectLst/>
                <a:latin typeface="Helvetica Neue" panose="02000503000000020004" pitchFamily="2" charset="0"/>
              </a:rPr>
              <a:t>: </a:t>
            </a:r>
            <a:r>
              <a:rPr lang="en-AU" b="0" i="0" u="none" strike="noStrike" dirty="0">
                <a:solidFill>
                  <a:srgbClr val="0088CC"/>
                </a:solidFill>
                <a:effectLst/>
                <a:latin typeface="Helvetica Neue" panose="02000503000000020004" pitchFamily="2" charset="0"/>
                <a:hlinkClick r:id="rId3"/>
              </a:rPr>
              <a:t>Python's array documentation</a:t>
            </a:r>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C82C2B23-7B56-3F68-DEDB-57B78DC9EB18}"/>
              </a:ext>
            </a:extLst>
          </p:cNvPr>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1104873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1" i="0" dirty="0">
                <a:solidFill>
                  <a:srgbClr val="000000"/>
                </a:solidFill>
                <a:effectLst/>
                <a:latin typeface="Helvetica Neue" panose="02000503000000020004" pitchFamily="2" charset="0"/>
              </a:rPr>
              <a:t>array Format Specifiers</a:t>
            </a:r>
          </a:p>
          <a:p>
            <a:pPr algn="l"/>
            <a:r>
              <a:rPr lang="en-AU" b="0" i="0" dirty="0">
                <a:solidFill>
                  <a:srgbClr val="333333"/>
                </a:solidFill>
                <a:effectLst/>
                <a:latin typeface="Helvetica Neue" panose="02000503000000020004" pitchFamily="2" charset="0"/>
              </a:rPr>
              <a:t>The array module defines sequences of uniform type, with supported types and their format codes as follows:</a:t>
            </a:r>
          </a:p>
          <a:p>
            <a:pPr algn="l"/>
            <a:r>
              <a:rPr lang="en-AU" b="1" i="0" dirty="0">
                <a:solidFill>
                  <a:srgbClr val="000000"/>
                </a:solidFill>
                <a:effectLst/>
                <a:latin typeface="Helvetica Neue" panose="02000503000000020004" pitchFamily="2" charset="0"/>
              </a:rPr>
              <a:t>Reference</a:t>
            </a:r>
            <a:r>
              <a:rPr lang="en-AU" b="0" i="0" dirty="0">
                <a:solidFill>
                  <a:srgbClr val="333333"/>
                </a:solidFill>
                <a:effectLst/>
                <a:latin typeface="Helvetica Neue" panose="02000503000000020004" pitchFamily="2" charset="0"/>
              </a:rPr>
              <a:t>: </a:t>
            </a:r>
            <a:r>
              <a:rPr lang="en-AU" b="0" i="0" u="none" strike="noStrike" dirty="0">
                <a:solidFill>
                  <a:srgbClr val="0088CC"/>
                </a:solidFill>
                <a:effectLst/>
                <a:latin typeface="Helvetica Neue" panose="02000503000000020004" pitchFamily="2" charset="0"/>
                <a:hlinkClick r:id="rId3"/>
              </a:rPr>
              <a:t>Python's array documentation</a:t>
            </a:r>
            <a:endParaRPr lang="en-AU" b="0" i="0" dirty="0">
              <a:solidFill>
                <a:srgbClr val="333333"/>
              </a:solidFill>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2512365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F8B0-65E1-C2AA-6BF7-67A1FE780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F9F3F-2624-3163-82C6-59FAAF496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42196-09A6-689C-EE11-E48F915364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Arrays (</a:t>
            </a:r>
            <a:r>
              <a:rPr lang="en-US" i="1" dirty="0"/>
              <a:t>Similar to that of primitive types – integers, Booleans etc..)</a:t>
            </a:r>
          </a:p>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1FC8A11E-0A03-178E-4285-2F1D2B2F8A3C}"/>
              </a:ext>
            </a:extLst>
          </p:cNvPr>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1913384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93FE9-4924-7BD2-9455-02ECEA1ED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72CB9-B1AD-CBE5-6BD8-E1A9197B4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3299B-38BB-895E-B3B3-C56B97BC45AD}"/>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512FCDB1-D3AE-F009-EC20-0C4849756ED0}"/>
              </a:ext>
            </a:extLst>
          </p:cNvPr>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4271989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1362058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1600341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24</a:t>
            </a:fld>
            <a:endParaRPr lang="en-US" dirty="0"/>
          </a:p>
        </p:txBody>
      </p:sp>
    </p:spTree>
    <p:extLst>
      <p:ext uri="{BB962C8B-B14F-4D97-AF65-F5344CB8AC3E}">
        <p14:creationId xmlns:p14="http://schemas.microsoft.com/office/powerpoint/2010/main" val="2736166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25</a:t>
            </a:fld>
            <a:endParaRPr lang="en-US" dirty="0"/>
          </a:p>
        </p:txBody>
      </p:sp>
    </p:spTree>
    <p:extLst>
      <p:ext uri="{BB962C8B-B14F-4D97-AF65-F5344CB8AC3E}">
        <p14:creationId xmlns:p14="http://schemas.microsoft.com/office/powerpoint/2010/main" val="3634655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A5027-C98E-4B43-BE73-C486A1762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B63ED-11E1-436B-444F-925AF22C6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EFFEB-BE74-7D24-EB23-CEA159C3331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C098B96F-6E79-48B6-4F01-6906A9D2E7BE}"/>
              </a:ext>
            </a:extLst>
          </p:cNvPr>
          <p:cNvSpPr>
            <a:spLocks noGrp="1"/>
          </p:cNvSpPr>
          <p:nvPr>
            <p:ph type="sldNum" sz="quarter" idx="5"/>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3736596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Linked lists differ from arrays by their storage: </a:t>
            </a:r>
          </a:p>
          <a:p>
            <a:pPr marL="171450" indent="-171450" algn="l">
              <a:buFont typeface="Arial" panose="020B0604020202020204" pitchFamily="34" charset="0"/>
              <a:buChar char="•"/>
            </a:pPr>
            <a:r>
              <a:rPr lang="en-AU" b="0" i="0" dirty="0">
                <a:solidFill>
                  <a:srgbClr val="D1D5DB"/>
                </a:solidFill>
                <a:effectLst/>
                <a:latin typeface="Söhne"/>
              </a:rPr>
              <a:t>elements can be anywhere in memory, connected by pointers.</a:t>
            </a:r>
          </a:p>
          <a:p>
            <a:pPr marL="171450" indent="-171450" algn="l">
              <a:buFont typeface="Arial" panose="020B0604020202020204" pitchFamily="34" charset="0"/>
              <a:buChar char="•"/>
            </a:pPr>
            <a:r>
              <a:rPr lang="en-AU" b="0" i="0" dirty="0">
                <a:solidFill>
                  <a:srgbClr val="D1D5DB"/>
                </a:solidFill>
                <a:effectLst/>
                <a:latin typeface="Söhne"/>
              </a:rPr>
              <a:t>Each node contains the data and a reference to the next node.</a:t>
            </a:r>
          </a:p>
        </p:txBody>
      </p:sp>
      <p:sp>
        <p:nvSpPr>
          <p:cNvPr id="4" name="Slide Number Placeholder 3"/>
          <p:cNvSpPr>
            <a:spLocks noGrp="1"/>
          </p:cNvSpPr>
          <p:nvPr>
            <p:ph type="sldNum" sz="quarter" idx="5"/>
          </p:nvPr>
        </p:nvSpPr>
        <p:spPr/>
        <p:txBody>
          <a:bodyPr/>
          <a:lstStyle/>
          <a:p>
            <a:fld id="{BA3E024E-F835-6D45-89C3-0E2F93EE799A}" type="slidenum">
              <a:rPr lang="en-US" smtClean="0"/>
              <a:t>27</a:t>
            </a:fld>
            <a:endParaRPr lang="en-US" dirty="0"/>
          </a:p>
        </p:txBody>
      </p:sp>
    </p:spTree>
    <p:extLst>
      <p:ext uri="{BB962C8B-B14F-4D97-AF65-F5344CB8AC3E}">
        <p14:creationId xmlns:p14="http://schemas.microsoft.com/office/powerpoint/2010/main" val="1775137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AU" b="1" i="1" dirty="0">
                <a:solidFill>
                  <a:srgbClr val="D1D5DB"/>
                </a:solidFill>
                <a:effectLst/>
                <a:latin typeface="Söhne"/>
              </a:rPr>
              <a:t>Lecturer notes </a:t>
            </a:r>
            <a:r>
              <a:rPr lang="en-AU" b="0" i="0" dirty="0">
                <a:solidFill>
                  <a:srgbClr val="D1D5DB"/>
                </a:solidFill>
                <a:effectLst/>
                <a:latin typeface="Söhne"/>
              </a:rPr>
              <a:t>– open and step through </a:t>
            </a:r>
            <a:r>
              <a:rPr lang="en-AU" b="1" i="1" dirty="0">
                <a:solidFill>
                  <a:schemeClr val="accent1"/>
                </a:solidFill>
                <a:effectLst/>
                <a:latin typeface="Söhne"/>
              </a:rPr>
              <a:t>linked_lists.py</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28</a:t>
            </a:fld>
            <a:endParaRPr lang="en-US" dirty="0"/>
          </a:p>
        </p:txBody>
      </p:sp>
    </p:spTree>
    <p:extLst>
      <p:ext uri="{BB962C8B-B14F-4D97-AF65-F5344CB8AC3E}">
        <p14:creationId xmlns:p14="http://schemas.microsoft.com/office/powerpoint/2010/main" val="1922822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what use cases can we think of for stacks and queues</a:t>
            </a:r>
          </a:p>
        </p:txBody>
      </p:sp>
      <p:sp>
        <p:nvSpPr>
          <p:cNvPr id="4" name="Slide Number Placeholder 3"/>
          <p:cNvSpPr>
            <a:spLocks noGrp="1"/>
          </p:cNvSpPr>
          <p:nvPr>
            <p:ph type="sldNum" sz="quarter" idx="5"/>
          </p:nvPr>
        </p:nvSpPr>
        <p:spPr/>
        <p:txBody>
          <a:bodyPr/>
          <a:lstStyle/>
          <a:p>
            <a:fld id="{BA3E024E-F835-6D45-89C3-0E2F93EE799A}" type="slidenum">
              <a:rPr lang="en-US" smtClean="0"/>
              <a:t>32</a:t>
            </a:fld>
            <a:endParaRPr lang="en-US" dirty="0"/>
          </a:p>
        </p:txBody>
      </p:sp>
    </p:spTree>
    <p:extLst>
      <p:ext uri="{BB962C8B-B14F-4D97-AF65-F5344CB8AC3E}">
        <p14:creationId xmlns:p14="http://schemas.microsoft.com/office/powerpoint/2010/main" val="3416953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33</a:t>
            </a:fld>
            <a:endParaRPr lang="en-US" dirty="0"/>
          </a:p>
        </p:txBody>
      </p:sp>
    </p:spTree>
    <p:extLst>
      <p:ext uri="{BB962C8B-B14F-4D97-AF65-F5344CB8AC3E}">
        <p14:creationId xmlns:p14="http://schemas.microsoft.com/office/powerpoint/2010/main" val="2027526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Hashmap</a:t>
            </a:r>
            <a:r>
              <a:rPr lang="en-US" dirty="0"/>
              <a:t> (Dictionary) of keys to values</a:t>
            </a:r>
          </a:p>
          <a:p>
            <a:r>
              <a:rPr lang="en-US" dirty="0"/>
              <a:t>Dictionary of lists</a:t>
            </a:r>
          </a:p>
          <a:p>
            <a:r>
              <a:rPr lang="en-US" dirty="0"/>
              <a:t>List of Tuples</a:t>
            </a:r>
          </a:p>
        </p:txBody>
      </p:sp>
      <p:sp>
        <p:nvSpPr>
          <p:cNvPr id="4" name="Slide Number Placeholder 3"/>
          <p:cNvSpPr>
            <a:spLocks noGrp="1"/>
          </p:cNvSpPr>
          <p:nvPr>
            <p:ph type="sldNum" sz="quarter" idx="5"/>
          </p:nvPr>
        </p:nvSpPr>
        <p:spPr/>
        <p:txBody>
          <a:bodyPr/>
          <a:lstStyle/>
          <a:p>
            <a:fld id="{BA3E024E-F835-6D45-89C3-0E2F93EE799A}" type="slidenum">
              <a:rPr lang="en-US" smtClean="0"/>
              <a:t>34</a:t>
            </a:fld>
            <a:endParaRPr lang="en-US" dirty="0"/>
          </a:p>
        </p:txBody>
      </p:sp>
    </p:spTree>
    <p:extLst>
      <p:ext uri="{BB962C8B-B14F-4D97-AF65-F5344CB8AC3E}">
        <p14:creationId xmlns:p14="http://schemas.microsoft.com/office/powerpoint/2010/main" val="2179650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3B6E4-DE93-E795-9D2B-A299F51DC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7BC6F-3809-4E11-B060-BE5F6B5E3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FE9C5-6C5F-984F-C2FE-8E309FD73780}"/>
              </a:ext>
            </a:extLst>
          </p:cNvPr>
          <p:cNvSpPr>
            <a:spLocks noGrp="1"/>
          </p:cNvSpPr>
          <p:nvPr>
            <p:ph type="body" idx="1"/>
          </p:nvPr>
        </p:nvSpPr>
        <p:spPr/>
        <p:txBody>
          <a:bodyPr/>
          <a:lstStyle/>
          <a:p>
            <a:r>
              <a:rPr lang="en-US" dirty="0"/>
              <a:t>Students may consider how Pandas and python </a:t>
            </a:r>
            <a:r>
              <a:rPr lang="en-US" dirty="0" err="1"/>
              <a:t>OrderedDictionary</a:t>
            </a:r>
            <a:r>
              <a:rPr lang="en-US" dirty="0"/>
              <a:t> collections can improve efficiency as the data scales up.</a:t>
            </a:r>
          </a:p>
        </p:txBody>
      </p:sp>
      <p:sp>
        <p:nvSpPr>
          <p:cNvPr id="4" name="Slide Number Placeholder 3">
            <a:extLst>
              <a:ext uri="{FF2B5EF4-FFF2-40B4-BE49-F238E27FC236}">
                <a16:creationId xmlns:a16="http://schemas.microsoft.com/office/drawing/2014/main" id="{E908D3FC-393D-9AD9-041D-F877C86D882A}"/>
              </a:ext>
            </a:extLst>
          </p:cNvPr>
          <p:cNvSpPr>
            <a:spLocks noGrp="1"/>
          </p:cNvSpPr>
          <p:nvPr>
            <p:ph type="sldNum" sz="quarter" idx="5"/>
          </p:nvPr>
        </p:nvSpPr>
        <p:spPr/>
        <p:txBody>
          <a:bodyPr/>
          <a:lstStyle/>
          <a:p>
            <a:fld id="{BA3E024E-F835-6D45-89C3-0E2F93EE799A}" type="slidenum">
              <a:rPr lang="en-US" smtClean="0"/>
              <a:t>35</a:t>
            </a:fld>
            <a:endParaRPr lang="en-US" dirty="0"/>
          </a:p>
        </p:txBody>
      </p:sp>
    </p:spTree>
    <p:extLst>
      <p:ext uri="{BB962C8B-B14F-4D97-AF65-F5344CB8AC3E}">
        <p14:creationId xmlns:p14="http://schemas.microsoft.com/office/powerpoint/2010/main" val="1393934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dirty="0">
                <a:solidFill>
                  <a:srgbClr val="374151"/>
                </a:solidFill>
                <a:effectLst/>
                <a:latin typeface="Söhne"/>
              </a:rPr>
              <a:t>Introduction:</a:t>
            </a:r>
          </a:p>
          <a:p>
            <a:pPr marL="742950" lvl="1" indent="-285750" algn="l">
              <a:buFont typeface="Arial" panose="020B0604020202020204" pitchFamily="34" charset="0"/>
              <a:buChar char="•"/>
            </a:pPr>
            <a:r>
              <a:rPr lang="en-AU" b="0" i="0" dirty="0">
                <a:solidFill>
                  <a:srgbClr val="374151"/>
                </a:solidFill>
                <a:effectLst/>
                <a:latin typeface="Söhne"/>
              </a:rPr>
              <a:t>Hash tables are data structures that enable efficient data retrieval and storage.</a:t>
            </a:r>
          </a:p>
          <a:p>
            <a:pPr marL="742950" lvl="1" indent="-285750" algn="l">
              <a:buFont typeface="Arial" panose="020B0604020202020204" pitchFamily="34" charset="0"/>
              <a:buChar char="•"/>
            </a:pPr>
            <a:r>
              <a:rPr lang="en-AU" b="0" i="0" dirty="0">
                <a:solidFill>
                  <a:srgbClr val="374151"/>
                </a:solidFill>
                <a:effectLst/>
                <a:latin typeface="Söhne"/>
              </a:rPr>
              <a:t>In Python, dictionaries and sets are implemented using hash tables.</a:t>
            </a:r>
          </a:p>
          <a:p>
            <a:pPr algn="l">
              <a:buFont typeface="+mj-lt"/>
              <a:buAutoNum type="arabicPeriod"/>
            </a:pPr>
            <a:r>
              <a:rPr lang="en-AU" b="0" i="0" dirty="0">
                <a:solidFill>
                  <a:srgbClr val="374151"/>
                </a:solidFill>
                <a:effectLst/>
                <a:latin typeface="Söhne"/>
              </a:rPr>
              <a:t>Basics of Hash Table:</a:t>
            </a:r>
          </a:p>
          <a:p>
            <a:pPr marL="742950" lvl="1" indent="-285750" algn="l">
              <a:buFont typeface="Arial" panose="020B0604020202020204" pitchFamily="34" charset="0"/>
              <a:buChar char="•"/>
            </a:pPr>
            <a:r>
              <a:rPr lang="en-AU" b="0" i="0" dirty="0">
                <a:solidFill>
                  <a:srgbClr val="374151"/>
                </a:solidFill>
                <a:effectLst/>
                <a:latin typeface="Söhne"/>
              </a:rPr>
              <a:t>Consists of an array and a hash function.</a:t>
            </a:r>
          </a:p>
          <a:p>
            <a:pPr marL="742950" lvl="1" indent="-285750" algn="l">
              <a:buFont typeface="Arial" panose="020B0604020202020204" pitchFamily="34" charset="0"/>
              <a:buChar char="•"/>
            </a:pPr>
            <a:r>
              <a:rPr lang="en-AU" b="0" i="0" dirty="0">
                <a:solidFill>
                  <a:srgbClr val="374151"/>
                </a:solidFill>
                <a:effectLst/>
                <a:latin typeface="Söhne"/>
              </a:rPr>
              <a:t>Hash function converts a given key into an index in the array where the value is stored.</a:t>
            </a:r>
          </a:p>
          <a:p>
            <a:pPr algn="l">
              <a:buFont typeface="+mj-lt"/>
              <a:buAutoNum type="arabicPeriod"/>
            </a:pPr>
            <a:r>
              <a:rPr lang="en-AU" b="0" i="0" dirty="0">
                <a:solidFill>
                  <a:srgbClr val="374151"/>
                </a:solidFill>
                <a:effectLst/>
                <a:latin typeface="Söhne"/>
              </a:rPr>
              <a:t>Role in Python:</a:t>
            </a:r>
          </a:p>
          <a:p>
            <a:pPr marL="742950" lvl="1" indent="-285750" algn="l">
              <a:buFont typeface="Arial" panose="020B0604020202020204" pitchFamily="34" charset="0"/>
              <a:buChar char="•"/>
            </a:pPr>
            <a:r>
              <a:rPr lang="en-AU" b="0" i="0" dirty="0">
                <a:solidFill>
                  <a:srgbClr val="374151"/>
                </a:solidFill>
                <a:effectLst/>
                <a:latin typeface="Söhne"/>
              </a:rPr>
              <a:t>Dictionaries use hash tables to map keys to values.</a:t>
            </a:r>
          </a:p>
          <a:p>
            <a:pPr marL="742950" lvl="1" indent="-285750" algn="l">
              <a:buFont typeface="Arial" panose="020B0604020202020204" pitchFamily="34" charset="0"/>
              <a:buChar char="•"/>
            </a:pPr>
            <a:r>
              <a:rPr lang="en-AU" b="0" i="0" dirty="0">
                <a:solidFill>
                  <a:srgbClr val="374151"/>
                </a:solidFill>
                <a:effectLst/>
                <a:latin typeface="Söhne"/>
              </a:rPr>
              <a:t>Sets use hash tables to store unique elements.</a:t>
            </a:r>
          </a:p>
          <a:p>
            <a:pPr algn="l">
              <a:buFont typeface="+mj-lt"/>
              <a:buAutoNum type="arabicPeriod"/>
            </a:pPr>
            <a:r>
              <a:rPr lang="en-AU" b="0" i="0" dirty="0">
                <a:solidFill>
                  <a:srgbClr val="374151"/>
                </a:solidFill>
                <a:effectLst/>
                <a:latin typeface="Söhne"/>
              </a:rPr>
              <a:t>Array and Hashing:</a:t>
            </a:r>
          </a:p>
          <a:p>
            <a:pPr marL="742950" lvl="1" indent="-285750" algn="l">
              <a:buFont typeface="Arial" panose="020B0604020202020204" pitchFamily="34" charset="0"/>
              <a:buChar char="•"/>
            </a:pPr>
            <a:r>
              <a:rPr lang="en-AU" b="0" i="0" dirty="0">
                <a:solidFill>
                  <a:srgbClr val="374151"/>
                </a:solidFill>
                <a:effectLst/>
                <a:latin typeface="Söhne"/>
              </a:rPr>
              <a:t>Unlike a simple array, a hash table uses the hash function to determine the index position for each key.</a:t>
            </a:r>
          </a:p>
          <a:p>
            <a:pPr marL="742950" lvl="1" indent="-285750" algn="l">
              <a:buFont typeface="Arial" panose="020B0604020202020204" pitchFamily="34" charset="0"/>
              <a:buChar char="•"/>
            </a:pPr>
            <a:r>
              <a:rPr lang="en-AU" b="0" i="0" dirty="0">
                <a:solidFill>
                  <a:srgbClr val="374151"/>
                </a:solidFill>
                <a:effectLst/>
                <a:latin typeface="Söhne"/>
              </a:rPr>
              <a:t>This allows for constant time for add, delete, and search operations, assuming a good hash function and uniform distribution.</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36</a:t>
            </a:fld>
            <a:endParaRPr lang="en-US" dirty="0"/>
          </a:p>
        </p:txBody>
      </p:sp>
    </p:spTree>
    <p:extLst>
      <p:ext uri="{BB962C8B-B14F-4D97-AF65-F5344CB8AC3E}">
        <p14:creationId xmlns:p14="http://schemas.microsoft.com/office/powerpoint/2010/main" val="2713560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simple hash example</a:t>
            </a:r>
          </a:p>
        </p:txBody>
      </p:sp>
      <p:sp>
        <p:nvSpPr>
          <p:cNvPr id="4" name="Slide Number Placeholder 3"/>
          <p:cNvSpPr>
            <a:spLocks noGrp="1"/>
          </p:cNvSpPr>
          <p:nvPr>
            <p:ph type="sldNum" sz="quarter" idx="5"/>
          </p:nvPr>
        </p:nvSpPr>
        <p:spPr/>
        <p:txBody>
          <a:bodyPr/>
          <a:lstStyle/>
          <a:p>
            <a:fld id="{BA3E024E-F835-6D45-89C3-0E2F93EE799A}" type="slidenum">
              <a:rPr lang="en-US" smtClean="0"/>
              <a:t>37</a:t>
            </a:fld>
            <a:endParaRPr lang="en-US" dirty="0"/>
          </a:p>
        </p:txBody>
      </p:sp>
    </p:spTree>
    <p:extLst>
      <p:ext uri="{BB962C8B-B14F-4D97-AF65-F5344CB8AC3E}">
        <p14:creationId xmlns:p14="http://schemas.microsoft.com/office/powerpoint/2010/main" val="12383889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will often double the memory size of the table, array or list – review </a:t>
            </a:r>
            <a:r>
              <a:rPr lang="en-US" b="1" dirty="0" err="1"/>
              <a:t>simple_hash</a:t>
            </a:r>
            <a:r>
              <a:rPr lang="en-US" b="1" dirty="0"/>
              <a:t> &amp; </a:t>
            </a:r>
            <a:r>
              <a:rPr lang="en-US" b="1" dirty="0" err="1"/>
              <a:t>hash_table</a:t>
            </a:r>
            <a:r>
              <a:rPr lang="en-US" b="1" dirty="0"/>
              <a:t> </a:t>
            </a:r>
            <a:r>
              <a:rPr lang="en-US" dirty="0"/>
              <a:t>examples</a:t>
            </a:r>
          </a:p>
        </p:txBody>
      </p:sp>
      <p:sp>
        <p:nvSpPr>
          <p:cNvPr id="4" name="Slide Number Placeholder 3"/>
          <p:cNvSpPr>
            <a:spLocks noGrp="1"/>
          </p:cNvSpPr>
          <p:nvPr>
            <p:ph type="sldNum" sz="quarter" idx="5"/>
          </p:nvPr>
        </p:nvSpPr>
        <p:spPr/>
        <p:txBody>
          <a:bodyPr/>
          <a:lstStyle/>
          <a:p>
            <a:fld id="{BA3E024E-F835-6D45-89C3-0E2F93EE799A}" type="slidenum">
              <a:rPr lang="en-US" smtClean="0"/>
              <a:t>38</a:t>
            </a:fld>
            <a:endParaRPr lang="en-US" dirty="0"/>
          </a:p>
        </p:txBody>
      </p:sp>
    </p:spTree>
    <p:extLst>
      <p:ext uri="{BB962C8B-B14F-4D97-AF65-F5344CB8AC3E}">
        <p14:creationId xmlns:p14="http://schemas.microsoft.com/office/powerpoint/2010/main" val="25436742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39</a:t>
            </a:fld>
            <a:endParaRPr lang="en-US" dirty="0"/>
          </a:p>
        </p:txBody>
      </p:sp>
    </p:spTree>
    <p:extLst>
      <p:ext uri="{BB962C8B-B14F-4D97-AF65-F5344CB8AC3E}">
        <p14:creationId xmlns:p14="http://schemas.microsoft.com/office/powerpoint/2010/main" val="2499736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hash table example</a:t>
            </a:r>
          </a:p>
        </p:txBody>
      </p:sp>
      <p:sp>
        <p:nvSpPr>
          <p:cNvPr id="4" name="Slide Number Placeholder 3"/>
          <p:cNvSpPr>
            <a:spLocks noGrp="1"/>
          </p:cNvSpPr>
          <p:nvPr>
            <p:ph type="sldNum" sz="quarter" idx="5"/>
          </p:nvPr>
        </p:nvSpPr>
        <p:spPr/>
        <p:txBody>
          <a:bodyPr/>
          <a:lstStyle/>
          <a:p>
            <a:fld id="{BA3E024E-F835-6D45-89C3-0E2F93EE799A}" type="slidenum">
              <a:rPr lang="en-US" smtClean="0"/>
              <a:t>40</a:t>
            </a:fld>
            <a:endParaRPr lang="en-US" dirty="0"/>
          </a:p>
        </p:txBody>
      </p:sp>
    </p:spTree>
    <p:extLst>
      <p:ext uri="{BB962C8B-B14F-4D97-AF65-F5344CB8AC3E}">
        <p14:creationId xmlns:p14="http://schemas.microsoft.com/office/powerpoint/2010/main" val="278437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br>
              <a:rPr lang="en-AU" dirty="0"/>
            </a:b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41</a:t>
            </a:fld>
            <a:endParaRPr lang="en-US" dirty="0"/>
          </a:p>
        </p:txBody>
      </p:sp>
    </p:spTree>
    <p:extLst>
      <p:ext uri="{BB962C8B-B14F-4D97-AF65-F5344CB8AC3E}">
        <p14:creationId xmlns:p14="http://schemas.microsoft.com/office/powerpoint/2010/main" val="3331594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62607-A805-89DD-7994-27F726B50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DCA9F-FB41-045A-A23C-5DF133055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DA6DC-52BE-AF06-4424-CC6E6D872477}"/>
              </a:ext>
            </a:extLst>
          </p:cNvPr>
          <p:cNvSpPr>
            <a:spLocks noGrp="1"/>
          </p:cNvSpPr>
          <p:nvPr>
            <p:ph type="body" idx="1"/>
          </p:nvPr>
        </p:nvSpPr>
        <p:spPr/>
        <p:txBody>
          <a:bodyPr/>
          <a:lstStyle/>
          <a:p>
            <a:endParaRPr lang="en-AU" dirty="0"/>
          </a:p>
          <a:p>
            <a:r>
              <a:rPr lang="en-AU" dirty="0"/>
              <a:t>Directed can be considered a Parent – Child</a:t>
            </a:r>
          </a:p>
          <a:p>
            <a:r>
              <a:rPr lang="en-AU" dirty="0"/>
              <a:t>Use case for calculating optimum travel routes</a:t>
            </a:r>
            <a:br>
              <a:rPr lang="en-AU" dirty="0"/>
            </a:br>
            <a:endParaRPr lang="en-US" dirty="0"/>
          </a:p>
        </p:txBody>
      </p:sp>
      <p:sp>
        <p:nvSpPr>
          <p:cNvPr id="4" name="Slide Number Placeholder 3">
            <a:extLst>
              <a:ext uri="{FF2B5EF4-FFF2-40B4-BE49-F238E27FC236}">
                <a16:creationId xmlns:a16="http://schemas.microsoft.com/office/drawing/2014/main" id="{A64335D4-C228-63CF-CF9D-5401A37B241D}"/>
              </a:ext>
            </a:extLst>
          </p:cNvPr>
          <p:cNvSpPr>
            <a:spLocks noGrp="1"/>
          </p:cNvSpPr>
          <p:nvPr>
            <p:ph type="sldNum" sz="quarter" idx="5"/>
          </p:nvPr>
        </p:nvSpPr>
        <p:spPr/>
        <p:txBody>
          <a:bodyPr/>
          <a:lstStyle/>
          <a:p>
            <a:fld id="{BA3E024E-F835-6D45-89C3-0E2F93EE799A}" type="slidenum">
              <a:rPr lang="en-US" smtClean="0"/>
              <a:t>42</a:t>
            </a:fld>
            <a:endParaRPr lang="en-US" dirty="0"/>
          </a:p>
        </p:txBody>
      </p:sp>
    </p:spTree>
    <p:extLst>
      <p:ext uri="{BB962C8B-B14F-4D97-AF65-F5344CB8AC3E}">
        <p14:creationId xmlns:p14="http://schemas.microsoft.com/office/powerpoint/2010/main" val="909854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2904-415F-03EC-37B4-5961AABF0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D8615-5AB4-C6AC-CBD1-85CC719CA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E0A6-E8A5-72B1-2DBC-BB1D37C1099C}"/>
              </a:ext>
            </a:extLst>
          </p:cNvPr>
          <p:cNvSpPr>
            <a:spLocks noGrp="1"/>
          </p:cNvSpPr>
          <p:nvPr>
            <p:ph type="body" idx="1"/>
          </p:nvPr>
        </p:nvSpPr>
        <p:spPr/>
        <p:txBody>
          <a:bodyPr/>
          <a:lstStyle/>
          <a:p>
            <a:r>
              <a:rPr lang="en-AU" dirty="0"/>
              <a:t>Use case these binary trees can indicate everything to the left of a node being of a lower value binary searching</a:t>
            </a:r>
            <a:br>
              <a:rPr lang="en-AU" dirty="0"/>
            </a:br>
            <a:endParaRPr lang="en-US" dirty="0"/>
          </a:p>
        </p:txBody>
      </p:sp>
      <p:sp>
        <p:nvSpPr>
          <p:cNvPr id="4" name="Slide Number Placeholder 3">
            <a:extLst>
              <a:ext uri="{FF2B5EF4-FFF2-40B4-BE49-F238E27FC236}">
                <a16:creationId xmlns:a16="http://schemas.microsoft.com/office/drawing/2014/main" id="{C077F493-49B4-63B7-8465-AB6ED291C5E8}"/>
              </a:ext>
            </a:extLst>
          </p:cNvPr>
          <p:cNvSpPr>
            <a:spLocks noGrp="1"/>
          </p:cNvSpPr>
          <p:nvPr>
            <p:ph type="sldNum" sz="quarter" idx="5"/>
          </p:nvPr>
        </p:nvSpPr>
        <p:spPr/>
        <p:txBody>
          <a:bodyPr/>
          <a:lstStyle/>
          <a:p>
            <a:fld id="{BA3E024E-F835-6D45-89C3-0E2F93EE799A}" type="slidenum">
              <a:rPr lang="en-US" smtClean="0"/>
              <a:t>43</a:t>
            </a:fld>
            <a:endParaRPr lang="en-US" dirty="0"/>
          </a:p>
        </p:txBody>
      </p:sp>
    </p:spTree>
    <p:extLst>
      <p:ext uri="{BB962C8B-B14F-4D97-AF65-F5344CB8AC3E}">
        <p14:creationId xmlns:p14="http://schemas.microsoft.com/office/powerpoint/2010/main" val="3560083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2904-415F-03EC-37B4-5961AABF0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D8615-5AB4-C6AC-CBD1-85CC719CA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E0A6-E8A5-72B1-2DBC-BB1D37C10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Used in </a:t>
            </a:r>
            <a:r>
              <a:rPr lang="en-AU" dirty="0" err="1"/>
              <a:t>Javascript</a:t>
            </a:r>
            <a:r>
              <a:rPr lang="en-AU" dirty="0"/>
              <a:t>, React etc….. </a:t>
            </a:r>
          </a:p>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Review animation at </a:t>
            </a:r>
            <a:r>
              <a:rPr lang="en-AU" b="0" dirty="0">
                <a:solidFill>
                  <a:srgbClr val="6A9955"/>
                </a:solidFill>
                <a:effectLst/>
                <a:latin typeface="Menlo" panose="020B0609030804020204" pitchFamily="49" charset="0"/>
              </a:rPr>
              <a:t>https://</a:t>
            </a:r>
            <a:r>
              <a:rPr lang="en-AU" b="0" dirty="0" err="1">
                <a:solidFill>
                  <a:srgbClr val="6A9955"/>
                </a:solidFill>
                <a:effectLst/>
                <a:latin typeface="Menlo" panose="020B0609030804020204" pitchFamily="49" charset="0"/>
              </a:rPr>
              <a:t>www.cs.usfca.edu</a:t>
            </a:r>
            <a:r>
              <a:rPr lang="en-AU" b="0" dirty="0">
                <a:solidFill>
                  <a:srgbClr val="6A9955"/>
                </a:solidFill>
                <a:effectLst/>
                <a:latin typeface="Menlo" panose="020B0609030804020204" pitchFamily="49" charset="0"/>
              </a:rPr>
              <a:t>/~</a:t>
            </a:r>
            <a:r>
              <a:rPr lang="en-AU" b="0" dirty="0" err="1">
                <a:solidFill>
                  <a:srgbClr val="6A9955"/>
                </a:solidFill>
                <a:effectLst/>
                <a:latin typeface="Menlo" panose="020B0609030804020204" pitchFamily="49" charset="0"/>
              </a:rPr>
              <a:t>galles</a:t>
            </a:r>
            <a:r>
              <a:rPr lang="en-AU" b="0" dirty="0">
                <a:solidFill>
                  <a:srgbClr val="6A9955"/>
                </a:solidFill>
                <a:effectLst/>
                <a:latin typeface="Menlo" panose="020B0609030804020204" pitchFamily="49" charset="0"/>
              </a:rPr>
              <a:t>/visualization/</a:t>
            </a:r>
            <a:r>
              <a:rPr lang="en-AU" b="0" dirty="0" err="1">
                <a:solidFill>
                  <a:srgbClr val="6A9955"/>
                </a:solidFill>
                <a:effectLst/>
                <a:latin typeface="Menlo" panose="020B0609030804020204" pitchFamily="49" charset="0"/>
              </a:rPr>
              <a:t>ComparisonSort.html</a:t>
            </a:r>
            <a:endParaRPr lang="en-AU" b="0" dirty="0">
              <a:solidFill>
                <a:srgbClr val="CCCCCC"/>
              </a:solidFill>
              <a:effectLst/>
              <a:latin typeface="Menlo" panose="020B0609030804020204" pitchFamily="49" charset="0"/>
            </a:endParaRPr>
          </a:p>
          <a:p>
            <a:br>
              <a:rPr lang="en-AU" dirty="0"/>
            </a:br>
            <a:endParaRPr lang="en-US" dirty="0"/>
          </a:p>
        </p:txBody>
      </p:sp>
      <p:sp>
        <p:nvSpPr>
          <p:cNvPr id="4" name="Slide Number Placeholder 3">
            <a:extLst>
              <a:ext uri="{FF2B5EF4-FFF2-40B4-BE49-F238E27FC236}">
                <a16:creationId xmlns:a16="http://schemas.microsoft.com/office/drawing/2014/main" id="{C077F493-49B4-63B7-8465-AB6ED291C5E8}"/>
              </a:ext>
            </a:extLst>
          </p:cNvPr>
          <p:cNvSpPr>
            <a:spLocks noGrp="1"/>
          </p:cNvSpPr>
          <p:nvPr>
            <p:ph type="sldNum" sz="quarter" idx="5"/>
          </p:nvPr>
        </p:nvSpPr>
        <p:spPr/>
        <p:txBody>
          <a:bodyPr/>
          <a:lstStyle/>
          <a:p>
            <a:fld id="{BA3E024E-F835-6D45-89C3-0E2F93EE799A}" type="slidenum">
              <a:rPr lang="en-US" smtClean="0"/>
              <a:t>44</a:t>
            </a:fld>
            <a:endParaRPr lang="en-US" dirty="0"/>
          </a:p>
        </p:txBody>
      </p:sp>
    </p:spTree>
    <p:extLst>
      <p:ext uri="{BB962C8B-B14F-4D97-AF65-F5344CB8AC3E}">
        <p14:creationId xmlns:p14="http://schemas.microsoft.com/office/powerpoint/2010/main" val="4680144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0" i="0" dirty="0">
                <a:solidFill>
                  <a:srgbClr val="D1D5DB"/>
                </a:solidFill>
                <a:effectLst/>
                <a:latin typeface="Söhne"/>
              </a:rPr>
              <a:t>Binary search repeatedly divides the search interval in half, a quintessential divide and conquer strategy.</a:t>
            </a:r>
          </a:p>
          <a:p>
            <a:pPr algn="l">
              <a:buFont typeface="Arial" panose="020B0604020202020204" pitchFamily="34" charset="0"/>
              <a:buChar char="•"/>
            </a:pPr>
            <a:r>
              <a:rPr lang="en-AU" b="0" i="0" dirty="0">
                <a:solidFill>
                  <a:srgbClr val="D1D5DB"/>
                </a:solidFill>
                <a:effectLst/>
                <a:latin typeface="Söhne"/>
              </a:rPr>
              <a:t>Offers significant speed advantages over linear search, especially for large datasets.</a:t>
            </a:r>
          </a:p>
          <a:p>
            <a:pPr algn="l">
              <a:buFont typeface="Arial" panose="020B0604020202020204" pitchFamily="34" charset="0"/>
              <a:buChar char="•"/>
            </a:pPr>
            <a:r>
              <a:rPr lang="en-AU" b="0" i="0" dirty="0">
                <a:solidFill>
                  <a:srgbClr val="D1D5DB"/>
                </a:solidFill>
                <a:effectLst/>
                <a:latin typeface="Söhne"/>
              </a:rPr>
              <a:t>Key requirement: the list or array must be sorted.</a:t>
            </a:r>
          </a:p>
          <a:p>
            <a:pPr algn="l">
              <a:buFont typeface="Arial" panose="020B0604020202020204" pitchFamily="34" charset="0"/>
              <a:buChar char="•"/>
            </a:pPr>
            <a:r>
              <a:rPr lang="en-AU" b="0" i="0" dirty="0">
                <a:solidFill>
                  <a:srgbClr val="D1D5DB"/>
                </a:solidFill>
                <a:effectLst/>
                <a:latin typeface="Söhne"/>
              </a:rPr>
              <a:t>Review binary search example</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48</a:t>
            </a:fld>
            <a:endParaRPr lang="en-US" dirty="0"/>
          </a:p>
        </p:txBody>
      </p:sp>
    </p:spTree>
    <p:extLst>
      <p:ext uri="{BB962C8B-B14F-4D97-AF65-F5344CB8AC3E}">
        <p14:creationId xmlns:p14="http://schemas.microsoft.com/office/powerpoint/2010/main" val="3062923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0" i="0" dirty="0">
                <a:solidFill>
                  <a:srgbClr val="D1D5DB"/>
                </a:solidFill>
                <a:effectLst/>
                <a:latin typeface="Söhne"/>
              </a:rPr>
              <a:t>Binary search repeatedly divides the search interval in half, a quintessential divide and conquer strategy.</a:t>
            </a:r>
          </a:p>
          <a:p>
            <a:pPr algn="l">
              <a:buFont typeface="Arial" panose="020B0604020202020204" pitchFamily="34" charset="0"/>
              <a:buChar char="•"/>
            </a:pPr>
            <a:r>
              <a:rPr lang="en-AU" b="0" i="0" dirty="0">
                <a:solidFill>
                  <a:srgbClr val="D1D5DB"/>
                </a:solidFill>
                <a:effectLst/>
                <a:latin typeface="Söhne"/>
              </a:rPr>
              <a:t>Offers significant speed advantages over linear search, especially for large datasets.</a:t>
            </a:r>
          </a:p>
          <a:p>
            <a:pPr algn="l">
              <a:buFont typeface="Arial" panose="020B0604020202020204" pitchFamily="34" charset="0"/>
              <a:buChar char="•"/>
            </a:pPr>
            <a:r>
              <a:rPr lang="en-AU" b="0" i="0" dirty="0">
                <a:solidFill>
                  <a:srgbClr val="D1D5DB"/>
                </a:solidFill>
                <a:effectLst/>
                <a:latin typeface="Söhne"/>
              </a:rPr>
              <a:t>Key requirement: the list or array must be sorted.</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49</a:t>
            </a:fld>
            <a:endParaRPr lang="en-US" dirty="0"/>
          </a:p>
        </p:txBody>
      </p:sp>
    </p:spTree>
    <p:extLst>
      <p:ext uri="{BB962C8B-B14F-4D97-AF65-F5344CB8AC3E}">
        <p14:creationId xmlns:p14="http://schemas.microsoft.com/office/powerpoint/2010/main" val="37245045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50</a:t>
            </a:fld>
            <a:endParaRPr lang="en-US" dirty="0"/>
          </a:p>
        </p:txBody>
      </p:sp>
    </p:spTree>
    <p:extLst>
      <p:ext uri="{BB962C8B-B14F-4D97-AF65-F5344CB8AC3E}">
        <p14:creationId xmlns:p14="http://schemas.microsoft.com/office/powerpoint/2010/main" val="3437973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51</a:t>
            </a:fld>
            <a:endParaRPr lang="en-US" dirty="0"/>
          </a:p>
        </p:txBody>
      </p:sp>
    </p:spTree>
    <p:extLst>
      <p:ext uri="{BB962C8B-B14F-4D97-AF65-F5344CB8AC3E}">
        <p14:creationId xmlns:p14="http://schemas.microsoft.com/office/powerpoint/2010/main" val="21052899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52</a:t>
            </a:fld>
            <a:endParaRPr lang="en-US" dirty="0"/>
          </a:p>
        </p:txBody>
      </p:sp>
    </p:spTree>
    <p:extLst>
      <p:ext uri="{BB962C8B-B14F-4D97-AF65-F5344CB8AC3E}">
        <p14:creationId xmlns:p14="http://schemas.microsoft.com/office/powerpoint/2010/main" val="26276746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53</a:t>
            </a:fld>
            <a:endParaRPr lang="en-US" dirty="0"/>
          </a:p>
        </p:txBody>
      </p:sp>
    </p:spTree>
    <p:extLst>
      <p:ext uri="{BB962C8B-B14F-4D97-AF65-F5344CB8AC3E}">
        <p14:creationId xmlns:p14="http://schemas.microsoft.com/office/powerpoint/2010/main" val="1196726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54</a:t>
            </a:fld>
            <a:endParaRPr lang="en-US" dirty="0"/>
          </a:p>
        </p:txBody>
      </p:sp>
    </p:spTree>
    <p:extLst>
      <p:ext uri="{BB962C8B-B14F-4D97-AF65-F5344CB8AC3E}">
        <p14:creationId xmlns:p14="http://schemas.microsoft.com/office/powerpoint/2010/main" val="10965223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55</a:t>
            </a:fld>
            <a:endParaRPr lang="en-US" dirty="0"/>
          </a:p>
        </p:txBody>
      </p:sp>
    </p:spTree>
    <p:extLst>
      <p:ext uri="{BB962C8B-B14F-4D97-AF65-F5344CB8AC3E}">
        <p14:creationId xmlns:p14="http://schemas.microsoft.com/office/powerpoint/2010/main" val="2915935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6/3/2026</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3/6/26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3/6/26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3/6/26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3/6/26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3/6/26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3/6/26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3/6/26</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AC5C6FA5-6B82-50B2-0469-BA6EDD91C12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medium.com/dataseries/how-to-calculate-time-complexity-with-big-o-notation-9afe33aa4c46"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www.cs.usfca.edu/~galles/visualization/ClosedHash.html"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s://www.cs.usfca.edu/~galles/visualization/Search.html"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hyperlink" Target="https://www.cs.usfca.edu/~galles/visualization/BST.html"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endParaRPr lang="en-AU" dirty="0"/>
          </a:p>
        </p:txBody>
      </p:sp>
      <p:graphicFrame>
        <p:nvGraphicFramePr>
          <p:cNvPr id="20" name="Table Placeholder 19"/>
          <p:cNvGraphicFramePr>
            <a:graphicFrameLocks noGrp="1"/>
          </p:cNvGraphicFramePr>
          <p:nvPr>
            <p:ph type="tbl" sz="quarter" idx="13"/>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dirty="0"/>
              <a:t>Session 06</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AAC6-D828-D056-43C1-525B38D34A00}"/>
              </a:ext>
            </a:extLst>
          </p:cNvPr>
          <p:cNvSpPr>
            <a:spLocks noGrp="1"/>
          </p:cNvSpPr>
          <p:nvPr>
            <p:ph type="title"/>
          </p:nvPr>
        </p:nvSpPr>
        <p:spPr/>
        <p:txBody>
          <a:bodyPr/>
          <a:lstStyle/>
          <a:p>
            <a:r>
              <a:rPr lang="en-US" dirty="0"/>
              <a:t>Last week</a:t>
            </a:r>
          </a:p>
        </p:txBody>
      </p:sp>
      <p:sp>
        <p:nvSpPr>
          <p:cNvPr id="5" name="Content Placeholder 4">
            <a:extLst>
              <a:ext uri="{FF2B5EF4-FFF2-40B4-BE49-F238E27FC236}">
                <a16:creationId xmlns:a16="http://schemas.microsoft.com/office/drawing/2014/main" id="{1F821734-FE18-179C-B803-5853E118CDA6}"/>
              </a:ext>
            </a:extLst>
          </p:cNvPr>
          <p:cNvSpPr>
            <a:spLocks noGrp="1"/>
          </p:cNvSpPr>
          <p:nvPr>
            <p:ph idx="1"/>
          </p:nvPr>
        </p:nvSpPr>
        <p:spPr/>
        <p:txBody>
          <a:bodyPr/>
          <a:lstStyle/>
          <a:p>
            <a:r>
              <a:rPr lang="en-US" dirty="0"/>
              <a:t>In looking at binary files and random access we started noting the importance of </a:t>
            </a:r>
            <a:r>
              <a:rPr lang="en-US" b="1" dirty="0"/>
              <a:t>data structures</a:t>
            </a:r>
            <a:endParaRPr lang="en-US" dirty="0"/>
          </a:p>
          <a:p>
            <a:r>
              <a:rPr lang="en-US" dirty="0"/>
              <a:t>Data structures apply not just to how data is stored on disk but more importantly how data is stored in memory</a:t>
            </a:r>
          </a:p>
          <a:p>
            <a:r>
              <a:rPr lang="en-US" dirty="0"/>
              <a:t>Just like binary is usually abstracted, so are data structures</a:t>
            </a:r>
          </a:p>
        </p:txBody>
      </p:sp>
    </p:spTree>
    <p:extLst>
      <p:ext uri="{BB962C8B-B14F-4D97-AF65-F5344CB8AC3E}">
        <p14:creationId xmlns:p14="http://schemas.microsoft.com/office/powerpoint/2010/main" val="260988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866CBE-6627-770A-72BD-73EEA6D53407}"/>
              </a:ext>
            </a:extLst>
          </p:cNvPr>
          <p:cNvSpPr>
            <a:spLocks noGrp="1"/>
          </p:cNvSpPr>
          <p:nvPr>
            <p:ph type="title"/>
          </p:nvPr>
        </p:nvSpPr>
        <p:spPr/>
        <p:txBody>
          <a:bodyPr/>
          <a:lstStyle/>
          <a:p>
            <a:r>
              <a:rPr lang="en-US" dirty="0"/>
              <a:t>Data structures and binary search</a:t>
            </a:r>
          </a:p>
        </p:txBody>
      </p:sp>
      <p:sp>
        <p:nvSpPr>
          <p:cNvPr id="5" name="Text Placeholder 4">
            <a:extLst>
              <a:ext uri="{FF2B5EF4-FFF2-40B4-BE49-F238E27FC236}">
                <a16:creationId xmlns:a16="http://schemas.microsoft.com/office/drawing/2014/main" id="{93EC9F31-82FD-544D-D2C8-50B06221E691}"/>
              </a:ext>
            </a:extLst>
          </p:cNvPr>
          <p:cNvSpPr>
            <a:spLocks noGrp="1"/>
          </p:cNvSpPr>
          <p:nvPr>
            <p:ph type="body" idx="1"/>
          </p:nvPr>
        </p:nvSpPr>
        <p:spPr/>
        <p:txBody>
          <a:bodyPr/>
          <a:lstStyle/>
          <a:p>
            <a:r>
              <a:rPr lang="en-US" dirty="0"/>
              <a:t>Now…</a:t>
            </a:r>
          </a:p>
        </p:txBody>
      </p:sp>
    </p:spTree>
    <p:extLst>
      <p:ext uri="{BB962C8B-B14F-4D97-AF65-F5344CB8AC3E}">
        <p14:creationId xmlns:p14="http://schemas.microsoft.com/office/powerpoint/2010/main" val="3989514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Objectives</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normAutofit fontScale="92500"/>
          </a:bodyPr>
          <a:lstStyle/>
          <a:p>
            <a:r>
              <a:rPr lang="en-US" dirty="0"/>
              <a:t>Understand fundamental data structures in computer science</a:t>
            </a:r>
          </a:p>
          <a:p>
            <a:r>
              <a:rPr lang="en-US" dirty="0"/>
              <a:t>Relate these core data structures to Python </a:t>
            </a:r>
            <a:r>
              <a:rPr lang="en-US" dirty="0" err="1"/>
              <a:t>builtins</a:t>
            </a:r>
            <a:r>
              <a:rPr lang="en-US" dirty="0"/>
              <a:t> and standard library structures</a:t>
            </a:r>
          </a:p>
          <a:p>
            <a:r>
              <a:rPr lang="en-US" dirty="0"/>
              <a:t>Identify and apply key properties of these core data structures</a:t>
            </a:r>
          </a:p>
          <a:p>
            <a:r>
              <a:rPr lang="en-US" dirty="0"/>
              <a:t>Implement binary search techniques and define log n time complexity</a:t>
            </a:r>
          </a:p>
          <a:p>
            <a:r>
              <a:rPr lang="en-US" dirty="0"/>
              <a:t>Apply these standard data structure to real-world use cases</a:t>
            </a:r>
          </a:p>
        </p:txBody>
      </p:sp>
    </p:spTree>
    <p:extLst>
      <p:ext uri="{BB962C8B-B14F-4D97-AF65-F5344CB8AC3E}">
        <p14:creationId xmlns:p14="http://schemas.microsoft.com/office/powerpoint/2010/main" val="110508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lstStyle/>
          <a:p>
            <a:r>
              <a:rPr lang="en-US" dirty="0"/>
              <a:t>How we think about data structures in Python:</a:t>
            </a:r>
          </a:p>
          <a:p>
            <a:pPr lvl="1"/>
            <a:r>
              <a:rPr lang="en-US" dirty="0"/>
              <a:t>lists, tuples, dictionaries, sets, classes </a:t>
            </a:r>
          </a:p>
          <a:p>
            <a:r>
              <a:rPr lang="en-US" dirty="0"/>
              <a:t>What data structures are:</a:t>
            </a:r>
          </a:p>
          <a:p>
            <a:pPr lvl="1"/>
            <a:r>
              <a:rPr lang="en-US" dirty="0"/>
              <a:t>A formal way of aggregating information as a single structure</a:t>
            </a:r>
          </a:p>
          <a:p>
            <a:r>
              <a:rPr lang="en-US" dirty="0"/>
              <a:t>Lists, tuples, dictionaries, sets, classes, are examples of abstractions</a:t>
            </a:r>
          </a:p>
          <a:p>
            <a:pPr lvl="1"/>
            <a:r>
              <a:rPr lang="en-US" dirty="0"/>
              <a:t>Of what? Algorithms for traversing memory addresses and data associated with those addresses</a:t>
            </a:r>
          </a:p>
        </p:txBody>
      </p:sp>
    </p:spTree>
    <p:extLst>
      <p:ext uri="{BB962C8B-B14F-4D97-AF65-F5344CB8AC3E}">
        <p14:creationId xmlns:p14="http://schemas.microsoft.com/office/powerpoint/2010/main" val="1444691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definition</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lstStyle/>
          <a:p>
            <a:pPr marL="0" indent="0">
              <a:buNone/>
            </a:pPr>
            <a:r>
              <a:rPr lang="en-AU" b="0" i="0" dirty="0">
                <a:solidFill>
                  <a:srgbClr val="D1D5DB"/>
                </a:solidFill>
                <a:effectLst/>
                <a:latin typeface="Söhne"/>
              </a:rPr>
              <a:t>“A </a:t>
            </a:r>
            <a:r>
              <a:rPr lang="en-AU" b="1" i="0" dirty="0">
                <a:effectLst/>
                <a:latin typeface="Söhne"/>
              </a:rPr>
              <a:t>data structure</a:t>
            </a:r>
            <a:r>
              <a:rPr lang="en-AU" b="0" i="0" dirty="0">
                <a:solidFill>
                  <a:srgbClr val="D1D5DB"/>
                </a:solidFill>
                <a:effectLst/>
                <a:latin typeface="Söhne"/>
              </a:rPr>
              <a:t> is a specialised format for organising and storing data in a computer such that it can be accessed and modified efficiently. ”</a:t>
            </a:r>
            <a:endParaRPr lang="en-US" dirty="0"/>
          </a:p>
        </p:txBody>
      </p:sp>
    </p:spTree>
    <p:extLst>
      <p:ext uri="{BB962C8B-B14F-4D97-AF65-F5344CB8AC3E}">
        <p14:creationId xmlns:p14="http://schemas.microsoft.com/office/powerpoint/2010/main" val="2799775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definition</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a:xfrm>
            <a:off x="609600" y="2152603"/>
            <a:ext cx="10972800" cy="2552794"/>
          </a:xfrm>
        </p:spPr>
        <p:txBody>
          <a:bodyPr>
            <a:normAutofit/>
          </a:bodyPr>
          <a:lstStyle/>
          <a:p>
            <a:pPr marL="0" indent="0" algn="ctr">
              <a:buNone/>
            </a:pPr>
            <a:r>
              <a:rPr lang="en-AU" sz="7200" b="0" i="0" dirty="0">
                <a:solidFill>
                  <a:srgbClr val="D1D5DB"/>
                </a:solidFill>
                <a:effectLst/>
                <a:latin typeface="Söhne"/>
              </a:rPr>
              <a:t>Efficiency?</a:t>
            </a:r>
          </a:p>
          <a:p>
            <a:pPr marL="0" indent="0" algn="ctr">
              <a:buNone/>
            </a:pPr>
            <a:r>
              <a:rPr lang="en-AU" sz="7200" b="0" i="0" dirty="0">
                <a:solidFill>
                  <a:srgbClr val="D1D5DB"/>
                </a:solidFill>
                <a:effectLst/>
                <a:latin typeface="Söhne"/>
              </a:rPr>
              <a:t>Specialised?</a:t>
            </a:r>
            <a:endParaRPr lang="en-US" sz="7200" dirty="0"/>
          </a:p>
        </p:txBody>
      </p:sp>
    </p:spTree>
    <p:extLst>
      <p:ext uri="{BB962C8B-B14F-4D97-AF65-F5344CB8AC3E}">
        <p14:creationId xmlns:p14="http://schemas.microsoft.com/office/powerpoint/2010/main" val="41972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Analogy</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normAutofit/>
          </a:bodyPr>
          <a:lstStyle/>
          <a:p>
            <a:pPr algn="l">
              <a:buFont typeface="Arial" panose="020B0604020202020204" pitchFamily="34" charset="0"/>
              <a:buChar char="•"/>
            </a:pPr>
            <a:r>
              <a:rPr lang="en-AU" b="1" i="0" dirty="0">
                <a:solidFill>
                  <a:srgbClr val="D1D5DB"/>
                </a:solidFill>
                <a:effectLst/>
                <a:latin typeface="Söhne"/>
              </a:rPr>
              <a:t>Bookshelf</a:t>
            </a:r>
            <a:r>
              <a:rPr lang="en-AU" b="0" i="0" dirty="0">
                <a:solidFill>
                  <a:srgbClr val="D1D5DB"/>
                </a:solidFill>
                <a:effectLst/>
                <a:latin typeface="Söhne"/>
              </a:rPr>
              <a:t>: Great for accessing any book but adding a new book in the middle is tricky.</a:t>
            </a:r>
          </a:p>
          <a:p>
            <a:pPr algn="l">
              <a:buFont typeface="Arial" panose="020B0604020202020204" pitchFamily="34" charset="0"/>
              <a:buChar char="•"/>
            </a:pPr>
            <a:r>
              <a:rPr lang="en-AU" b="1" i="0" dirty="0">
                <a:solidFill>
                  <a:srgbClr val="D1D5DB"/>
                </a:solidFill>
                <a:effectLst/>
                <a:latin typeface="Söhne"/>
              </a:rPr>
              <a:t>Stack of plates</a:t>
            </a:r>
            <a:r>
              <a:rPr lang="en-AU" b="0" i="0" dirty="0">
                <a:solidFill>
                  <a:srgbClr val="D1D5DB"/>
                </a:solidFill>
                <a:effectLst/>
                <a:latin typeface="Söhne"/>
              </a:rPr>
              <a:t>: Easy to add or remove from the top, but accessing a plate in the middle requires moving others.</a:t>
            </a:r>
          </a:p>
          <a:p>
            <a:pPr algn="l">
              <a:buFont typeface="Arial" panose="020B0604020202020204" pitchFamily="34" charset="0"/>
              <a:buChar char="•"/>
            </a:pPr>
            <a:r>
              <a:rPr lang="en-AU" b="1" i="0" dirty="0">
                <a:solidFill>
                  <a:srgbClr val="D1D5DB"/>
                </a:solidFill>
                <a:effectLst/>
                <a:latin typeface="Söhne"/>
              </a:rPr>
              <a:t>Queue at the shops</a:t>
            </a:r>
            <a:r>
              <a:rPr lang="en-AU" b="0" i="0" dirty="0">
                <a:solidFill>
                  <a:srgbClr val="D1D5DB"/>
                </a:solidFill>
                <a:effectLst/>
                <a:latin typeface="Söhne"/>
              </a:rPr>
              <a:t>: People join at the end and leave from the front.</a:t>
            </a:r>
          </a:p>
          <a:p>
            <a:endParaRPr lang="en-US" sz="2400" dirty="0"/>
          </a:p>
        </p:txBody>
      </p:sp>
    </p:spTree>
    <p:extLst>
      <p:ext uri="{BB962C8B-B14F-4D97-AF65-F5344CB8AC3E}">
        <p14:creationId xmlns:p14="http://schemas.microsoft.com/office/powerpoint/2010/main" val="1337220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47DB8-6B53-B87C-996F-3F4553215E85}"/>
              </a:ext>
            </a:extLst>
          </p:cNvPr>
          <p:cNvSpPr>
            <a:spLocks noGrp="1"/>
          </p:cNvSpPr>
          <p:nvPr>
            <p:ph type="title"/>
          </p:nvPr>
        </p:nvSpPr>
        <p:spPr/>
        <p:txBody>
          <a:bodyPr/>
          <a:lstStyle/>
          <a:p>
            <a:r>
              <a:rPr lang="en-US" dirty="0"/>
              <a:t>Discussion Activity</a:t>
            </a:r>
          </a:p>
        </p:txBody>
      </p:sp>
      <p:sp>
        <p:nvSpPr>
          <p:cNvPr id="3" name="Content Placeholder 2">
            <a:extLst>
              <a:ext uri="{FF2B5EF4-FFF2-40B4-BE49-F238E27FC236}">
                <a16:creationId xmlns:a16="http://schemas.microsoft.com/office/drawing/2014/main" id="{B9DFD9E8-944E-0326-0BA8-C5723558550A}"/>
              </a:ext>
            </a:extLst>
          </p:cNvPr>
          <p:cNvSpPr>
            <a:spLocks noGrp="1"/>
          </p:cNvSpPr>
          <p:nvPr>
            <p:ph idx="1"/>
          </p:nvPr>
        </p:nvSpPr>
        <p:spPr/>
        <p:txBody>
          <a:bodyPr/>
          <a:lstStyle/>
          <a:p>
            <a:pPr marL="0" indent="0">
              <a:buNone/>
            </a:pPr>
            <a:r>
              <a:rPr lang="en-US" dirty="0"/>
              <a:t>Think of your own real-world scenarios for the following:</a:t>
            </a:r>
          </a:p>
          <a:p>
            <a:pPr marL="0" indent="0">
              <a:buNone/>
            </a:pPr>
            <a:endParaRPr lang="en-US" dirty="0"/>
          </a:p>
          <a:p>
            <a:pPr lvl="1"/>
            <a:r>
              <a:rPr lang="en-US" dirty="0"/>
              <a:t>Insert an item at one end and remove from the other.</a:t>
            </a:r>
          </a:p>
          <a:p>
            <a:pPr lvl="1"/>
            <a:r>
              <a:rPr lang="en-US" dirty="0"/>
              <a:t>Insert from one end remove from the same end</a:t>
            </a:r>
          </a:p>
          <a:p>
            <a:pPr lvl="1"/>
            <a:r>
              <a:rPr lang="en-US" dirty="0"/>
              <a:t>Make it easy to insert items in random positions or remove from specified positions (without reshuffling everything)</a:t>
            </a:r>
          </a:p>
          <a:p>
            <a:endParaRPr lang="en-US" dirty="0"/>
          </a:p>
        </p:txBody>
      </p:sp>
    </p:spTree>
    <p:extLst>
      <p:ext uri="{BB962C8B-B14F-4D97-AF65-F5344CB8AC3E}">
        <p14:creationId xmlns:p14="http://schemas.microsoft.com/office/powerpoint/2010/main" val="3075758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182A-D421-BA0B-B10E-B144E9ECB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60871-7F67-7205-C8D6-CBE4CC07AF3E}"/>
              </a:ext>
            </a:extLst>
          </p:cNvPr>
          <p:cNvSpPr>
            <a:spLocks noGrp="1"/>
          </p:cNvSpPr>
          <p:nvPr>
            <p:ph type="title"/>
          </p:nvPr>
        </p:nvSpPr>
        <p:spPr/>
        <p:txBody>
          <a:bodyPr/>
          <a:lstStyle/>
          <a:p>
            <a:r>
              <a:rPr lang="en-US" dirty="0"/>
              <a:t>Python and data structures</a:t>
            </a:r>
          </a:p>
        </p:txBody>
      </p:sp>
      <p:sp>
        <p:nvSpPr>
          <p:cNvPr id="3" name="Content Placeholder 2">
            <a:extLst>
              <a:ext uri="{FF2B5EF4-FFF2-40B4-BE49-F238E27FC236}">
                <a16:creationId xmlns:a16="http://schemas.microsoft.com/office/drawing/2014/main" id="{91575D1E-5317-04D3-2944-759B4F91F723}"/>
              </a:ext>
            </a:extLst>
          </p:cNvPr>
          <p:cNvSpPr>
            <a:spLocks noGrp="1"/>
          </p:cNvSpPr>
          <p:nvPr>
            <p:ph idx="1"/>
          </p:nvPr>
        </p:nvSpPr>
        <p:spPr/>
        <p:txBody>
          <a:bodyPr/>
          <a:lstStyle/>
          <a:p>
            <a:r>
              <a:rPr lang="en-US" dirty="0"/>
              <a:t>Data is fundamental to programming and therefore data structures are fundamental</a:t>
            </a:r>
          </a:p>
          <a:p>
            <a:r>
              <a:rPr lang="en-US" dirty="0"/>
              <a:t>In Python we encounter data structures using high-level abstraction of the various collection types: </a:t>
            </a:r>
            <a:r>
              <a:rPr lang="en-US" b="1" dirty="0">
                <a:solidFill>
                  <a:srgbClr val="FFC000"/>
                </a:solidFill>
              </a:rPr>
              <a:t>lists, tuples, </a:t>
            </a:r>
            <a:r>
              <a:rPr lang="en-US" b="1" dirty="0" err="1">
                <a:solidFill>
                  <a:srgbClr val="FFC000"/>
                </a:solidFill>
              </a:rPr>
              <a:t>dict</a:t>
            </a:r>
            <a:r>
              <a:rPr lang="en-US" b="1" dirty="0">
                <a:solidFill>
                  <a:srgbClr val="FFC000"/>
                </a:solidFill>
              </a:rPr>
              <a:t>, sets, </a:t>
            </a:r>
            <a:r>
              <a:rPr lang="en-US" dirty="0"/>
              <a:t>etc.</a:t>
            </a:r>
          </a:p>
          <a:p>
            <a:r>
              <a:rPr lang="en-US" dirty="0"/>
              <a:t>Even classes, as we’ll soon see, are data </a:t>
            </a:r>
            <a:r>
              <a:rPr lang="en-US" i="1" dirty="0"/>
              <a:t>types</a:t>
            </a:r>
            <a:endParaRPr lang="en-US" dirty="0"/>
          </a:p>
        </p:txBody>
      </p:sp>
    </p:spTree>
    <p:extLst>
      <p:ext uri="{BB962C8B-B14F-4D97-AF65-F5344CB8AC3E}">
        <p14:creationId xmlns:p14="http://schemas.microsoft.com/office/powerpoint/2010/main" val="128455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5D2-7E7D-FBFE-4310-DF6153057537}"/>
              </a:ext>
            </a:extLst>
          </p:cNvPr>
          <p:cNvSpPr>
            <a:spLocks noGrp="1"/>
          </p:cNvSpPr>
          <p:nvPr>
            <p:ph type="title"/>
          </p:nvPr>
        </p:nvSpPr>
        <p:spPr/>
        <p:txBody>
          <a:bodyPr>
            <a:normAutofit/>
          </a:bodyPr>
          <a:lstStyle/>
          <a:p>
            <a:r>
              <a:rPr lang="en-US" dirty="0"/>
              <a:t>High Level Abstraction in Python</a:t>
            </a:r>
          </a:p>
        </p:txBody>
      </p:sp>
      <p:sp>
        <p:nvSpPr>
          <p:cNvPr id="3" name="Content Placeholder 2">
            <a:extLst>
              <a:ext uri="{FF2B5EF4-FFF2-40B4-BE49-F238E27FC236}">
                <a16:creationId xmlns:a16="http://schemas.microsoft.com/office/drawing/2014/main" id="{01E9B3F8-177B-8F5B-5D2B-98DCE6171A81}"/>
              </a:ext>
            </a:extLst>
          </p:cNvPr>
          <p:cNvSpPr>
            <a:spLocks noGrp="1"/>
          </p:cNvSpPr>
          <p:nvPr>
            <p:ph idx="1"/>
          </p:nvPr>
        </p:nvSpPr>
        <p:spPr>
          <a:xfrm>
            <a:off x="609600" y="1794618"/>
            <a:ext cx="5486399" cy="3403916"/>
          </a:xfrm>
        </p:spPr>
        <p:txBody>
          <a:bodyPr>
            <a:normAutofit lnSpcReduction="10000"/>
          </a:bodyPr>
          <a:lstStyle/>
          <a:p>
            <a:r>
              <a:rPr lang="en-US" dirty="0"/>
              <a:t>data </a:t>
            </a:r>
            <a:r>
              <a:rPr lang="en-US" b="1" dirty="0"/>
              <a:t>structures </a:t>
            </a:r>
            <a:r>
              <a:rPr lang="en-US" dirty="0"/>
              <a:t>are hidden from us in Python’s C implementation</a:t>
            </a:r>
          </a:p>
          <a:p>
            <a:endParaRPr lang="en-US" dirty="0"/>
          </a:p>
          <a:p>
            <a:r>
              <a:rPr lang="en-US" b="1" i="1" dirty="0"/>
              <a:t>pop</a:t>
            </a:r>
            <a:r>
              <a:rPr lang="en-US" dirty="0"/>
              <a:t> &amp; </a:t>
            </a:r>
            <a:r>
              <a:rPr lang="en-US" b="1" i="1" dirty="0"/>
              <a:t>append </a:t>
            </a:r>
            <a:r>
              <a:rPr lang="en-US" dirty="0"/>
              <a:t>operations are implemented in C using the </a:t>
            </a:r>
            <a:r>
              <a:rPr lang="en-US" i="1" dirty="0" err="1"/>
              <a:t>CPython</a:t>
            </a:r>
            <a:r>
              <a:rPr lang="en-US" dirty="0"/>
              <a:t> interpreter.</a:t>
            </a:r>
          </a:p>
        </p:txBody>
      </p:sp>
      <p:sp>
        <p:nvSpPr>
          <p:cNvPr id="7" name="TextBox 6">
            <a:extLst>
              <a:ext uri="{FF2B5EF4-FFF2-40B4-BE49-F238E27FC236}">
                <a16:creationId xmlns:a16="http://schemas.microsoft.com/office/drawing/2014/main" id="{F5134A16-F5E0-17C5-BA6E-E1478F82FF1D}"/>
              </a:ext>
            </a:extLst>
          </p:cNvPr>
          <p:cNvSpPr txBox="1"/>
          <p:nvPr/>
        </p:nvSpPr>
        <p:spPr>
          <a:xfrm>
            <a:off x="6468533" y="1997839"/>
            <a:ext cx="5283199" cy="2862322"/>
          </a:xfrm>
          <a:prstGeom prst="rect">
            <a:avLst/>
          </a:prstGeom>
          <a:noFill/>
        </p:spPr>
        <p:txBody>
          <a:bodyPr wrap="square">
            <a:spAutoFit/>
          </a:bodyPr>
          <a:lstStyle/>
          <a:p>
            <a:r>
              <a:rPr lang="en-AU" sz="2000" b="0" dirty="0">
                <a:solidFill>
                  <a:srgbClr val="6A9955"/>
                </a:solidFill>
                <a:effectLst/>
                <a:latin typeface="Menlo" panose="020B0609030804020204" pitchFamily="49" charset="0"/>
              </a:rPr>
              <a:t># Append an element to the list</a:t>
            </a:r>
            <a:endParaRPr lang="en-AU" sz="2000" b="0" dirty="0">
              <a:solidFill>
                <a:srgbClr val="CCCCCC"/>
              </a:solidFill>
              <a:effectLst/>
              <a:latin typeface="Menlo" panose="020B0609030804020204" pitchFamily="49" charset="0"/>
            </a:endParaRPr>
          </a:p>
          <a:p>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err="1">
                <a:solidFill>
                  <a:srgbClr val="CCCCCC"/>
                </a:solidFill>
                <a:effectLst/>
                <a:latin typeface="Menlo" panose="020B0609030804020204" pitchFamily="49" charset="0"/>
              </a:rPr>
              <a:t>.</a:t>
            </a:r>
            <a:r>
              <a:rPr lang="en-AU" sz="2000" b="0" dirty="0" err="1">
                <a:solidFill>
                  <a:srgbClr val="DCDCAA"/>
                </a:solidFill>
                <a:effectLst/>
                <a:latin typeface="Menlo" panose="020B0609030804020204" pitchFamily="49" charset="0"/>
              </a:rPr>
              <a:t>append</a:t>
            </a:r>
            <a:r>
              <a:rPr lang="en-AU" sz="2000" b="0" dirty="0">
                <a:solidFill>
                  <a:srgbClr val="CCCCCC"/>
                </a:solidFill>
                <a:effectLst/>
                <a:latin typeface="Menlo" panose="020B0609030804020204" pitchFamily="49" charset="0"/>
              </a:rPr>
              <a:t>(</a:t>
            </a:r>
            <a:r>
              <a:rPr lang="en-AU" sz="2000" b="0" dirty="0">
                <a:solidFill>
                  <a:srgbClr val="B5CEA8"/>
                </a:solidFill>
                <a:effectLst/>
                <a:latin typeface="Menlo" panose="020B0609030804020204" pitchFamily="49" charset="0"/>
              </a:rPr>
              <a:t>6</a:t>
            </a:r>
            <a:r>
              <a:rPr lang="en-AU" sz="2000" b="0" dirty="0">
                <a:solidFill>
                  <a:srgbClr val="CCCCCC"/>
                </a:solidFill>
                <a:effectLst/>
                <a:latin typeface="Menlo" panose="020B0609030804020204" pitchFamily="49" charset="0"/>
              </a:rPr>
              <a:t>)</a:t>
            </a:r>
          </a:p>
          <a:p>
            <a:br>
              <a:rPr lang="en-AU" sz="2000" b="0" dirty="0">
                <a:solidFill>
                  <a:srgbClr val="CCCCCC"/>
                </a:solidFill>
                <a:effectLst/>
                <a:latin typeface="Menlo" panose="020B0609030804020204" pitchFamily="49" charset="0"/>
              </a:rPr>
            </a:br>
            <a:r>
              <a:rPr lang="en-AU" sz="2000" b="0" dirty="0">
                <a:solidFill>
                  <a:srgbClr val="6A9955"/>
                </a:solidFill>
                <a:effectLst/>
                <a:latin typeface="Menlo" panose="020B0609030804020204" pitchFamily="49" charset="0"/>
              </a:rPr>
              <a:t># Pop the last element from the list</a:t>
            </a:r>
            <a:endParaRPr lang="en-AU" sz="2000" b="0" dirty="0">
              <a:solidFill>
                <a:srgbClr val="CCCCCC"/>
              </a:solidFill>
              <a:effectLst/>
              <a:latin typeface="Menlo" panose="020B0609030804020204" pitchFamily="49" charset="0"/>
            </a:endParaRPr>
          </a:p>
          <a:p>
            <a:r>
              <a:rPr lang="en-AU" sz="2000" b="0" dirty="0" err="1">
                <a:solidFill>
                  <a:srgbClr val="9CDCFE"/>
                </a:solidFill>
                <a:effectLst/>
                <a:latin typeface="Menlo" panose="020B0609030804020204" pitchFamily="49" charset="0"/>
              </a:rPr>
              <a:t>popped_element</a:t>
            </a:r>
            <a:r>
              <a:rPr lang="en-AU" sz="2000" b="0" dirty="0">
                <a:solidFill>
                  <a:srgbClr val="CCCCCC"/>
                </a:solidFill>
                <a:effectLst/>
                <a:latin typeface="Menlo" panose="020B0609030804020204" pitchFamily="49" charset="0"/>
              </a:rPr>
              <a:t> </a:t>
            </a:r>
            <a:r>
              <a:rPr lang="en-AU" sz="2000" b="0" dirty="0">
                <a:solidFill>
                  <a:srgbClr val="D4D4D4"/>
                </a:solidFill>
                <a:effectLst/>
                <a:latin typeface="Menlo" panose="020B0609030804020204" pitchFamily="49" charset="0"/>
              </a:rPr>
              <a:t>=</a:t>
            </a:r>
            <a:r>
              <a:rPr lang="en-AU" sz="2000" b="0" dirty="0">
                <a:solidFill>
                  <a:srgbClr val="CCCCCC"/>
                </a:solidFill>
                <a:effectLst/>
                <a:latin typeface="Menlo" panose="020B0609030804020204" pitchFamily="49" charset="0"/>
              </a:rPr>
              <a:t> </a:t>
            </a:r>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err="1">
                <a:solidFill>
                  <a:srgbClr val="CCCCCC"/>
                </a:solidFill>
                <a:effectLst/>
                <a:latin typeface="Menlo" panose="020B0609030804020204" pitchFamily="49" charset="0"/>
              </a:rPr>
              <a:t>.</a:t>
            </a:r>
            <a:r>
              <a:rPr lang="en-AU" sz="2000" b="0" dirty="0" err="1">
                <a:solidFill>
                  <a:srgbClr val="DCDCAA"/>
                </a:solidFill>
                <a:effectLst/>
                <a:latin typeface="Menlo" panose="020B0609030804020204" pitchFamily="49" charset="0"/>
              </a:rPr>
              <a:t>pop</a:t>
            </a:r>
            <a:r>
              <a:rPr lang="en-AU" sz="2000" b="0" dirty="0">
                <a:solidFill>
                  <a:srgbClr val="CCCCCC"/>
                </a:solidFill>
                <a:effectLst/>
                <a:latin typeface="Menlo" panose="020B0609030804020204" pitchFamily="49" charset="0"/>
              </a:rPr>
              <a:t>()</a:t>
            </a:r>
          </a:p>
          <a:p>
            <a:br>
              <a:rPr lang="en-AU" sz="2000" b="0" dirty="0">
                <a:solidFill>
                  <a:srgbClr val="CCCCCC"/>
                </a:solidFill>
                <a:effectLst/>
                <a:latin typeface="Menlo" panose="020B0609030804020204" pitchFamily="49" charset="0"/>
              </a:rPr>
            </a:br>
            <a:r>
              <a:rPr lang="en-AU" sz="2000" b="0" dirty="0">
                <a:solidFill>
                  <a:srgbClr val="6A9955"/>
                </a:solidFill>
                <a:effectLst/>
                <a:latin typeface="Menlo" panose="020B0609030804020204" pitchFamily="49" charset="0"/>
              </a:rPr>
              <a:t># Access an element by index</a:t>
            </a:r>
            <a:endParaRPr lang="en-AU" sz="2000" b="0" dirty="0">
              <a:solidFill>
                <a:srgbClr val="CCCCCC"/>
              </a:solidFill>
              <a:effectLst/>
              <a:latin typeface="Menlo" panose="020B0609030804020204" pitchFamily="49" charset="0"/>
            </a:endParaRPr>
          </a:p>
          <a:p>
            <a:r>
              <a:rPr lang="en-AU" sz="2000" b="0" dirty="0" err="1">
                <a:solidFill>
                  <a:srgbClr val="9CDCFE"/>
                </a:solidFill>
                <a:effectLst/>
                <a:latin typeface="Menlo" panose="020B0609030804020204" pitchFamily="49" charset="0"/>
              </a:rPr>
              <a:t>first_element</a:t>
            </a:r>
            <a:r>
              <a:rPr lang="en-AU" sz="2000" b="0" dirty="0">
                <a:solidFill>
                  <a:srgbClr val="CCCCCC"/>
                </a:solidFill>
                <a:effectLst/>
                <a:latin typeface="Menlo" panose="020B0609030804020204" pitchFamily="49" charset="0"/>
              </a:rPr>
              <a:t> </a:t>
            </a:r>
            <a:r>
              <a:rPr lang="en-AU" sz="2000" b="0" dirty="0">
                <a:solidFill>
                  <a:srgbClr val="D4D4D4"/>
                </a:solidFill>
                <a:effectLst/>
                <a:latin typeface="Menlo" panose="020B0609030804020204" pitchFamily="49" charset="0"/>
              </a:rPr>
              <a:t>=</a:t>
            </a:r>
            <a:r>
              <a:rPr lang="en-AU" sz="2000" b="0" dirty="0">
                <a:solidFill>
                  <a:srgbClr val="CCCCCC"/>
                </a:solidFill>
                <a:effectLst/>
                <a:latin typeface="Menlo" panose="020B0609030804020204" pitchFamily="49" charset="0"/>
              </a:rPr>
              <a:t> </a:t>
            </a:r>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a:solidFill>
                  <a:srgbClr val="CCCCCC"/>
                </a:solidFill>
                <a:effectLst/>
                <a:latin typeface="Menlo" panose="020B0609030804020204" pitchFamily="49" charset="0"/>
              </a:rPr>
              <a:t>[</a:t>
            </a:r>
            <a:r>
              <a:rPr lang="en-AU" sz="2000" b="0" dirty="0">
                <a:solidFill>
                  <a:srgbClr val="B5CEA8"/>
                </a:solidFill>
                <a:effectLst/>
                <a:latin typeface="Menlo" panose="020B0609030804020204" pitchFamily="49" charset="0"/>
              </a:rPr>
              <a:t>0</a:t>
            </a:r>
            <a:r>
              <a:rPr lang="en-AU" sz="2000" b="0" dirty="0">
                <a:solidFill>
                  <a:srgbClr val="CCCCCC"/>
                </a:solidFill>
                <a:effectLst/>
                <a:latin typeface="Menlo" panose="020B0609030804020204" pitchFamily="49" charset="0"/>
              </a:rPr>
              <a:t>]</a:t>
            </a:r>
          </a:p>
        </p:txBody>
      </p:sp>
    </p:spTree>
    <p:extLst>
      <p:ext uri="{BB962C8B-B14F-4D97-AF65-F5344CB8AC3E}">
        <p14:creationId xmlns:p14="http://schemas.microsoft.com/office/powerpoint/2010/main" val="182817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5D2-7E7D-FBFE-4310-DF6153057537}"/>
              </a:ext>
            </a:extLst>
          </p:cNvPr>
          <p:cNvSpPr>
            <a:spLocks noGrp="1"/>
          </p:cNvSpPr>
          <p:nvPr>
            <p:ph type="title"/>
          </p:nvPr>
        </p:nvSpPr>
        <p:spPr>
          <a:xfrm>
            <a:off x="5096014" y="1934937"/>
            <a:ext cx="10972800" cy="527831"/>
          </a:xfrm>
        </p:spPr>
        <p:txBody>
          <a:bodyPr anchor="b">
            <a:noAutofit/>
          </a:bodyPr>
          <a:lstStyle/>
          <a:p>
            <a:r>
              <a:rPr lang="en-US" sz="3200" dirty="0">
                <a:solidFill>
                  <a:schemeClr val="tx1"/>
                </a:solidFill>
              </a:rPr>
              <a:t>So, why should you care?</a:t>
            </a:r>
          </a:p>
        </p:txBody>
      </p:sp>
      <p:sp>
        <p:nvSpPr>
          <p:cNvPr id="3" name="Title 1">
            <a:extLst>
              <a:ext uri="{FF2B5EF4-FFF2-40B4-BE49-F238E27FC236}">
                <a16:creationId xmlns:a16="http://schemas.microsoft.com/office/drawing/2014/main" id="{315DB441-9D7D-9FC8-B2B4-0DBEC259C62F}"/>
              </a:ext>
            </a:extLst>
          </p:cNvPr>
          <p:cNvSpPr txBox="1">
            <a:spLocks/>
          </p:cNvSpPr>
          <p:nvPr/>
        </p:nvSpPr>
        <p:spPr>
          <a:xfrm>
            <a:off x="676413" y="2425795"/>
            <a:ext cx="10972800" cy="1003205"/>
          </a:xfrm>
          <a:prstGeom prst="rect">
            <a:avLst/>
          </a:prstGeom>
        </p:spPr>
        <p:txBody>
          <a:bodyPr vert="horz" lIns="91440" tIns="45720" rIns="91440" bIns="45720" rtlCol="0" anchor="b">
            <a:normAutofit/>
          </a:bodyPr>
          <a:lstStyle>
            <a:lvl1pPr algn="l" defTabSz="457200" rtl="0" eaLnBrk="1" latinLnBrk="0" hangingPunct="1">
              <a:spcBef>
                <a:spcPct val="0"/>
              </a:spcBef>
              <a:buNone/>
              <a:defRPr sz="1800" b="1" i="0" kern="1200" spc="50" baseline="0">
                <a:solidFill>
                  <a:schemeClr val="bg1">
                    <a:lumMod val="95000"/>
                  </a:schemeClr>
                </a:solidFill>
                <a:latin typeface="+mj-lt"/>
                <a:ea typeface="+mj-ea"/>
                <a:cs typeface="+mj-cs"/>
              </a:defRPr>
            </a:lvl1pPr>
          </a:lstStyle>
          <a:p>
            <a:r>
              <a:rPr lang="en-US" sz="3200" dirty="0"/>
              <a:t>So why should you care?</a:t>
            </a:r>
          </a:p>
        </p:txBody>
      </p:sp>
    </p:spTree>
    <p:extLst>
      <p:ext uri="{BB962C8B-B14F-4D97-AF65-F5344CB8AC3E}">
        <p14:creationId xmlns:p14="http://schemas.microsoft.com/office/powerpoint/2010/main" val="350173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967BE0-6C52-2D1E-252A-74EC4F7B279B}"/>
              </a:ext>
            </a:extLst>
          </p:cNvPr>
          <p:cNvSpPr>
            <a:spLocks noGrp="1"/>
          </p:cNvSpPr>
          <p:nvPr>
            <p:ph type="title"/>
          </p:nvPr>
        </p:nvSpPr>
        <p:spPr/>
        <p:txBody>
          <a:bodyPr/>
          <a:lstStyle/>
          <a:p>
            <a:r>
              <a:rPr lang="en-US" dirty="0"/>
              <a:t>Why bother</a:t>
            </a:r>
          </a:p>
        </p:txBody>
      </p:sp>
      <p:sp>
        <p:nvSpPr>
          <p:cNvPr id="5" name="Content Placeholder 4">
            <a:extLst>
              <a:ext uri="{FF2B5EF4-FFF2-40B4-BE49-F238E27FC236}">
                <a16:creationId xmlns:a16="http://schemas.microsoft.com/office/drawing/2014/main" id="{8574BA70-76F1-BA70-C855-4276FB1BBC72}"/>
              </a:ext>
            </a:extLst>
          </p:cNvPr>
          <p:cNvSpPr>
            <a:spLocks noGrp="1"/>
          </p:cNvSpPr>
          <p:nvPr>
            <p:ph idx="1"/>
          </p:nvPr>
        </p:nvSpPr>
        <p:spPr/>
        <p:txBody>
          <a:bodyPr/>
          <a:lstStyle/>
          <a:p>
            <a:r>
              <a:rPr lang="en-AU" i="0" dirty="0">
                <a:effectLst/>
              </a:rPr>
              <a:t>Develop accurate mental models of abstractions</a:t>
            </a:r>
            <a:endParaRPr lang="en-AU" i="0" dirty="0">
              <a:solidFill>
                <a:srgbClr val="D1D5DB"/>
              </a:solidFill>
              <a:effectLst/>
            </a:endParaRPr>
          </a:p>
          <a:p>
            <a:r>
              <a:rPr lang="en-AU" dirty="0"/>
              <a:t>Predict the benefits and limitations of abstractions</a:t>
            </a:r>
          </a:p>
          <a:p>
            <a:r>
              <a:rPr lang="en-AU" dirty="0"/>
              <a:t>Gateway to lower-level languages and </a:t>
            </a:r>
            <a:r>
              <a:rPr lang="en-AU" dirty="0" err="1"/>
              <a:t>polygloting</a:t>
            </a:r>
            <a:r>
              <a:rPr lang="en-AU" dirty="0"/>
              <a:t> in general</a:t>
            </a:r>
          </a:p>
          <a:p>
            <a:r>
              <a:rPr lang="en-AU" dirty="0"/>
              <a:t>Technical interview questions</a:t>
            </a:r>
          </a:p>
          <a:p>
            <a:r>
              <a:rPr lang="en-AU" dirty="0"/>
              <a:t>Identify patterns other programmers code or languages</a:t>
            </a:r>
          </a:p>
          <a:p>
            <a:r>
              <a:rPr lang="en-AU" dirty="0"/>
              <a:t>Also, part of the </a:t>
            </a:r>
            <a:r>
              <a:rPr lang="en-AU" dirty="0" err="1"/>
              <a:t>UoC</a:t>
            </a:r>
            <a:r>
              <a:rPr lang="en-AU" dirty="0"/>
              <a:t> 🤷</a:t>
            </a:r>
            <a:endParaRPr lang="en-US" dirty="0"/>
          </a:p>
        </p:txBody>
      </p:sp>
    </p:spTree>
    <p:extLst>
      <p:ext uri="{BB962C8B-B14F-4D97-AF65-F5344CB8AC3E}">
        <p14:creationId xmlns:p14="http://schemas.microsoft.com/office/powerpoint/2010/main" val="253557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57FF74-6DE6-2AF9-5165-E13CE48B418E}"/>
              </a:ext>
            </a:extLst>
          </p:cNvPr>
          <p:cNvSpPr>
            <a:spLocks noGrp="1"/>
          </p:cNvSpPr>
          <p:nvPr>
            <p:ph type="title"/>
          </p:nvPr>
        </p:nvSpPr>
        <p:spPr/>
        <p:txBody>
          <a:bodyPr/>
          <a:lstStyle/>
          <a:p>
            <a:r>
              <a:rPr lang="en-US" dirty="0"/>
              <a:t>Key data structures</a:t>
            </a:r>
          </a:p>
        </p:txBody>
      </p:sp>
      <p:sp>
        <p:nvSpPr>
          <p:cNvPr id="5" name="Text Placeholder 4">
            <a:extLst>
              <a:ext uri="{FF2B5EF4-FFF2-40B4-BE49-F238E27FC236}">
                <a16:creationId xmlns:a16="http://schemas.microsoft.com/office/drawing/2014/main" id="{7D86A3C9-3F8C-1A0A-4144-4461C411E54A}"/>
              </a:ext>
            </a:extLst>
          </p:cNvPr>
          <p:cNvSpPr>
            <a:spLocks noGrp="1"/>
          </p:cNvSpPr>
          <p:nvPr>
            <p:ph type="body" idx="1"/>
          </p:nvPr>
        </p:nvSpPr>
        <p:spPr/>
        <p:txBody>
          <a:bodyPr/>
          <a:lstStyle/>
          <a:p>
            <a:r>
              <a:rPr lang="en-US" dirty="0"/>
              <a:t>Deep dive</a:t>
            </a:r>
          </a:p>
        </p:txBody>
      </p:sp>
    </p:spTree>
    <p:extLst>
      <p:ext uri="{BB962C8B-B14F-4D97-AF65-F5344CB8AC3E}">
        <p14:creationId xmlns:p14="http://schemas.microsoft.com/office/powerpoint/2010/main" val="3558307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62BB-2C99-7CEF-6968-82CAEC2C8D50}"/>
              </a:ext>
            </a:extLst>
          </p:cNvPr>
          <p:cNvSpPr>
            <a:spLocks noGrp="1"/>
          </p:cNvSpPr>
          <p:nvPr>
            <p:ph type="title"/>
          </p:nvPr>
        </p:nvSpPr>
        <p:spPr/>
        <p:txBody>
          <a:bodyPr/>
          <a:lstStyle/>
          <a:p>
            <a:r>
              <a:rPr lang="en-US" dirty="0"/>
              <a:t>Key data structures</a:t>
            </a:r>
          </a:p>
        </p:txBody>
      </p:sp>
      <p:graphicFrame>
        <p:nvGraphicFramePr>
          <p:cNvPr id="4" name="Table 3">
            <a:extLst>
              <a:ext uri="{FF2B5EF4-FFF2-40B4-BE49-F238E27FC236}">
                <a16:creationId xmlns:a16="http://schemas.microsoft.com/office/drawing/2014/main" id="{7BA0A113-E3B4-60FC-4FB8-6F7E8842E7E8}"/>
              </a:ext>
            </a:extLst>
          </p:cNvPr>
          <p:cNvGraphicFramePr>
            <a:graphicFrameLocks noGrp="1"/>
          </p:cNvGraphicFramePr>
          <p:nvPr>
            <p:extLst>
              <p:ext uri="{D42A27DB-BD31-4B8C-83A1-F6EECF244321}">
                <p14:modId xmlns:p14="http://schemas.microsoft.com/office/powerpoint/2010/main" val="2910828905"/>
              </p:ext>
            </p:extLst>
          </p:nvPr>
        </p:nvGraphicFramePr>
        <p:xfrm>
          <a:off x="750922" y="1503096"/>
          <a:ext cx="10831479" cy="4993789"/>
        </p:xfrm>
        <a:graphic>
          <a:graphicData uri="http://schemas.openxmlformats.org/drawingml/2006/table">
            <a:tbl>
              <a:tblPr firstRow="1">
                <a:tableStyleId>{08FB837D-C827-4EFA-A057-4D05807E0F7C}</a:tableStyleId>
              </a:tblPr>
              <a:tblGrid>
                <a:gridCol w="1781244">
                  <a:extLst>
                    <a:ext uri="{9D8B030D-6E8A-4147-A177-3AD203B41FA5}">
                      <a16:colId xmlns:a16="http://schemas.microsoft.com/office/drawing/2014/main" val="3753466339"/>
                    </a:ext>
                  </a:extLst>
                </a:gridCol>
                <a:gridCol w="3634495">
                  <a:extLst>
                    <a:ext uri="{9D8B030D-6E8A-4147-A177-3AD203B41FA5}">
                      <a16:colId xmlns:a16="http://schemas.microsoft.com/office/drawing/2014/main" val="356355179"/>
                    </a:ext>
                  </a:extLst>
                </a:gridCol>
                <a:gridCol w="2707870">
                  <a:extLst>
                    <a:ext uri="{9D8B030D-6E8A-4147-A177-3AD203B41FA5}">
                      <a16:colId xmlns:a16="http://schemas.microsoft.com/office/drawing/2014/main" val="4071792281"/>
                    </a:ext>
                  </a:extLst>
                </a:gridCol>
                <a:gridCol w="2707870">
                  <a:extLst>
                    <a:ext uri="{9D8B030D-6E8A-4147-A177-3AD203B41FA5}">
                      <a16:colId xmlns:a16="http://schemas.microsoft.com/office/drawing/2014/main" val="685473584"/>
                    </a:ext>
                  </a:extLst>
                </a:gridCol>
              </a:tblGrid>
              <a:tr h="354889">
                <a:tc>
                  <a:txBody>
                    <a:bodyPr/>
                    <a:lstStyle/>
                    <a:p>
                      <a:r>
                        <a:rPr lang="en-AU" sz="1800" b="1">
                          <a:solidFill>
                            <a:schemeClr val="bg1"/>
                          </a:solidFill>
                          <a:effectLst/>
                        </a:rPr>
                        <a:t>Data Structure</a:t>
                      </a:r>
                    </a:p>
                  </a:txBody>
                  <a:tcPr marL="12367" marR="12367" marT="5708" marB="5708" anchor="ctr">
                    <a:solidFill>
                      <a:schemeClr val="tx1"/>
                    </a:solidFill>
                  </a:tcPr>
                </a:tc>
                <a:tc>
                  <a:txBody>
                    <a:bodyPr/>
                    <a:lstStyle/>
                    <a:p>
                      <a:r>
                        <a:rPr lang="en-AU" sz="1800" b="1">
                          <a:solidFill>
                            <a:schemeClr val="bg1"/>
                          </a:solidFill>
                          <a:effectLst/>
                        </a:rPr>
                        <a:t>Description</a:t>
                      </a:r>
                    </a:p>
                  </a:txBody>
                  <a:tcPr marL="12367" marR="12367" marT="5708" marB="5708" anchor="ctr">
                    <a:solidFill>
                      <a:schemeClr val="tx1"/>
                    </a:solidFill>
                  </a:tcPr>
                </a:tc>
                <a:tc>
                  <a:txBody>
                    <a:bodyPr/>
                    <a:lstStyle/>
                    <a:p>
                      <a:r>
                        <a:rPr lang="en-AU" sz="1800" b="1">
                          <a:solidFill>
                            <a:schemeClr val="bg1"/>
                          </a:solidFill>
                          <a:effectLst/>
                        </a:rPr>
                        <a:t>Common Operations</a:t>
                      </a:r>
                    </a:p>
                  </a:txBody>
                  <a:tcPr marL="12367" marR="12367" marT="5708" marB="5708" anchor="ctr">
                    <a:solidFill>
                      <a:schemeClr val="tx1"/>
                    </a:solidFill>
                  </a:tcPr>
                </a:tc>
                <a:tc>
                  <a:txBody>
                    <a:bodyPr/>
                    <a:lstStyle/>
                    <a:p>
                      <a:r>
                        <a:rPr lang="en-AU" sz="1800" b="1">
                          <a:solidFill>
                            <a:schemeClr val="bg1"/>
                          </a:solidFill>
                          <a:effectLst/>
                        </a:rPr>
                        <a:t>Python Representation</a:t>
                      </a:r>
                    </a:p>
                  </a:txBody>
                  <a:tcPr marL="12367" marR="12367" marT="5708" marB="5708" anchor="ctr">
                    <a:solidFill>
                      <a:schemeClr val="tx1"/>
                    </a:solidFill>
                  </a:tcPr>
                </a:tc>
                <a:extLst>
                  <a:ext uri="{0D108BD9-81ED-4DB2-BD59-A6C34878D82A}">
                    <a16:rowId xmlns:a16="http://schemas.microsoft.com/office/drawing/2014/main" val="1960484667"/>
                  </a:ext>
                </a:extLst>
              </a:tr>
              <a:tr h="695599">
                <a:tc>
                  <a:txBody>
                    <a:bodyPr/>
                    <a:lstStyle/>
                    <a:p>
                      <a:r>
                        <a:rPr lang="en-AU" sz="1800" b="1">
                          <a:solidFill>
                            <a:schemeClr val="bg1"/>
                          </a:solidFill>
                          <a:effectLst/>
                        </a:rPr>
                        <a:t>List</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An ordered collection of items which can be of any type.</a:t>
                      </a:r>
                    </a:p>
                  </a:txBody>
                  <a:tcPr marL="12367" marR="12367" marT="5708" marB="5708" anchor="ctr">
                    <a:solidFill>
                      <a:schemeClr val="tx1"/>
                    </a:solidFill>
                  </a:tcPr>
                </a:tc>
                <a:tc>
                  <a:txBody>
                    <a:bodyPr/>
                    <a:lstStyle/>
                    <a:p>
                      <a:r>
                        <a:rPr lang="en-AU" sz="1800">
                          <a:solidFill>
                            <a:schemeClr val="bg1"/>
                          </a:solidFill>
                          <a:effectLst/>
                        </a:rPr>
                        <a:t>Add, Remove, Search, Iterate</a:t>
                      </a:r>
                    </a:p>
                  </a:txBody>
                  <a:tcPr marL="12367" marR="12367" marT="5708" marB="5708" anchor="ctr">
                    <a:solidFill>
                      <a:schemeClr val="tx1"/>
                    </a:solidFill>
                  </a:tcPr>
                </a:tc>
                <a:tc>
                  <a:txBody>
                    <a:bodyPr/>
                    <a:lstStyle/>
                    <a:p>
                      <a:r>
                        <a:rPr lang="en-AU" sz="1800">
                          <a:solidFill>
                            <a:schemeClr val="bg1"/>
                          </a:solidFill>
                          <a:effectLst/>
                        </a:rPr>
                        <a:t>list()</a:t>
                      </a:r>
                    </a:p>
                  </a:txBody>
                  <a:tcPr marL="12367" marR="12367" marT="5708" marB="5708" anchor="ctr">
                    <a:solidFill>
                      <a:schemeClr val="tx1"/>
                    </a:solidFill>
                  </a:tcPr>
                </a:tc>
                <a:extLst>
                  <a:ext uri="{0D108BD9-81ED-4DB2-BD59-A6C34878D82A}">
                    <a16:rowId xmlns:a16="http://schemas.microsoft.com/office/drawing/2014/main" val="1413397145"/>
                  </a:ext>
                </a:extLst>
              </a:tr>
              <a:tr h="695599">
                <a:tc>
                  <a:txBody>
                    <a:bodyPr/>
                    <a:lstStyle/>
                    <a:p>
                      <a:r>
                        <a:rPr lang="en-AU" sz="1800" b="1">
                          <a:solidFill>
                            <a:schemeClr val="bg1"/>
                          </a:solidFill>
                          <a:effectLst/>
                        </a:rPr>
                        <a:t>Array</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collection of elements identified by index or key. Usually fixed in size.</a:t>
                      </a:r>
                    </a:p>
                  </a:txBody>
                  <a:tcPr marL="12367" marR="12367" marT="5708" marB="5708" anchor="ctr">
                    <a:solidFill>
                      <a:schemeClr val="tx1"/>
                    </a:solidFill>
                  </a:tcPr>
                </a:tc>
                <a:tc>
                  <a:txBody>
                    <a:bodyPr/>
                    <a:lstStyle/>
                    <a:p>
                      <a:r>
                        <a:rPr lang="en-AU" sz="1800">
                          <a:solidFill>
                            <a:schemeClr val="bg1"/>
                          </a:solidFill>
                          <a:effectLst/>
                        </a:rPr>
                        <a:t>Read, Insert, Delete, Search</a:t>
                      </a:r>
                    </a:p>
                  </a:txBody>
                  <a:tcPr marL="12367" marR="12367" marT="5708" marB="5708" anchor="ctr">
                    <a:solidFill>
                      <a:schemeClr val="tx1"/>
                    </a:solidFill>
                  </a:tcPr>
                </a:tc>
                <a:tc>
                  <a:txBody>
                    <a:bodyPr/>
                    <a:lstStyle/>
                    <a:p>
                      <a:r>
                        <a:rPr lang="en-AU" sz="1800">
                          <a:solidFill>
                            <a:schemeClr val="bg1"/>
                          </a:solidFill>
                          <a:effectLst/>
                        </a:rPr>
                        <a:t>Array module</a:t>
                      </a:r>
                    </a:p>
                  </a:txBody>
                  <a:tcPr marL="12367" marR="12367" marT="5708" marB="5708" anchor="ctr">
                    <a:solidFill>
                      <a:schemeClr val="tx1"/>
                    </a:solidFill>
                  </a:tcPr>
                </a:tc>
                <a:extLst>
                  <a:ext uri="{0D108BD9-81ED-4DB2-BD59-A6C34878D82A}">
                    <a16:rowId xmlns:a16="http://schemas.microsoft.com/office/drawing/2014/main" val="4270390401"/>
                  </a:ext>
                </a:extLst>
              </a:tr>
              <a:tr h="1377018">
                <a:tc>
                  <a:txBody>
                    <a:bodyPr/>
                    <a:lstStyle/>
                    <a:p>
                      <a:r>
                        <a:rPr lang="en-AU" sz="1800" b="1">
                          <a:solidFill>
                            <a:schemeClr val="bg1"/>
                          </a:solidFill>
                          <a:effectLst/>
                        </a:rPr>
                        <a:t>Linked List</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Collection of nodes where each node contains a data field and a reference(link) to the next node in the sequence.</a:t>
                      </a:r>
                    </a:p>
                  </a:txBody>
                  <a:tcPr marL="12367" marR="12367" marT="5708" marB="5708" anchor="ctr">
                    <a:solidFill>
                      <a:schemeClr val="tx1"/>
                    </a:solidFill>
                  </a:tcPr>
                </a:tc>
                <a:tc>
                  <a:txBody>
                    <a:bodyPr/>
                    <a:lstStyle/>
                    <a:p>
                      <a:r>
                        <a:rPr lang="en-AU" sz="1800">
                          <a:solidFill>
                            <a:schemeClr val="bg1"/>
                          </a:solidFill>
                          <a:effectLst/>
                        </a:rPr>
                        <a:t>Insertion, Deletion, Traversal</a:t>
                      </a:r>
                    </a:p>
                  </a:txBody>
                  <a:tcPr marL="12367" marR="12367" marT="5708" marB="5708" anchor="ctr">
                    <a:solidFill>
                      <a:schemeClr val="tx1"/>
                    </a:solidFill>
                  </a:tcPr>
                </a:tc>
                <a:tc>
                  <a:txBody>
                    <a:bodyPr/>
                    <a:lstStyle/>
                    <a:p>
                      <a:r>
                        <a:rPr lang="en-AU" sz="1800">
                          <a:solidFill>
                            <a:schemeClr val="bg1"/>
                          </a:solidFill>
                          <a:effectLst/>
                        </a:rPr>
                        <a:t>Custom classes</a:t>
                      </a:r>
                    </a:p>
                  </a:txBody>
                  <a:tcPr marL="12367" marR="12367" marT="5708" marB="5708" anchor="ctr">
                    <a:solidFill>
                      <a:schemeClr val="tx1"/>
                    </a:solidFill>
                  </a:tcPr>
                </a:tc>
                <a:extLst>
                  <a:ext uri="{0D108BD9-81ED-4DB2-BD59-A6C34878D82A}">
                    <a16:rowId xmlns:a16="http://schemas.microsoft.com/office/drawing/2014/main" val="582898338"/>
                  </a:ext>
                </a:extLst>
              </a:tr>
              <a:tr h="695599">
                <a:tc>
                  <a:txBody>
                    <a:bodyPr/>
                    <a:lstStyle/>
                    <a:p>
                      <a:r>
                        <a:rPr lang="en-AU" sz="1800" b="1">
                          <a:solidFill>
                            <a:schemeClr val="bg1"/>
                          </a:solidFill>
                          <a:effectLst/>
                        </a:rPr>
                        <a:t>Stack</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LIFO (Last In First Out) structure. Think of it like a stack of plates.</a:t>
                      </a:r>
                    </a:p>
                  </a:txBody>
                  <a:tcPr marL="12367" marR="12367" marT="5708" marB="5708" anchor="ctr">
                    <a:solidFill>
                      <a:schemeClr val="tx1"/>
                    </a:solidFill>
                  </a:tcPr>
                </a:tc>
                <a:tc>
                  <a:txBody>
                    <a:bodyPr/>
                    <a:lstStyle/>
                    <a:p>
                      <a:r>
                        <a:rPr lang="en-AU" sz="1800" dirty="0">
                          <a:solidFill>
                            <a:schemeClr val="bg1"/>
                          </a:solidFill>
                          <a:effectLst/>
                        </a:rPr>
                        <a:t>Push, Pop, Peek/Top</a:t>
                      </a:r>
                    </a:p>
                  </a:txBody>
                  <a:tcPr marL="12367" marR="12367" marT="5708" marB="5708" anchor="ctr">
                    <a:solidFill>
                      <a:schemeClr val="tx1"/>
                    </a:solidFill>
                  </a:tcPr>
                </a:tc>
                <a:tc>
                  <a:txBody>
                    <a:bodyPr/>
                    <a:lstStyle/>
                    <a:p>
                      <a:r>
                        <a:rPr lang="en-AU" sz="1800" dirty="0">
                          <a:solidFill>
                            <a:schemeClr val="bg1"/>
                          </a:solidFill>
                          <a:effectLst/>
                        </a:rPr>
                        <a:t>list() with append() and pop()</a:t>
                      </a:r>
                    </a:p>
                  </a:txBody>
                  <a:tcPr marL="12367" marR="12367" marT="5708" marB="5708" anchor="ctr">
                    <a:solidFill>
                      <a:schemeClr val="tx1"/>
                    </a:solidFill>
                  </a:tcPr>
                </a:tc>
                <a:extLst>
                  <a:ext uri="{0D108BD9-81ED-4DB2-BD59-A6C34878D82A}">
                    <a16:rowId xmlns:a16="http://schemas.microsoft.com/office/drawing/2014/main" val="4239412909"/>
                  </a:ext>
                </a:extLst>
              </a:tr>
              <a:tr h="1036308">
                <a:tc>
                  <a:txBody>
                    <a:bodyPr/>
                    <a:lstStyle/>
                    <a:p>
                      <a:r>
                        <a:rPr lang="en-AU" sz="1800" b="1" dirty="0">
                          <a:solidFill>
                            <a:schemeClr val="bg1"/>
                          </a:solidFill>
                          <a:effectLst/>
                        </a:rPr>
                        <a:t>Queue</a:t>
                      </a:r>
                      <a:endParaRPr lang="en-AU" sz="1800" dirty="0">
                        <a:solidFill>
                          <a:schemeClr val="bg1"/>
                        </a:solidFill>
                        <a:effectLst/>
                      </a:endParaRPr>
                    </a:p>
                  </a:txBody>
                  <a:tcPr marL="12367" marR="12367" marT="5708" marB="5708" anchor="ctr">
                    <a:solidFill>
                      <a:schemeClr val="tx1"/>
                    </a:solidFill>
                  </a:tcPr>
                </a:tc>
                <a:tc>
                  <a:txBody>
                    <a:bodyPr/>
                    <a:lstStyle/>
                    <a:p>
                      <a:r>
                        <a:rPr lang="en-AU" sz="1800" dirty="0">
                          <a:solidFill>
                            <a:schemeClr val="bg1"/>
                          </a:solidFill>
                          <a:effectLst/>
                        </a:rPr>
                        <a:t>A FIFO (First In First Out) structure. Think of it like a line of people waiting.</a:t>
                      </a:r>
                    </a:p>
                  </a:txBody>
                  <a:tcPr marL="12367" marR="12367" marT="5708" marB="5708" anchor="ctr">
                    <a:solidFill>
                      <a:schemeClr val="tx1"/>
                    </a:solidFill>
                  </a:tcPr>
                </a:tc>
                <a:tc>
                  <a:txBody>
                    <a:bodyPr/>
                    <a:lstStyle/>
                    <a:p>
                      <a:r>
                        <a:rPr lang="en-AU" sz="1800" dirty="0">
                          <a:solidFill>
                            <a:schemeClr val="bg1"/>
                          </a:solidFill>
                          <a:effectLst/>
                        </a:rPr>
                        <a:t>Enqueue, Dequeue, Peek</a:t>
                      </a:r>
                    </a:p>
                  </a:txBody>
                  <a:tcPr marL="12367" marR="12367" marT="5708" marB="5708" anchor="ctr">
                    <a:solidFill>
                      <a:schemeClr val="tx1"/>
                    </a:solidFill>
                  </a:tcPr>
                </a:tc>
                <a:tc>
                  <a:txBody>
                    <a:bodyPr/>
                    <a:lstStyle/>
                    <a:p>
                      <a:r>
                        <a:rPr lang="en-AU" sz="1800" dirty="0" err="1">
                          <a:solidFill>
                            <a:schemeClr val="bg1"/>
                          </a:solidFill>
                          <a:effectLst/>
                        </a:rPr>
                        <a:t>collections.deque</a:t>
                      </a:r>
                      <a:r>
                        <a:rPr lang="en-AU" sz="1800" dirty="0">
                          <a:solidFill>
                            <a:schemeClr val="bg1"/>
                          </a:solidFill>
                          <a:effectLst/>
                        </a:rPr>
                        <a:t>()</a:t>
                      </a:r>
                    </a:p>
                  </a:txBody>
                  <a:tcPr marL="12367" marR="12367" marT="5708" marB="5708" anchor="ctr">
                    <a:solidFill>
                      <a:schemeClr val="tx1"/>
                    </a:solidFill>
                  </a:tcPr>
                </a:tc>
                <a:extLst>
                  <a:ext uri="{0D108BD9-81ED-4DB2-BD59-A6C34878D82A}">
                    <a16:rowId xmlns:a16="http://schemas.microsoft.com/office/drawing/2014/main" val="1400144504"/>
                  </a:ext>
                </a:extLst>
              </a:tr>
            </a:tbl>
          </a:graphicData>
        </a:graphic>
      </p:graphicFrame>
      <p:sp>
        <p:nvSpPr>
          <p:cNvPr id="5" name="Rectangle 1">
            <a:extLst>
              <a:ext uri="{FF2B5EF4-FFF2-40B4-BE49-F238E27FC236}">
                <a16:creationId xmlns:a16="http://schemas.microsoft.com/office/drawing/2014/main" id="{0CA716E1-F33F-790A-C86F-9261E7A31B48}"/>
              </a:ext>
            </a:extLst>
          </p:cNvPr>
          <p:cNvSpPr>
            <a:spLocks noChangeArrowheads="1"/>
          </p:cNvSpPr>
          <p:nvPr/>
        </p:nvSpPr>
        <p:spPr bwMode="auto">
          <a:xfrm>
            <a:off x="5919788" y="578119"/>
            <a:ext cx="18550756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a:ln>
                  <a:noFill/>
                </a:ln>
                <a:solidFill>
                  <a:schemeClr val="tx1"/>
                </a:solidFill>
                <a:effectLst/>
                <a:latin typeface="Arial" panose="020B0604020202020204" pitchFamily="34" charset="0"/>
              </a:rPr>
            </a:b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9882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62BB-2C99-7CEF-6968-82CAEC2C8D50}"/>
              </a:ext>
            </a:extLst>
          </p:cNvPr>
          <p:cNvSpPr>
            <a:spLocks noGrp="1"/>
          </p:cNvSpPr>
          <p:nvPr>
            <p:ph type="title"/>
          </p:nvPr>
        </p:nvSpPr>
        <p:spPr/>
        <p:txBody>
          <a:bodyPr/>
          <a:lstStyle/>
          <a:p>
            <a:r>
              <a:rPr lang="en-US" dirty="0"/>
              <a:t>Key data structures (cont.)</a:t>
            </a:r>
          </a:p>
        </p:txBody>
      </p:sp>
      <p:graphicFrame>
        <p:nvGraphicFramePr>
          <p:cNvPr id="4" name="Table 3">
            <a:extLst>
              <a:ext uri="{FF2B5EF4-FFF2-40B4-BE49-F238E27FC236}">
                <a16:creationId xmlns:a16="http://schemas.microsoft.com/office/drawing/2014/main" id="{7BA0A113-E3B4-60FC-4FB8-6F7E8842E7E8}"/>
              </a:ext>
            </a:extLst>
          </p:cNvPr>
          <p:cNvGraphicFramePr>
            <a:graphicFrameLocks noGrp="1"/>
          </p:cNvGraphicFramePr>
          <p:nvPr>
            <p:extLst>
              <p:ext uri="{D42A27DB-BD31-4B8C-83A1-F6EECF244321}">
                <p14:modId xmlns:p14="http://schemas.microsoft.com/office/powerpoint/2010/main" val="1394918109"/>
              </p:ext>
            </p:extLst>
          </p:nvPr>
        </p:nvGraphicFramePr>
        <p:xfrm>
          <a:off x="750922" y="1503096"/>
          <a:ext cx="10831479" cy="4855013"/>
        </p:xfrm>
        <a:graphic>
          <a:graphicData uri="http://schemas.openxmlformats.org/drawingml/2006/table">
            <a:tbl>
              <a:tblPr firstRow="1">
                <a:tableStyleId>{08FB837D-C827-4EFA-A057-4D05807E0F7C}</a:tableStyleId>
              </a:tblPr>
              <a:tblGrid>
                <a:gridCol w="1781244">
                  <a:extLst>
                    <a:ext uri="{9D8B030D-6E8A-4147-A177-3AD203B41FA5}">
                      <a16:colId xmlns:a16="http://schemas.microsoft.com/office/drawing/2014/main" val="3753466339"/>
                    </a:ext>
                  </a:extLst>
                </a:gridCol>
                <a:gridCol w="3634495">
                  <a:extLst>
                    <a:ext uri="{9D8B030D-6E8A-4147-A177-3AD203B41FA5}">
                      <a16:colId xmlns:a16="http://schemas.microsoft.com/office/drawing/2014/main" val="356355179"/>
                    </a:ext>
                  </a:extLst>
                </a:gridCol>
                <a:gridCol w="2707870">
                  <a:extLst>
                    <a:ext uri="{9D8B030D-6E8A-4147-A177-3AD203B41FA5}">
                      <a16:colId xmlns:a16="http://schemas.microsoft.com/office/drawing/2014/main" val="4071792281"/>
                    </a:ext>
                  </a:extLst>
                </a:gridCol>
                <a:gridCol w="2707870">
                  <a:extLst>
                    <a:ext uri="{9D8B030D-6E8A-4147-A177-3AD203B41FA5}">
                      <a16:colId xmlns:a16="http://schemas.microsoft.com/office/drawing/2014/main" val="685473584"/>
                    </a:ext>
                  </a:extLst>
                </a:gridCol>
              </a:tblGrid>
              <a:tr h="354889">
                <a:tc>
                  <a:txBody>
                    <a:bodyPr/>
                    <a:lstStyle/>
                    <a:p>
                      <a:r>
                        <a:rPr lang="en-AU" sz="1800" b="1" dirty="0">
                          <a:solidFill>
                            <a:schemeClr val="bg1"/>
                          </a:solidFill>
                          <a:effectLst/>
                        </a:rPr>
                        <a:t>Data Structure</a:t>
                      </a:r>
                    </a:p>
                  </a:txBody>
                  <a:tcPr marL="12367" marR="12367" marT="5708" marB="5708" anchor="ctr">
                    <a:solidFill>
                      <a:schemeClr val="tx1"/>
                    </a:solidFill>
                  </a:tcPr>
                </a:tc>
                <a:tc>
                  <a:txBody>
                    <a:bodyPr/>
                    <a:lstStyle/>
                    <a:p>
                      <a:r>
                        <a:rPr lang="en-AU" sz="1800" b="1" dirty="0">
                          <a:solidFill>
                            <a:schemeClr val="bg1"/>
                          </a:solidFill>
                          <a:effectLst/>
                        </a:rPr>
                        <a:t>Description</a:t>
                      </a:r>
                    </a:p>
                  </a:txBody>
                  <a:tcPr marL="12367" marR="12367" marT="5708" marB="5708" anchor="ctr">
                    <a:solidFill>
                      <a:schemeClr val="tx1"/>
                    </a:solidFill>
                  </a:tcPr>
                </a:tc>
                <a:tc>
                  <a:txBody>
                    <a:bodyPr/>
                    <a:lstStyle/>
                    <a:p>
                      <a:r>
                        <a:rPr lang="en-AU" sz="1800" b="1">
                          <a:solidFill>
                            <a:schemeClr val="bg1"/>
                          </a:solidFill>
                          <a:effectLst/>
                        </a:rPr>
                        <a:t>Common Operations</a:t>
                      </a:r>
                    </a:p>
                  </a:txBody>
                  <a:tcPr marL="12367" marR="12367" marT="5708" marB="5708" anchor="ctr">
                    <a:solidFill>
                      <a:schemeClr val="tx1"/>
                    </a:solidFill>
                  </a:tcPr>
                </a:tc>
                <a:tc>
                  <a:txBody>
                    <a:bodyPr/>
                    <a:lstStyle/>
                    <a:p>
                      <a:r>
                        <a:rPr lang="en-AU" sz="1800" b="1">
                          <a:solidFill>
                            <a:schemeClr val="bg1"/>
                          </a:solidFill>
                          <a:effectLst/>
                        </a:rPr>
                        <a:t>Python Representation</a:t>
                      </a:r>
                    </a:p>
                  </a:txBody>
                  <a:tcPr marL="12367" marR="12367" marT="5708" marB="5708" anchor="ctr">
                    <a:solidFill>
                      <a:schemeClr val="tx1"/>
                    </a:solidFill>
                  </a:tcPr>
                </a:tc>
                <a:extLst>
                  <a:ext uri="{0D108BD9-81ED-4DB2-BD59-A6C34878D82A}">
                    <a16:rowId xmlns:a16="http://schemas.microsoft.com/office/drawing/2014/main" val="1960484667"/>
                  </a:ext>
                </a:extLst>
              </a:tr>
              <a:tr h="695599">
                <a:tc>
                  <a:txBody>
                    <a:bodyPr/>
                    <a:lstStyle/>
                    <a:p>
                      <a:r>
                        <a:rPr lang="en-AU" sz="1800" b="1" dirty="0">
                          <a:solidFill>
                            <a:schemeClr val="bg1"/>
                          </a:solidFill>
                          <a:effectLst/>
                        </a:rPr>
                        <a:t>Trees</a:t>
                      </a:r>
                      <a:endParaRPr lang="en-AU" sz="1800" dirty="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hierarchical structure with a root element and subtrees of children.</a:t>
                      </a:r>
                    </a:p>
                  </a:txBody>
                  <a:tcPr marL="12367" marR="12367" marT="5708" marB="5708" anchor="ctr">
                    <a:solidFill>
                      <a:schemeClr val="tx1"/>
                    </a:solidFill>
                  </a:tcPr>
                </a:tc>
                <a:tc>
                  <a:txBody>
                    <a:bodyPr/>
                    <a:lstStyle/>
                    <a:p>
                      <a:r>
                        <a:rPr lang="en-AU" sz="1800">
                          <a:solidFill>
                            <a:schemeClr val="bg1"/>
                          </a:solidFill>
                          <a:effectLst/>
                        </a:rPr>
                        <a:t>Insertion, Deletion, Traversal</a:t>
                      </a:r>
                    </a:p>
                  </a:txBody>
                  <a:tcPr marL="12367" marR="12367" marT="5708" marB="5708" anchor="ctr">
                    <a:solidFill>
                      <a:schemeClr val="tx1"/>
                    </a:solidFill>
                  </a:tcPr>
                </a:tc>
                <a:tc>
                  <a:txBody>
                    <a:bodyPr/>
                    <a:lstStyle/>
                    <a:p>
                      <a:r>
                        <a:rPr lang="en-AU" sz="1800" dirty="0">
                          <a:solidFill>
                            <a:schemeClr val="bg1"/>
                          </a:solidFill>
                          <a:effectLst/>
                        </a:rPr>
                        <a:t>Custom classes or libraries like </a:t>
                      </a:r>
                      <a:r>
                        <a:rPr lang="en-AU" sz="1800" dirty="0" err="1">
                          <a:solidFill>
                            <a:schemeClr val="bg1"/>
                          </a:solidFill>
                          <a:effectLst/>
                        </a:rPr>
                        <a:t>anytree</a:t>
                      </a:r>
                      <a:endParaRPr lang="en-AU" sz="1800" dirty="0">
                        <a:solidFill>
                          <a:schemeClr val="bg1"/>
                        </a:solidFill>
                        <a:effectLst/>
                      </a:endParaRPr>
                    </a:p>
                  </a:txBody>
                  <a:tcPr marL="12367" marR="12367" marT="5708" marB="5708" anchor="ctr">
                    <a:solidFill>
                      <a:schemeClr val="tx1"/>
                    </a:solidFill>
                  </a:tcPr>
                </a:tc>
                <a:extLst>
                  <a:ext uri="{0D108BD9-81ED-4DB2-BD59-A6C34878D82A}">
                    <a16:rowId xmlns:a16="http://schemas.microsoft.com/office/drawing/2014/main" val="3676179671"/>
                  </a:ext>
                </a:extLst>
              </a:tr>
              <a:tr h="695599">
                <a:tc>
                  <a:txBody>
                    <a:bodyPr/>
                    <a:lstStyle/>
                    <a:p>
                      <a:r>
                        <a:rPr lang="en-AU" sz="1800" b="1">
                          <a:solidFill>
                            <a:schemeClr val="bg1"/>
                          </a:solidFill>
                          <a:effectLst/>
                        </a:rPr>
                        <a:t>Graphs</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collection of nodes with edges between (some of) them.</a:t>
                      </a:r>
                    </a:p>
                  </a:txBody>
                  <a:tcPr marL="12367" marR="12367" marT="5708" marB="5708" anchor="ctr">
                    <a:solidFill>
                      <a:schemeClr val="tx1"/>
                    </a:solidFill>
                  </a:tcPr>
                </a:tc>
                <a:tc>
                  <a:txBody>
                    <a:bodyPr/>
                    <a:lstStyle/>
                    <a:p>
                      <a:r>
                        <a:rPr lang="en-AU" sz="1800">
                          <a:solidFill>
                            <a:schemeClr val="bg1"/>
                          </a:solidFill>
                          <a:effectLst/>
                        </a:rPr>
                        <a:t>Add Vertex, Add Edge, Search</a:t>
                      </a:r>
                    </a:p>
                  </a:txBody>
                  <a:tcPr marL="12367" marR="12367" marT="5708" marB="5708" anchor="ctr">
                    <a:solidFill>
                      <a:schemeClr val="tx1"/>
                    </a:solidFill>
                  </a:tcPr>
                </a:tc>
                <a:tc>
                  <a:txBody>
                    <a:bodyPr/>
                    <a:lstStyle/>
                    <a:p>
                      <a:r>
                        <a:rPr lang="en-AU" sz="1800">
                          <a:solidFill>
                            <a:schemeClr val="bg1"/>
                          </a:solidFill>
                          <a:effectLst/>
                        </a:rPr>
                        <a:t>Custom classes or libraries like networkx</a:t>
                      </a:r>
                    </a:p>
                  </a:txBody>
                  <a:tcPr marL="12367" marR="12367" marT="5708" marB="5708" anchor="ctr">
                    <a:solidFill>
                      <a:schemeClr val="tx1"/>
                    </a:solidFill>
                  </a:tcPr>
                </a:tc>
                <a:extLst>
                  <a:ext uri="{0D108BD9-81ED-4DB2-BD59-A6C34878D82A}">
                    <a16:rowId xmlns:a16="http://schemas.microsoft.com/office/drawing/2014/main" val="4273242835"/>
                  </a:ext>
                </a:extLst>
              </a:tr>
              <a:tr h="695599">
                <a:tc>
                  <a:txBody>
                    <a:bodyPr/>
                    <a:lstStyle/>
                    <a:p>
                      <a:r>
                        <a:rPr lang="en-AU" sz="1800" b="1">
                          <a:solidFill>
                            <a:schemeClr val="bg1"/>
                          </a:solidFill>
                          <a:effectLst/>
                        </a:rPr>
                        <a:t>Sets</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An unordered collection of unique elements.</a:t>
                      </a:r>
                    </a:p>
                  </a:txBody>
                  <a:tcPr marL="12367" marR="12367" marT="5708" marB="5708" anchor="ctr">
                    <a:solidFill>
                      <a:schemeClr val="tx1"/>
                    </a:solidFill>
                  </a:tcPr>
                </a:tc>
                <a:tc>
                  <a:txBody>
                    <a:bodyPr/>
                    <a:lstStyle/>
                    <a:p>
                      <a:r>
                        <a:rPr lang="en-AU" sz="1800">
                          <a:solidFill>
                            <a:schemeClr val="bg1"/>
                          </a:solidFill>
                          <a:effectLst/>
                        </a:rPr>
                        <a:t>Add, Remove, Union, Intersection</a:t>
                      </a:r>
                    </a:p>
                  </a:txBody>
                  <a:tcPr marL="12367" marR="12367" marT="5708" marB="5708" anchor="ctr">
                    <a:solidFill>
                      <a:schemeClr val="tx1"/>
                    </a:solidFill>
                  </a:tcPr>
                </a:tc>
                <a:tc>
                  <a:txBody>
                    <a:bodyPr/>
                    <a:lstStyle/>
                    <a:p>
                      <a:r>
                        <a:rPr lang="en-AU" sz="1800" dirty="0">
                          <a:solidFill>
                            <a:schemeClr val="bg1"/>
                          </a:solidFill>
                          <a:effectLst/>
                        </a:rPr>
                        <a:t>set()</a:t>
                      </a:r>
                    </a:p>
                  </a:txBody>
                  <a:tcPr marL="12367" marR="12367" marT="5708" marB="5708" anchor="ctr">
                    <a:solidFill>
                      <a:schemeClr val="tx1"/>
                    </a:solidFill>
                  </a:tcPr>
                </a:tc>
                <a:extLst>
                  <a:ext uri="{0D108BD9-81ED-4DB2-BD59-A6C34878D82A}">
                    <a16:rowId xmlns:a16="http://schemas.microsoft.com/office/drawing/2014/main" val="2493874284"/>
                  </a:ext>
                </a:extLst>
              </a:tr>
              <a:tr h="695599">
                <a:tc>
                  <a:txBody>
                    <a:bodyPr/>
                    <a:lstStyle/>
                    <a:p>
                      <a:r>
                        <a:rPr lang="en-AU" sz="1800" b="1">
                          <a:solidFill>
                            <a:schemeClr val="bg1"/>
                          </a:solidFill>
                          <a:effectLst/>
                        </a:rPr>
                        <a:t>Hash Tables</a:t>
                      </a:r>
                      <a:endParaRPr lang="en-AU" sz="1800">
                        <a:solidFill>
                          <a:schemeClr val="bg1"/>
                        </a:solidFill>
                        <a:effectLst/>
                      </a:endParaRPr>
                    </a:p>
                  </a:txBody>
                  <a:tcPr marL="12367" marR="12367" marT="5708" marB="5708" anchor="ctr">
                    <a:solidFill>
                      <a:schemeClr val="tx1"/>
                    </a:solidFill>
                  </a:tcPr>
                </a:tc>
                <a:tc>
                  <a:txBody>
                    <a:bodyPr/>
                    <a:lstStyle/>
                    <a:p>
                      <a:r>
                        <a:rPr lang="en-AU" sz="1800" dirty="0">
                          <a:solidFill>
                            <a:schemeClr val="bg1"/>
                          </a:solidFill>
                          <a:effectLst/>
                        </a:rPr>
                        <a:t>Key-value pairs where keys are unique. Offers rapid data retrieval.</a:t>
                      </a:r>
                    </a:p>
                  </a:txBody>
                  <a:tcPr marL="12367" marR="12367" marT="5708" marB="5708" anchor="ctr">
                    <a:solidFill>
                      <a:schemeClr val="tx1"/>
                    </a:solidFill>
                  </a:tcPr>
                </a:tc>
                <a:tc>
                  <a:txBody>
                    <a:bodyPr/>
                    <a:lstStyle/>
                    <a:p>
                      <a:r>
                        <a:rPr lang="en-AU" sz="1800" dirty="0">
                          <a:solidFill>
                            <a:schemeClr val="bg1"/>
                          </a:solidFill>
                          <a:effectLst/>
                        </a:rPr>
                        <a:t>Insert, Delete, Retrieve by Key</a:t>
                      </a:r>
                    </a:p>
                  </a:txBody>
                  <a:tcPr marL="12367" marR="12367" marT="5708" marB="5708" anchor="ctr">
                    <a:solidFill>
                      <a:schemeClr val="tx1"/>
                    </a:solidFill>
                  </a:tcPr>
                </a:tc>
                <a:tc>
                  <a:txBody>
                    <a:bodyPr/>
                    <a:lstStyle/>
                    <a:p>
                      <a:r>
                        <a:rPr lang="en-AU" sz="1800" dirty="0" err="1">
                          <a:solidFill>
                            <a:schemeClr val="bg1"/>
                          </a:solidFill>
                          <a:effectLst/>
                        </a:rPr>
                        <a:t>dict</a:t>
                      </a:r>
                      <a:r>
                        <a:rPr lang="en-AU" sz="1800" dirty="0">
                          <a:solidFill>
                            <a:schemeClr val="bg1"/>
                          </a:solidFill>
                          <a:effectLst/>
                        </a:rPr>
                        <a:t>()</a:t>
                      </a:r>
                    </a:p>
                  </a:txBody>
                  <a:tcPr marL="12367" marR="12367" marT="5708" marB="5708" anchor="ctr">
                    <a:solidFill>
                      <a:schemeClr val="tx1"/>
                    </a:solidFill>
                  </a:tcPr>
                </a:tc>
                <a:extLst>
                  <a:ext uri="{0D108BD9-81ED-4DB2-BD59-A6C34878D82A}">
                    <a16:rowId xmlns:a16="http://schemas.microsoft.com/office/drawing/2014/main" val="1751269074"/>
                  </a:ext>
                </a:extLst>
              </a:tr>
              <a:tr h="1717728">
                <a:tc>
                  <a:txBody>
                    <a:bodyPr/>
                    <a:lstStyle/>
                    <a:p>
                      <a:r>
                        <a:rPr lang="en-AU" sz="1800" b="1">
                          <a:solidFill>
                            <a:schemeClr val="bg1"/>
                          </a:solidFill>
                          <a:effectLst/>
                        </a:rPr>
                        <a:t>Binary Search Tree</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tree in which for each node, all elements in the left subtree are less than the node, and all elements in the right subtree are greater than the node.</a:t>
                      </a:r>
                    </a:p>
                  </a:txBody>
                  <a:tcPr marL="12367" marR="12367" marT="5708" marB="5708" anchor="ctr">
                    <a:solidFill>
                      <a:schemeClr val="tx1"/>
                    </a:solidFill>
                  </a:tcPr>
                </a:tc>
                <a:tc>
                  <a:txBody>
                    <a:bodyPr/>
                    <a:lstStyle/>
                    <a:p>
                      <a:r>
                        <a:rPr lang="en-AU" sz="1800">
                          <a:solidFill>
                            <a:schemeClr val="bg1"/>
                          </a:solidFill>
                          <a:effectLst/>
                        </a:rPr>
                        <a:t>Insert, Delete, Search</a:t>
                      </a:r>
                    </a:p>
                  </a:txBody>
                  <a:tcPr marL="12367" marR="12367" marT="5708" marB="5708" anchor="ctr">
                    <a:solidFill>
                      <a:schemeClr val="tx1"/>
                    </a:solidFill>
                  </a:tcPr>
                </a:tc>
                <a:tc>
                  <a:txBody>
                    <a:bodyPr/>
                    <a:lstStyle/>
                    <a:p>
                      <a:r>
                        <a:rPr lang="en-AU" sz="1800" dirty="0">
                          <a:solidFill>
                            <a:schemeClr val="bg1"/>
                          </a:solidFill>
                          <a:effectLst/>
                        </a:rPr>
                        <a:t>Custom classes or libraries</a:t>
                      </a:r>
                    </a:p>
                  </a:txBody>
                  <a:tcPr marL="12367" marR="12367" marT="5708" marB="5708" anchor="ctr">
                    <a:solidFill>
                      <a:schemeClr val="tx1"/>
                    </a:solidFill>
                  </a:tcPr>
                </a:tc>
                <a:extLst>
                  <a:ext uri="{0D108BD9-81ED-4DB2-BD59-A6C34878D82A}">
                    <a16:rowId xmlns:a16="http://schemas.microsoft.com/office/drawing/2014/main" val="4249343524"/>
                  </a:ext>
                </a:extLst>
              </a:tr>
            </a:tbl>
          </a:graphicData>
        </a:graphic>
      </p:graphicFrame>
      <p:sp>
        <p:nvSpPr>
          <p:cNvPr id="5" name="Rectangle 1">
            <a:extLst>
              <a:ext uri="{FF2B5EF4-FFF2-40B4-BE49-F238E27FC236}">
                <a16:creationId xmlns:a16="http://schemas.microsoft.com/office/drawing/2014/main" id="{0CA716E1-F33F-790A-C86F-9261E7A31B48}"/>
              </a:ext>
            </a:extLst>
          </p:cNvPr>
          <p:cNvSpPr>
            <a:spLocks noChangeArrowheads="1"/>
          </p:cNvSpPr>
          <p:nvPr/>
        </p:nvSpPr>
        <p:spPr bwMode="auto">
          <a:xfrm>
            <a:off x="5919788" y="578119"/>
            <a:ext cx="18550756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a:ln>
                  <a:noFill/>
                </a:ln>
                <a:solidFill>
                  <a:schemeClr val="tx1"/>
                </a:solidFill>
                <a:effectLst/>
                <a:latin typeface="Arial" panose="020B0604020202020204" pitchFamily="34" charset="0"/>
              </a:rPr>
            </a:b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8814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7B97-BA9E-25E4-F7DF-1FABA9981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219DA-BFDE-BA08-BE2A-3C57C57E67A6}"/>
              </a:ext>
            </a:extLst>
          </p:cNvPr>
          <p:cNvSpPr>
            <a:spLocks noGrp="1"/>
          </p:cNvSpPr>
          <p:nvPr>
            <p:ph type="title"/>
          </p:nvPr>
        </p:nvSpPr>
        <p:spPr/>
        <p:txBody>
          <a:bodyPr/>
          <a:lstStyle/>
          <a:p>
            <a:r>
              <a:rPr lang="en-US" dirty="0"/>
              <a:t>Primitive &amp; Non-primitive types</a:t>
            </a:r>
          </a:p>
        </p:txBody>
      </p:sp>
      <p:sp>
        <p:nvSpPr>
          <p:cNvPr id="5" name="Content Placeholder 4">
            <a:extLst>
              <a:ext uri="{FF2B5EF4-FFF2-40B4-BE49-F238E27FC236}">
                <a16:creationId xmlns:a16="http://schemas.microsoft.com/office/drawing/2014/main" id="{F01F227F-E287-79DF-A918-B3810DDA5655}"/>
              </a:ext>
            </a:extLst>
          </p:cNvPr>
          <p:cNvSpPr>
            <a:spLocks noGrp="1"/>
          </p:cNvSpPr>
          <p:nvPr>
            <p:ph idx="1"/>
          </p:nvPr>
        </p:nvSpPr>
        <p:spPr>
          <a:xfrm>
            <a:off x="609600" y="1794618"/>
            <a:ext cx="5171051" cy="3846528"/>
          </a:xfrm>
        </p:spPr>
        <p:txBody>
          <a:bodyPr>
            <a:normAutofit/>
          </a:bodyPr>
          <a:lstStyle/>
          <a:p>
            <a:pPr marL="0" indent="0">
              <a:buNone/>
            </a:pPr>
            <a:r>
              <a:rPr lang="en-AU" sz="2800" b="1" dirty="0">
                <a:solidFill>
                  <a:schemeClr val="accent1"/>
                </a:solidFill>
              </a:rPr>
              <a:t>Primitive</a:t>
            </a:r>
          </a:p>
          <a:p>
            <a:pPr marL="514350" indent="-514350">
              <a:buFont typeface="+mj-lt"/>
              <a:buAutoNum type="arabicPeriod"/>
            </a:pPr>
            <a:r>
              <a:rPr lang="en-AU" sz="2800" dirty="0">
                <a:solidFill>
                  <a:schemeClr val="bg1"/>
                </a:solidFill>
              </a:rPr>
              <a:t>stored directly in memory</a:t>
            </a:r>
          </a:p>
          <a:p>
            <a:pPr marL="514350" indent="-514350">
              <a:buFont typeface="+mj-lt"/>
              <a:buAutoNum type="arabicPeriod"/>
            </a:pPr>
            <a:r>
              <a:rPr lang="en-AU" sz="2800" dirty="0">
                <a:solidFill>
                  <a:schemeClr val="bg1"/>
                </a:solidFill>
              </a:rPr>
              <a:t>often immutable</a:t>
            </a:r>
          </a:p>
          <a:p>
            <a:pPr marL="514350" indent="-514350">
              <a:buFont typeface="+mj-lt"/>
              <a:buAutoNum type="arabicPeriod"/>
            </a:pPr>
            <a:r>
              <a:rPr lang="en-AU" sz="2800" dirty="0">
                <a:solidFill>
                  <a:schemeClr val="bg1"/>
                </a:solidFill>
              </a:rPr>
              <a:t>simple values</a:t>
            </a:r>
          </a:p>
          <a:p>
            <a:pPr marL="514350" indent="-514350">
              <a:buFont typeface="+mj-lt"/>
              <a:buAutoNum type="arabicPeriod"/>
            </a:pPr>
            <a:r>
              <a:rPr lang="en-AU" sz="2800" dirty="0">
                <a:solidFill>
                  <a:schemeClr val="bg1"/>
                </a:solidFill>
              </a:rPr>
              <a:t>used for basic data storage</a:t>
            </a:r>
          </a:p>
        </p:txBody>
      </p:sp>
      <p:sp>
        <p:nvSpPr>
          <p:cNvPr id="3" name="TextBox 2">
            <a:extLst>
              <a:ext uri="{FF2B5EF4-FFF2-40B4-BE49-F238E27FC236}">
                <a16:creationId xmlns:a16="http://schemas.microsoft.com/office/drawing/2014/main" id="{D2CE97C9-629F-82D0-1627-D88CBDC60261}"/>
              </a:ext>
            </a:extLst>
          </p:cNvPr>
          <p:cNvSpPr txBox="1"/>
          <p:nvPr/>
        </p:nvSpPr>
        <p:spPr>
          <a:xfrm>
            <a:off x="5918981" y="1794618"/>
            <a:ext cx="6137031" cy="3539430"/>
          </a:xfrm>
          <a:prstGeom prst="rect">
            <a:avLst/>
          </a:prstGeom>
          <a:noFill/>
        </p:spPr>
        <p:txBody>
          <a:bodyPr wrap="square">
            <a:spAutoFit/>
          </a:bodyPr>
          <a:lstStyle/>
          <a:p>
            <a:r>
              <a:rPr lang="en-AU" sz="2800" b="1" dirty="0">
                <a:solidFill>
                  <a:schemeClr val="accent1"/>
                </a:solidFill>
              </a:rPr>
              <a:t>Non-primitive</a:t>
            </a:r>
          </a:p>
          <a:p>
            <a:pPr marL="514350" indent="-514350">
              <a:buFont typeface="+mj-lt"/>
              <a:buAutoNum type="arabicPeriod"/>
            </a:pPr>
            <a:r>
              <a:rPr lang="en-AU" sz="2800" dirty="0">
                <a:solidFill>
                  <a:schemeClr val="bg1"/>
                </a:solidFill>
              </a:rPr>
              <a:t>stored indirectly using references or pointers.</a:t>
            </a:r>
          </a:p>
          <a:p>
            <a:pPr marL="514350" indent="-514350">
              <a:buFont typeface="+mj-lt"/>
              <a:buAutoNum type="arabicPeriod"/>
            </a:pPr>
            <a:r>
              <a:rPr lang="en-AU" sz="2800" dirty="0">
                <a:solidFill>
                  <a:schemeClr val="bg1"/>
                </a:solidFill>
              </a:rPr>
              <a:t>can be mutable/immutable.</a:t>
            </a:r>
          </a:p>
          <a:p>
            <a:pPr marL="514350" indent="-514350">
              <a:buFont typeface="+mj-lt"/>
              <a:buAutoNum type="arabicPeriod"/>
            </a:pPr>
            <a:r>
              <a:rPr lang="en-AU" sz="2800" dirty="0">
                <a:solidFill>
                  <a:schemeClr val="bg1"/>
                </a:solidFill>
              </a:rPr>
              <a:t>represent more complex data structures.</a:t>
            </a:r>
          </a:p>
          <a:p>
            <a:pPr marL="514350" indent="-514350">
              <a:buFont typeface="+mj-lt"/>
              <a:buAutoNum type="arabicPeriod"/>
            </a:pPr>
            <a:r>
              <a:rPr lang="en-AU" sz="2800" dirty="0">
                <a:solidFill>
                  <a:schemeClr val="bg1"/>
                </a:solidFill>
              </a:rPr>
              <a:t>used for complex structures, algorithms &amp; classes.</a:t>
            </a:r>
          </a:p>
        </p:txBody>
      </p:sp>
    </p:spTree>
    <p:extLst>
      <p:ext uri="{BB962C8B-B14F-4D97-AF65-F5344CB8AC3E}">
        <p14:creationId xmlns:p14="http://schemas.microsoft.com/office/powerpoint/2010/main" val="3552254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22CC-8B0B-A2D7-227E-9BAE21D252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BE007A-0D99-01B3-6B99-145B6F72595B}"/>
              </a:ext>
            </a:extLst>
          </p:cNvPr>
          <p:cNvSpPr>
            <a:spLocks noGrp="1"/>
          </p:cNvSpPr>
          <p:nvPr>
            <p:ph type="title"/>
          </p:nvPr>
        </p:nvSpPr>
        <p:spPr>
          <a:xfrm>
            <a:off x="843541" y="887581"/>
            <a:ext cx="3403600" cy="1003205"/>
          </a:xfrm>
        </p:spPr>
        <p:txBody>
          <a:bodyPr>
            <a:normAutofit/>
          </a:bodyPr>
          <a:lstStyle/>
          <a:p>
            <a:r>
              <a:rPr lang="en-US" dirty="0"/>
              <a:t>List &amp; Arrays</a:t>
            </a:r>
          </a:p>
        </p:txBody>
      </p:sp>
      <p:sp>
        <p:nvSpPr>
          <p:cNvPr id="8" name="TextBox 7">
            <a:extLst>
              <a:ext uri="{FF2B5EF4-FFF2-40B4-BE49-F238E27FC236}">
                <a16:creationId xmlns:a16="http://schemas.microsoft.com/office/drawing/2014/main" id="{03A9CC0B-7227-4B7D-F9F5-7D919A16B59D}"/>
              </a:ext>
            </a:extLst>
          </p:cNvPr>
          <p:cNvSpPr txBox="1"/>
          <p:nvPr/>
        </p:nvSpPr>
        <p:spPr>
          <a:xfrm>
            <a:off x="843541" y="2132098"/>
            <a:ext cx="6879647" cy="3330079"/>
          </a:xfrm>
          <a:prstGeom prst="rect">
            <a:avLst/>
          </a:prstGeom>
          <a:noFill/>
        </p:spPr>
        <p:txBody>
          <a:bodyPr wrap="square">
            <a:spAutoFit/>
          </a:bodyPr>
          <a:lstStyle/>
          <a:p>
            <a:pPr>
              <a:buNone/>
            </a:pPr>
            <a:r>
              <a:rPr lang="en-AU" b="0" dirty="0">
                <a:solidFill>
                  <a:srgbClr val="C586C0"/>
                </a:solidFill>
                <a:effectLst/>
                <a:latin typeface="Consolas" panose="020B0609020204030204" pitchFamily="49" charset="0"/>
                <a:cs typeface="Consolas" panose="020B0609020204030204" pitchFamily="49" charset="0"/>
              </a:rPr>
              <a:t>from</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4EC9B0"/>
                </a:solidFill>
                <a:effectLst/>
                <a:latin typeface="Consolas" panose="020B0609020204030204" pitchFamily="49" charset="0"/>
                <a:cs typeface="Consolas" panose="020B0609020204030204" pitchFamily="49" charset="0"/>
              </a:rPr>
              <a:t>array</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C586C0"/>
                </a:solidFill>
                <a:effectLst/>
                <a:latin typeface="Consolas" panose="020B0609020204030204" pitchFamily="49" charset="0"/>
                <a:cs typeface="Consolas" panose="020B0609020204030204" pitchFamily="49" charset="0"/>
              </a:rPr>
              <a:t>import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4EC9B0"/>
                </a:solidFill>
                <a:effectLst/>
                <a:latin typeface="Consolas" panose="020B0609020204030204" pitchFamily="49" charset="0"/>
                <a:cs typeface="Consolas" panose="020B0609020204030204" pitchFamily="49" charset="0"/>
              </a:rPr>
              <a:t>array</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C586C0"/>
                </a:solidFill>
                <a:effectLst/>
                <a:latin typeface="Consolas" panose="020B0609020204030204" pitchFamily="49" charset="0"/>
                <a:cs typeface="Consolas" panose="020B0609020204030204" pitchFamily="49" charset="0"/>
              </a:rPr>
              <a:t>as</a:t>
            </a:r>
            <a:r>
              <a:rPr lang="en-AU" b="0" dirty="0">
                <a:solidFill>
                  <a:srgbClr val="CCCCCC"/>
                </a:solidFill>
                <a:effectLst/>
                <a:latin typeface="Consolas" panose="020B0609020204030204" pitchFamily="49" charset="0"/>
                <a:cs typeface="Consolas" panose="020B0609020204030204" pitchFamily="49" charset="0"/>
              </a:rPr>
              <a:t> </a:t>
            </a:r>
            <a:r>
              <a:rPr lang="en-AU" b="0" dirty="0" err="1">
                <a:solidFill>
                  <a:srgbClr val="4EC9B0"/>
                </a:solidFill>
                <a:effectLst/>
                <a:latin typeface="Consolas" panose="020B0609020204030204" pitchFamily="49" charset="0"/>
                <a:cs typeface="Consolas" panose="020B0609020204030204" pitchFamily="49" charset="0"/>
              </a:rPr>
              <a:t>arr</a:t>
            </a:r>
            <a:endParaRPr lang="en-AU" b="0" dirty="0">
              <a:solidFill>
                <a:srgbClr val="CCCCCC"/>
              </a:solidFill>
              <a:effectLst/>
              <a:latin typeface="Consolas" panose="020B0609020204030204" pitchFamily="49" charset="0"/>
              <a:cs typeface="Consolas" panose="020B0609020204030204" pitchFamily="49" charset="0"/>
            </a:endParaRPr>
          </a:p>
          <a:p>
            <a:pPr>
              <a:buNone/>
            </a:pPr>
            <a:r>
              <a:rPr lang="en-AU" b="0" dirty="0">
                <a:solidFill>
                  <a:srgbClr val="6A9955"/>
                </a:solidFill>
                <a:effectLst/>
                <a:latin typeface="Consolas" panose="020B0609020204030204" pitchFamily="49" charset="0"/>
                <a:cs typeface="Consolas" panose="020B0609020204030204" pitchFamily="49" charset="0"/>
              </a:rPr>
              <a:t># Homogeneous array of integers</a:t>
            </a:r>
            <a:endParaRPr lang="en-AU" b="0" dirty="0">
              <a:solidFill>
                <a:srgbClr val="CCCCCC"/>
              </a:solidFill>
              <a:effectLst/>
              <a:latin typeface="Consolas" panose="020B0609020204030204" pitchFamily="49" charset="0"/>
              <a:cs typeface="Consolas" panose="020B0609020204030204" pitchFamily="49" charset="0"/>
            </a:endParaRPr>
          </a:p>
          <a:p>
            <a:pPr>
              <a:buNone/>
            </a:pPr>
            <a:r>
              <a:rPr lang="en-AU" b="0" dirty="0" err="1">
                <a:solidFill>
                  <a:srgbClr val="9CDCFE"/>
                </a:solidFill>
                <a:effectLst/>
                <a:latin typeface="Consolas" panose="020B0609020204030204" pitchFamily="49" charset="0"/>
                <a:cs typeface="Consolas" panose="020B0609020204030204" pitchFamily="49" charset="0"/>
              </a:rPr>
              <a:t>int_array</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D4D4D4"/>
                </a:solidFill>
                <a:effectLst/>
                <a:latin typeface="Consolas" panose="020B0609020204030204" pitchFamily="49" charset="0"/>
                <a:cs typeface="Consolas" panose="020B0609020204030204" pitchFamily="49" charset="0"/>
              </a:rPr>
              <a:t>=</a:t>
            </a:r>
            <a:r>
              <a:rPr lang="en-AU" b="0" dirty="0">
                <a:solidFill>
                  <a:srgbClr val="CCCCCC"/>
                </a:solidFill>
                <a:effectLst/>
                <a:latin typeface="Consolas" panose="020B0609020204030204" pitchFamily="49" charset="0"/>
                <a:cs typeface="Consolas" panose="020B0609020204030204" pitchFamily="49" charset="0"/>
              </a:rPr>
              <a:t> </a:t>
            </a:r>
            <a:r>
              <a:rPr lang="en-AU" b="0" dirty="0" err="1">
                <a:solidFill>
                  <a:srgbClr val="4EC9B0"/>
                </a:solidFill>
                <a:effectLst/>
                <a:latin typeface="Consolas" panose="020B0609020204030204" pitchFamily="49" charset="0"/>
                <a:cs typeface="Consolas" panose="020B0609020204030204" pitchFamily="49" charset="0"/>
              </a:rPr>
              <a:t>arr</a:t>
            </a:r>
            <a:r>
              <a:rPr lang="en-AU" b="0" dirty="0">
                <a:solidFill>
                  <a:srgbClr val="CCCCCC"/>
                </a:solidFill>
                <a:effectLst/>
                <a:latin typeface="Consolas" panose="020B0609020204030204" pitchFamily="49" charset="0"/>
                <a:cs typeface="Consolas" panose="020B0609020204030204" pitchFamily="49" charset="0"/>
              </a:rPr>
              <a:t>(</a:t>
            </a:r>
            <a:r>
              <a:rPr lang="en-AU" b="0" dirty="0">
                <a:solidFill>
                  <a:srgbClr val="CE9178"/>
                </a:solidFill>
                <a:effectLst/>
                <a:latin typeface="Consolas" panose="020B0609020204030204" pitchFamily="49" charset="0"/>
                <a:cs typeface="Consolas" panose="020B0609020204030204" pitchFamily="49" charset="0"/>
              </a:rPr>
              <a:t>'</a:t>
            </a:r>
            <a:r>
              <a:rPr lang="en-AU" b="0" dirty="0" err="1">
                <a:solidFill>
                  <a:srgbClr val="CE9178"/>
                </a:solidFill>
                <a:effectLst/>
                <a:latin typeface="Consolas" panose="020B0609020204030204" pitchFamily="49" charset="0"/>
                <a:cs typeface="Consolas" panose="020B0609020204030204" pitchFamily="49" charset="0"/>
              </a:rPr>
              <a:t>i</a:t>
            </a:r>
            <a:r>
              <a:rPr lang="en-AU" b="0" dirty="0">
                <a:solidFill>
                  <a:srgbClr val="CE9178"/>
                </a:solidFill>
                <a:effectLst/>
                <a:latin typeface="Consolas" panose="020B0609020204030204" pitchFamily="49" charset="0"/>
                <a:cs typeface="Consolas" panose="020B0609020204030204" pitchFamily="49" charset="0"/>
              </a:rPr>
              <a: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1</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2</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3</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4</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5</a:t>
            </a:r>
            <a:r>
              <a:rPr lang="en-AU" b="0" dirty="0">
                <a:solidFill>
                  <a:srgbClr val="CCCCCC"/>
                </a:solidFill>
                <a:effectLst/>
                <a:latin typeface="Consolas" panose="020B0609020204030204" pitchFamily="49" charset="0"/>
                <a:cs typeface="Consolas" panose="020B0609020204030204" pitchFamily="49" charset="0"/>
              </a:rPr>
              <a:t>])</a:t>
            </a:r>
          </a:p>
          <a:p>
            <a:pPr>
              <a:buNone/>
            </a:pPr>
            <a:r>
              <a:rPr lang="en-AU" b="0" dirty="0">
                <a:solidFill>
                  <a:srgbClr val="6A9955"/>
                </a:solidFill>
                <a:effectLst/>
                <a:latin typeface="Consolas" panose="020B0609020204030204" pitchFamily="49" charset="0"/>
                <a:cs typeface="Consolas" panose="020B0609020204030204" pitchFamily="49" charset="0"/>
              </a:rPr>
              <a:t># Heterogeneous list</a:t>
            </a:r>
            <a:endParaRPr lang="en-AU" b="0" dirty="0">
              <a:solidFill>
                <a:srgbClr val="CCCCCC"/>
              </a:solidFill>
              <a:effectLst/>
              <a:latin typeface="Consolas" panose="020B0609020204030204" pitchFamily="49" charset="0"/>
              <a:cs typeface="Consolas" panose="020B0609020204030204" pitchFamily="49" charset="0"/>
            </a:endParaRPr>
          </a:p>
          <a:p>
            <a:pPr>
              <a:buNone/>
            </a:pPr>
            <a:r>
              <a:rPr lang="en-AU" b="0" dirty="0" err="1">
                <a:solidFill>
                  <a:srgbClr val="9CDCFE"/>
                </a:solidFill>
                <a:effectLst/>
                <a:latin typeface="Consolas" panose="020B0609020204030204" pitchFamily="49" charset="0"/>
                <a:cs typeface="Consolas" panose="020B0609020204030204" pitchFamily="49" charset="0"/>
              </a:rPr>
              <a:t>mixed_list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D4D4D4"/>
                </a:solidFill>
                <a:effectLst/>
                <a:latin typeface="Consolas" panose="020B0609020204030204" pitchFamily="49" charset="0"/>
                <a:cs typeface="Consolas" panose="020B0609020204030204" pitchFamily="49" charset="0"/>
              </a:rPr>
              <a: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1</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CE9178"/>
                </a:solidFill>
                <a:effectLst/>
                <a:latin typeface="Consolas" panose="020B0609020204030204" pitchFamily="49" charset="0"/>
                <a:cs typeface="Consolas" panose="020B0609020204030204" pitchFamily="49" charset="0"/>
              </a:rPr>
              <a:t>'two'</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3.0</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4</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5</a:t>
            </a:r>
            <a:r>
              <a:rPr lang="en-AU" b="0" dirty="0">
                <a:solidFill>
                  <a:srgbClr val="CCCCCC"/>
                </a:solidFill>
                <a:effectLst/>
                <a:latin typeface="Consolas" panose="020B0609020204030204" pitchFamily="49" charset="0"/>
                <a:cs typeface="Consolas" panose="020B0609020204030204" pitchFamily="49" charset="0"/>
              </a:rPr>
              <a:t>]]</a:t>
            </a:r>
          </a:p>
          <a:p>
            <a:pPr>
              <a:buNone/>
            </a:pPr>
            <a:br>
              <a:rPr lang="en-AU" b="0" dirty="0">
                <a:solidFill>
                  <a:srgbClr val="CCCCCC"/>
                </a:solidFill>
                <a:effectLst/>
                <a:latin typeface="Consolas" panose="020B0609020204030204" pitchFamily="49" charset="0"/>
                <a:cs typeface="Consolas" panose="020B0609020204030204" pitchFamily="49" charset="0"/>
              </a:rPr>
            </a:br>
            <a:endParaRPr lang="en-AU" b="0" dirty="0">
              <a:solidFill>
                <a:srgbClr val="CCCCCC"/>
              </a:solidFill>
              <a:effectLst/>
              <a:latin typeface="Consolas" panose="020B0609020204030204" pitchFamily="49" charset="0"/>
              <a:cs typeface="Consolas" panose="020B0609020204030204" pitchFamily="49" charset="0"/>
            </a:endParaRPr>
          </a:p>
          <a:p>
            <a:pPr>
              <a:buNone/>
            </a:pPr>
            <a:r>
              <a:rPr lang="en-AU" b="0" dirty="0">
                <a:solidFill>
                  <a:srgbClr val="6A9955"/>
                </a:solidFill>
                <a:effectLst/>
                <a:latin typeface="Consolas" panose="020B0609020204030204" pitchFamily="49" charset="0"/>
                <a:cs typeface="Consolas" panose="020B0609020204030204" pitchFamily="49" charset="0"/>
              </a:rPr>
              <a:t># You cannot do this </a:t>
            </a:r>
            <a:endParaRPr lang="en-AU" b="0" dirty="0">
              <a:solidFill>
                <a:srgbClr val="CCCCCC"/>
              </a:solidFill>
              <a:effectLst/>
              <a:latin typeface="Consolas" panose="020B0609020204030204" pitchFamily="49" charset="0"/>
              <a:cs typeface="Consolas" panose="020B0609020204030204" pitchFamily="49" charset="0"/>
            </a:endParaRPr>
          </a:p>
          <a:p>
            <a:pPr>
              <a:buNone/>
            </a:pPr>
            <a:r>
              <a:rPr lang="en-AU" b="0" dirty="0" err="1">
                <a:solidFill>
                  <a:srgbClr val="9CDCFE"/>
                </a:solidFill>
                <a:effectLst/>
                <a:latin typeface="Consolas" panose="020B0609020204030204" pitchFamily="49" charset="0"/>
                <a:cs typeface="Consolas" panose="020B0609020204030204" pitchFamily="49" charset="0"/>
              </a:rPr>
              <a:t>array_mixed_list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D4D4D4"/>
                </a:solidFill>
                <a:effectLst/>
                <a:latin typeface="Consolas" panose="020B0609020204030204" pitchFamily="49" charset="0"/>
                <a:cs typeface="Consolas" panose="020B0609020204030204" pitchFamily="49" charset="0"/>
              </a:rPr>
              <a:t>=</a:t>
            </a:r>
            <a:r>
              <a:rPr lang="en-AU" b="0" dirty="0">
                <a:solidFill>
                  <a:srgbClr val="CCCCCC"/>
                </a:solidFill>
                <a:effectLst/>
                <a:latin typeface="Consolas" panose="020B0609020204030204" pitchFamily="49" charset="0"/>
                <a:cs typeface="Consolas" panose="020B0609020204030204" pitchFamily="49" charset="0"/>
              </a:rPr>
              <a:t> </a:t>
            </a:r>
            <a:r>
              <a:rPr lang="en-AU" b="0" dirty="0" err="1">
                <a:solidFill>
                  <a:srgbClr val="4EC9B0"/>
                </a:solidFill>
                <a:effectLst/>
                <a:latin typeface="Consolas" panose="020B0609020204030204" pitchFamily="49" charset="0"/>
                <a:cs typeface="Consolas" panose="020B0609020204030204" pitchFamily="49" charset="0"/>
              </a:rPr>
              <a:t>arr</a:t>
            </a:r>
            <a:r>
              <a:rPr lang="en-AU" b="0" dirty="0">
                <a:solidFill>
                  <a:srgbClr val="CCCCCC"/>
                </a:solidFill>
                <a:effectLst/>
                <a:latin typeface="Consolas" panose="020B0609020204030204" pitchFamily="49" charset="0"/>
                <a:cs typeface="Consolas" panose="020B0609020204030204" pitchFamily="49" charset="0"/>
              </a:rPr>
              <a:t>(</a:t>
            </a:r>
            <a:r>
              <a:rPr lang="en-AU" b="0" dirty="0">
                <a:solidFill>
                  <a:srgbClr val="CE9178"/>
                </a:solidFill>
                <a:effectLst/>
                <a:latin typeface="Consolas" panose="020B0609020204030204" pitchFamily="49" charset="0"/>
                <a:cs typeface="Consolas" panose="020B0609020204030204" pitchFamily="49" charset="0"/>
              </a:rPr>
              <a:t>'</a:t>
            </a:r>
            <a:r>
              <a:rPr lang="en-AU" b="0" dirty="0" err="1">
                <a:solidFill>
                  <a:srgbClr val="CE9178"/>
                </a:solidFill>
                <a:effectLst/>
                <a:latin typeface="Consolas" panose="020B0609020204030204" pitchFamily="49" charset="0"/>
                <a:cs typeface="Consolas" panose="020B0609020204030204" pitchFamily="49" charset="0"/>
              </a:rPr>
              <a:t>i</a:t>
            </a:r>
            <a:r>
              <a:rPr lang="en-AU" b="0" dirty="0">
                <a:solidFill>
                  <a:srgbClr val="CE9178"/>
                </a:solidFill>
                <a:effectLst/>
                <a:latin typeface="Consolas" panose="020B0609020204030204" pitchFamily="49" charset="0"/>
                <a:cs typeface="Consolas" panose="020B0609020204030204" pitchFamily="49" charset="0"/>
              </a:rPr>
              <a:t>'</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1</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CE9178"/>
                </a:solidFill>
                <a:effectLst/>
                <a:latin typeface="Consolas" panose="020B0609020204030204" pitchFamily="49" charset="0"/>
                <a:cs typeface="Consolas" panose="020B0609020204030204" pitchFamily="49" charset="0"/>
              </a:rPr>
              <a:t>'two'</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3.0</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4</a:t>
            </a:r>
            <a:r>
              <a:rPr lang="en-AU" b="0" dirty="0">
                <a:solidFill>
                  <a:srgbClr val="CCCCCC"/>
                </a:solidFill>
                <a:effectLst/>
                <a:latin typeface="Consolas" panose="020B0609020204030204" pitchFamily="49" charset="0"/>
                <a:cs typeface="Consolas" panose="020B0609020204030204" pitchFamily="49" charset="0"/>
              </a:rPr>
              <a:t>, </a:t>
            </a:r>
            <a:r>
              <a:rPr lang="en-AU" b="0" dirty="0">
                <a:solidFill>
                  <a:srgbClr val="B5CEA8"/>
                </a:solidFill>
                <a:effectLst/>
                <a:latin typeface="Consolas" panose="020B0609020204030204" pitchFamily="49" charset="0"/>
                <a:cs typeface="Consolas" panose="020B0609020204030204" pitchFamily="49" charset="0"/>
              </a:rPr>
              <a:t>5</a:t>
            </a:r>
            <a:r>
              <a:rPr lang="en-AU" b="0" dirty="0">
                <a:solidFill>
                  <a:srgbClr val="CCCCCC"/>
                </a:solidFill>
                <a:effectLst/>
                <a:latin typeface="Consolas" panose="020B0609020204030204" pitchFamily="49" charset="0"/>
                <a:cs typeface="Consolas" panose="020B0609020204030204" pitchFamily="49" charset="0"/>
              </a:rPr>
              <a:t>]])</a:t>
            </a:r>
            <a:r>
              <a:rPr lang="en-AU" b="0" dirty="0">
                <a:solidFill>
                  <a:srgbClr val="6A9955"/>
                </a:solidFill>
                <a:effectLst/>
                <a:latin typeface="Consolas" panose="020B0609020204030204" pitchFamily="49" charset="0"/>
                <a:cs typeface="Consolas" panose="020B0609020204030204" pitchFamily="49" charset="0"/>
              </a:rPr>
              <a:t> </a:t>
            </a:r>
          </a:p>
          <a:p>
            <a:pPr>
              <a:buNone/>
            </a:pPr>
            <a:r>
              <a:rPr lang="en-AU" b="0" dirty="0">
                <a:solidFill>
                  <a:srgbClr val="6A9955"/>
                </a:solidFill>
                <a:effectLst/>
                <a:latin typeface="Consolas" panose="020B0609020204030204" pitchFamily="49" charset="0"/>
                <a:cs typeface="Consolas" panose="020B0609020204030204" pitchFamily="49" charset="0"/>
              </a:rPr>
              <a:t># </a:t>
            </a:r>
            <a:r>
              <a:rPr lang="en-AU" b="0" dirty="0" err="1">
                <a:solidFill>
                  <a:srgbClr val="6A9955"/>
                </a:solidFill>
                <a:effectLst/>
                <a:latin typeface="Consolas" panose="020B0609020204030204" pitchFamily="49" charset="0"/>
                <a:cs typeface="Consolas" panose="020B0609020204030204" pitchFamily="49" charset="0"/>
              </a:rPr>
              <a:t>TypeError</a:t>
            </a:r>
            <a:r>
              <a:rPr lang="en-AU" b="0" dirty="0">
                <a:solidFill>
                  <a:srgbClr val="6A9955"/>
                </a:solidFill>
                <a:effectLst/>
                <a:latin typeface="Consolas" panose="020B0609020204030204" pitchFamily="49" charset="0"/>
                <a:cs typeface="Consolas" panose="020B0609020204030204" pitchFamily="49" charset="0"/>
              </a:rPr>
              <a:t>: 'str' object cannot be interpreted as an integer</a:t>
            </a:r>
            <a:endParaRPr lang="en-AU" b="0" dirty="0">
              <a:solidFill>
                <a:srgbClr val="CCCCCC"/>
              </a:solidFill>
              <a:effectLst/>
              <a:latin typeface="Consolas" panose="020B0609020204030204" pitchFamily="49" charset="0"/>
              <a:cs typeface="Consolas" panose="020B0609020204030204" pitchFamily="49" charset="0"/>
            </a:endParaRPr>
          </a:p>
          <a:p>
            <a:pPr>
              <a:lnSpc>
                <a:spcPts val="1350"/>
              </a:lnSpc>
              <a:buNone/>
            </a:pPr>
            <a:endParaRPr lang="en-AU" b="0" dirty="0">
              <a:solidFill>
                <a:srgbClr val="CCCCCC"/>
              </a:solidFill>
              <a:effectLst/>
              <a:latin typeface="Menlo" panose="020B0609030804020204" pitchFamily="49" charset="0"/>
            </a:endParaRPr>
          </a:p>
        </p:txBody>
      </p:sp>
      <p:sp>
        <p:nvSpPr>
          <p:cNvPr id="6" name="TextBox 5">
            <a:extLst>
              <a:ext uri="{FF2B5EF4-FFF2-40B4-BE49-F238E27FC236}">
                <a16:creationId xmlns:a16="http://schemas.microsoft.com/office/drawing/2014/main" id="{D692AC43-2CB9-653E-5606-4997278B0BE9}"/>
              </a:ext>
            </a:extLst>
          </p:cNvPr>
          <p:cNvSpPr txBox="1"/>
          <p:nvPr/>
        </p:nvSpPr>
        <p:spPr>
          <a:xfrm>
            <a:off x="7536872" y="5979350"/>
            <a:ext cx="4167554" cy="307777"/>
          </a:xfrm>
          <a:prstGeom prst="rect">
            <a:avLst/>
          </a:prstGeom>
          <a:noFill/>
        </p:spPr>
        <p:txBody>
          <a:bodyPr wrap="square">
            <a:spAutoFit/>
          </a:bodyPr>
          <a:lstStyle/>
          <a:p>
            <a:r>
              <a:rPr lang="en-AU" sz="1400" dirty="0">
                <a:solidFill>
                  <a:schemeClr val="bg1"/>
                </a:solidFill>
              </a:rPr>
              <a:t>https://www.youtube.com/watch?v=cOfhwxirhUE</a:t>
            </a:r>
          </a:p>
        </p:txBody>
      </p:sp>
      <p:pic>
        <p:nvPicPr>
          <p:cNvPr id="15" name="Picture 14" descr="A screenshot of a video game&#10;&#10;AI-generated content may be incorrect.">
            <a:extLst>
              <a:ext uri="{FF2B5EF4-FFF2-40B4-BE49-F238E27FC236}">
                <a16:creationId xmlns:a16="http://schemas.microsoft.com/office/drawing/2014/main" id="{1BAE91A4-81C1-9388-72E8-87885FE3E53C}"/>
              </a:ext>
            </a:extLst>
          </p:cNvPr>
          <p:cNvPicPr>
            <a:picLocks noChangeAspect="1"/>
          </p:cNvPicPr>
          <p:nvPr/>
        </p:nvPicPr>
        <p:blipFill>
          <a:blip r:embed="rId3"/>
          <a:srcRect l="45273" r="17197" b="10650"/>
          <a:stretch/>
        </p:blipFill>
        <p:spPr>
          <a:xfrm>
            <a:off x="7723188" y="1389183"/>
            <a:ext cx="3147777" cy="4140005"/>
          </a:xfrm>
          <a:prstGeom prst="rect">
            <a:avLst/>
          </a:prstGeom>
        </p:spPr>
      </p:pic>
    </p:spTree>
    <p:extLst>
      <p:ext uri="{BB962C8B-B14F-4D97-AF65-F5344CB8AC3E}">
        <p14:creationId xmlns:p14="http://schemas.microsoft.com/office/powerpoint/2010/main" val="4186306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23603D-B355-1037-7AC7-E7DE8334EB22}"/>
              </a:ext>
            </a:extLst>
          </p:cNvPr>
          <p:cNvSpPr>
            <a:spLocks noGrp="1"/>
          </p:cNvSpPr>
          <p:nvPr>
            <p:ph type="title"/>
          </p:nvPr>
        </p:nvSpPr>
        <p:spPr/>
        <p:txBody>
          <a:bodyPr/>
          <a:lstStyle/>
          <a:p>
            <a:r>
              <a:rPr lang="en-US" dirty="0"/>
              <a:t>Lists and Arrays</a:t>
            </a:r>
          </a:p>
        </p:txBody>
      </p:sp>
      <p:sp>
        <p:nvSpPr>
          <p:cNvPr id="5" name="Content Placeholder 4">
            <a:extLst>
              <a:ext uri="{FF2B5EF4-FFF2-40B4-BE49-F238E27FC236}">
                <a16:creationId xmlns:a16="http://schemas.microsoft.com/office/drawing/2014/main" id="{04E731CA-2251-48E2-C8FC-724713209249}"/>
              </a:ext>
            </a:extLst>
          </p:cNvPr>
          <p:cNvSpPr>
            <a:spLocks noGrp="1"/>
          </p:cNvSpPr>
          <p:nvPr>
            <p:ph idx="1"/>
          </p:nvPr>
        </p:nvSpPr>
        <p:spPr/>
        <p:txBody>
          <a:bodyPr>
            <a:normAutofit/>
          </a:bodyPr>
          <a:lstStyle/>
          <a:p>
            <a:pPr marL="0" indent="0">
              <a:buNone/>
            </a:pPr>
            <a:r>
              <a:rPr lang="en-US" dirty="0"/>
              <a:t>”Lists” are an abstraction of the Array as a data structure</a:t>
            </a:r>
          </a:p>
          <a:p>
            <a:endParaRPr lang="en-US" dirty="0"/>
          </a:p>
          <a:p>
            <a:pPr marL="0" indent="0">
              <a:buNone/>
            </a:pPr>
            <a:r>
              <a:rPr lang="en-US" dirty="0"/>
              <a:t>Python list: </a:t>
            </a:r>
            <a:r>
              <a:rPr lang="en-US" i="1" dirty="0">
                <a:solidFill>
                  <a:srgbClr val="FFC000"/>
                </a:solidFill>
              </a:rPr>
              <a:t>list(), []</a:t>
            </a:r>
          </a:p>
          <a:p>
            <a:pPr marL="0" indent="0">
              <a:buNone/>
            </a:pPr>
            <a:r>
              <a:rPr lang="en-US" dirty="0"/>
              <a:t>Python array: </a:t>
            </a:r>
            <a:r>
              <a:rPr lang="en-US" b="1" dirty="0">
                <a:solidFill>
                  <a:srgbClr val="FFC000"/>
                </a:solidFill>
                <a:latin typeface="Courier New" panose="02070309020205020404" pitchFamily="49" charset="0"/>
                <a:cs typeface="Courier New" panose="02070309020205020404" pitchFamily="49" charset="0"/>
              </a:rPr>
              <a:t>from</a:t>
            </a:r>
            <a:r>
              <a:rPr lang="en-US" dirty="0">
                <a:solidFill>
                  <a:srgbClr val="FFC000"/>
                </a:solidFill>
                <a:latin typeface="Courier New" panose="02070309020205020404" pitchFamily="49" charset="0"/>
                <a:cs typeface="Courier New" panose="02070309020205020404" pitchFamily="49" charset="0"/>
              </a:rPr>
              <a:t> array </a:t>
            </a:r>
            <a:r>
              <a:rPr lang="en-US" b="1" dirty="0">
                <a:solidFill>
                  <a:schemeClr val="accent1"/>
                </a:solidFill>
                <a:latin typeface="Courier New" panose="02070309020205020404" pitchFamily="49" charset="0"/>
                <a:cs typeface="Courier New" panose="02070309020205020404" pitchFamily="49" charset="0"/>
              </a:rPr>
              <a:t>import</a:t>
            </a:r>
            <a:r>
              <a:rPr lang="en-US" dirty="0">
                <a:solidFill>
                  <a:srgbClr val="FFC000"/>
                </a:solidFill>
                <a:latin typeface="Courier New" panose="02070309020205020404" pitchFamily="49" charset="0"/>
                <a:cs typeface="Courier New" panose="02070309020205020404" pitchFamily="49" charset="0"/>
              </a:rPr>
              <a:t> array </a:t>
            </a:r>
            <a:br>
              <a:rPr lang="en-US" dirty="0">
                <a:latin typeface="Courier New" panose="02070309020205020404" pitchFamily="49" charset="0"/>
                <a:cs typeface="Courier New" panose="02070309020205020404" pitchFamily="49" charset="0"/>
              </a:rPr>
            </a:br>
            <a:r>
              <a:rPr lang="en-US" dirty="0"/>
              <a:t>(one of the few ways to create primitives/values in Python!!)</a:t>
            </a:r>
          </a:p>
        </p:txBody>
      </p:sp>
    </p:spTree>
    <p:extLst>
      <p:ext uri="{BB962C8B-B14F-4D97-AF65-F5344CB8AC3E}">
        <p14:creationId xmlns:p14="http://schemas.microsoft.com/office/powerpoint/2010/main" val="3852118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06714-51B2-F457-17EA-075700F2B8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5B45FF-F9F8-1B18-C022-1CCA54AC8AF2}"/>
              </a:ext>
            </a:extLst>
          </p:cNvPr>
          <p:cNvSpPr>
            <a:spLocks noGrp="1"/>
          </p:cNvSpPr>
          <p:nvPr>
            <p:ph type="title"/>
          </p:nvPr>
        </p:nvSpPr>
        <p:spPr/>
        <p:txBody>
          <a:bodyPr/>
          <a:lstStyle/>
          <a:p>
            <a:r>
              <a:rPr lang="en-US" dirty="0"/>
              <a:t>Memory Usage</a:t>
            </a:r>
          </a:p>
        </p:txBody>
      </p:sp>
      <p:sp>
        <p:nvSpPr>
          <p:cNvPr id="5" name="Content Placeholder 4">
            <a:extLst>
              <a:ext uri="{FF2B5EF4-FFF2-40B4-BE49-F238E27FC236}">
                <a16:creationId xmlns:a16="http://schemas.microsoft.com/office/drawing/2014/main" id="{13DEDB07-1B3F-6D0E-DCE6-F9F61F62A27E}"/>
              </a:ext>
            </a:extLst>
          </p:cNvPr>
          <p:cNvSpPr>
            <a:spLocks noGrp="1"/>
          </p:cNvSpPr>
          <p:nvPr>
            <p:ph idx="1"/>
          </p:nvPr>
        </p:nvSpPr>
        <p:spPr>
          <a:xfrm>
            <a:off x="609600" y="1808687"/>
            <a:ext cx="10972800" cy="3480768"/>
          </a:xfrm>
        </p:spPr>
        <p:txBody>
          <a:bodyPr>
            <a:normAutofit/>
          </a:bodyPr>
          <a:lstStyle/>
          <a:p>
            <a:pPr marL="0" indent="0">
              <a:buNone/>
            </a:pPr>
            <a:r>
              <a:rPr lang="en-US" b="1" i="1" dirty="0">
                <a:solidFill>
                  <a:srgbClr val="FFC000"/>
                </a:solidFill>
              </a:rPr>
              <a:t>Arrays</a:t>
            </a:r>
            <a:r>
              <a:rPr lang="en-US" b="1" i="1" dirty="0"/>
              <a:t> - </a:t>
            </a:r>
            <a:r>
              <a:rPr lang="en-US" dirty="0"/>
              <a:t>elements are stored in a contiguous block of memory, with a </a:t>
            </a:r>
            <a:r>
              <a:rPr lang="en-US" b="1" dirty="0"/>
              <a:t>fixed size </a:t>
            </a:r>
            <a:r>
              <a:rPr lang="en-US" dirty="0"/>
              <a:t>&amp; the same data type. </a:t>
            </a:r>
          </a:p>
          <a:p>
            <a:pPr marL="0" indent="0">
              <a:buNone/>
            </a:pPr>
            <a:endParaRPr lang="en-US" dirty="0"/>
          </a:p>
          <a:p>
            <a:pPr marL="0" indent="0">
              <a:buNone/>
            </a:pPr>
            <a:r>
              <a:rPr lang="en-US" b="1" i="1" dirty="0">
                <a:solidFill>
                  <a:srgbClr val="FFC000"/>
                </a:solidFill>
              </a:rPr>
              <a:t>Lists</a:t>
            </a:r>
            <a:r>
              <a:rPr lang="en-US" b="1" i="1" dirty="0"/>
              <a:t> - e</a:t>
            </a:r>
            <a:r>
              <a:rPr lang="en-US" dirty="0"/>
              <a:t>lements are stored as references to objects in memory. This reference object can be any data type. List </a:t>
            </a:r>
            <a:r>
              <a:rPr lang="en-US" b="1" dirty="0"/>
              <a:t>can be larger </a:t>
            </a:r>
            <a:r>
              <a:rPr lang="en-US" dirty="0"/>
              <a:t>than needed.</a:t>
            </a:r>
          </a:p>
        </p:txBody>
      </p:sp>
    </p:spTree>
    <p:extLst>
      <p:ext uri="{BB962C8B-B14F-4D97-AF65-F5344CB8AC3E}">
        <p14:creationId xmlns:p14="http://schemas.microsoft.com/office/powerpoint/2010/main" val="284049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7B97-BA9E-25E4-F7DF-1FABA9981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219DA-BFDE-BA08-BE2A-3C57C57E67A6}"/>
              </a:ext>
            </a:extLst>
          </p:cNvPr>
          <p:cNvSpPr>
            <a:spLocks noGrp="1"/>
          </p:cNvSpPr>
          <p:nvPr>
            <p:ph type="title"/>
          </p:nvPr>
        </p:nvSpPr>
        <p:spPr/>
        <p:txBody>
          <a:bodyPr/>
          <a:lstStyle/>
          <a:p>
            <a:r>
              <a:rPr lang="en-US" dirty="0"/>
              <a:t>Efficiency</a:t>
            </a:r>
          </a:p>
        </p:txBody>
      </p:sp>
      <p:sp>
        <p:nvSpPr>
          <p:cNvPr id="5" name="Content Placeholder 4">
            <a:extLst>
              <a:ext uri="{FF2B5EF4-FFF2-40B4-BE49-F238E27FC236}">
                <a16:creationId xmlns:a16="http://schemas.microsoft.com/office/drawing/2014/main" id="{F01F227F-E287-79DF-A918-B3810DDA5655}"/>
              </a:ext>
            </a:extLst>
          </p:cNvPr>
          <p:cNvSpPr>
            <a:spLocks noGrp="1"/>
          </p:cNvSpPr>
          <p:nvPr>
            <p:ph idx="1"/>
          </p:nvPr>
        </p:nvSpPr>
        <p:spPr/>
        <p:txBody>
          <a:bodyPr>
            <a:normAutofit lnSpcReduction="10000"/>
          </a:bodyPr>
          <a:lstStyle/>
          <a:p>
            <a:pPr marL="0" indent="0">
              <a:buNone/>
            </a:pPr>
            <a:r>
              <a:rPr lang="en-US" b="1" i="1" dirty="0">
                <a:solidFill>
                  <a:srgbClr val="FFC000"/>
                </a:solidFill>
              </a:rPr>
              <a:t>Arrays</a:t>
            </a:r>
            <a:r>
              <a:rPr lang="en-US" b="1" i="1" dirty="0"/>
              <a:t> - </a:t>
            </a:r>
            <a:r>
              <a:rPr lang="en-US" dirty="0"/>
              <a:t>homogenous nature allows arrays to be more memory efficient and faster since they have a fixed size and type.</a:t>
            </a:r>
          </a:p>
          <a:p>
            <a:pPr marL="0" indent="0">
              <a:buNone/>
            </a:pPr>
            <a:endParaRPr lang="en-US" dirty="0"/>
          </a:p>
          <a:p>
            <a:pPr marL="0" indent="0">
              <a:buNone/>
            </a:pPr>
            <a:r>
              <a:rPr lang="en-US" b="1" i="1" dirty="0">
                <a:solidFill>
                  <a:srgbClr val="FFC000"/>
                </a:solidFill>
              </a:rPr>
              <a:t>Lists</a:t>
            </a:r>
            <a:r>
              <a:rPr lang="en-US" b="1" i="1" dirty="0"/>
              <a:t> - </a:t>
            </a:r>
            <a:r>
              <a:rPr lang="en-US" dirty="0"/>
              <a:t>mixed types provide flexibility but are less memory efficient and slower since they contain various sizes &amp; types of object.</a:t>
            </a:r>
          </a:p>
          <a:p>
            <a:pPr marL="0" indent="0">
              <a:buNone/>
            </a:pPr>
            <a:endParaRPr lang="en-US" dirty="0"/>
          </a:p>
          <a:p>
            <a:pPr marL="0" indent="0">
              <a:buNone/>
            </a:pPr>
            <a:r>
              <a:rPr lang="en-US" sz="2400" i="1" dirty="0"/>
              <a:t>**Both maintain their order when an action is taken.</a:t>
            </a:r>
          </a:p>
        </p:txBody>
      </p:sp>
    </p:spTree>
    <p:extLst>
      <p:ext uri="{BB962C8B-B14F-4D97-AF65-F5344CB8AC3E}">
        <p14:creationId xmlns:p14="http://schemas.microsoft.com/office/powerpoint/2010/main" val="780127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FF3C822-08FC-5F6A-EF63-6EED97ED9AA6}"/>
              </a:ext>
            </a:extLst>
          </p:cNvPr>
          <p:cNvGraphicFramePr>
            <a:graphicFrameLocks noGrp="1"/>
          </p:cNvGraphicFramePr>
          <p:nvPr>
            <p:extLst>
              <p:ext uri="{D42A27DB-BD31-4B8C-83A1-F6EECF244321}">
                <p14:modId xmlns:p14="http://schemas.microsoft.com/office/powerpoint/2010/main" val="1149283298"/>
              </p:ext>
            </p:extLst>
          </p:nvPr>
        </p:nvGraphicFramePr>
        <p:xfrm>
          <a:off x="2756786" y="2025189"/>
          <a:ext cx="9102132" cy="4667513"/>
        </p:xfrm>
        <a:graphic>
          <a:graphicData uri="http://schemas.openxmlformats.org/drawingml/2006/table">
            <a:tbl>
              <a:tblPr firstRow="1">
                <a:tableStyleId>{284E427A-3D55-4303-BF80-6455036E1DE7}</a:tableStyleId>
              </a:tblPr>
              <a:tblGrid>
                <a:gridCol w="1409860">
                  <a:extLst>
                    <a:ext uri="{9D8B030D-6E8A-4147-A177-3AD203B41FA5}">
                      <a16:colId xmlns:a16="http://schemas.microsoft.com/office/drawing/2014/main" val="3246353549"/>
                    </a:ext>
                  </a:extLst>
                </a:gridCol>
                <a:gridCol w="3141206">
                  <a:extLst>
                    <a:ext uri="{9D8B030D-6E8A-4147-A177-3AD203B41FA5}">
                      <a16:colId xmlns:a16="http://schemas.microsoft.com/office/drawing/2014/main" val="1540424977"/>
                    </a:ext>
                  </a:extLst>
                </a:gridCol>
                <a:gridCol w="2873096">
                  <a:extLst>
                    <a:ext uri="{9D8B030D-6E8A-4147-A177-3AD203B41FA5}">
                      <a16:colId xmlns:a16="http://schemas.microsoft.com/office/drawing/2014/main" val="3703367083"/>
                    </a:ext>
                  </a:extLst>
                </a:gridCol>
                <a:gridCol w="1677970">
                  <a:extLst>
                    <a:ext uri="{9D8B030D-6E8A-4147-A177-3AD203B41FA5}">
                      <a16:colId xmlns:a16="http://schemas.microsoft.com/office/drawing/2014/main" val="3779105447"/>
                    </a:ext>
                  </a:extLst>
                </a:gridCol>
              </a:tblGrid>
              <a:tr h="293805">
                <a:tc>
                  <a:txBody>
                    <a:bodyPr/>
                    <a:lstStyle/>
                    <a:p>
                      <a:r>
                        <a:rPr lang="en-AU" sz="1800" b="1">
                          <a:solidFill>
                            <a:schemeClr val="bg1"/>
                          </a:solidFill>
                          <a:effectLst/>
                        </a:rPr>
                        <a:t>Code</a:t>
                      </a:r>
                    </a:p>
                  </a:txBody>
                  <a:tcPr marL="43989" marR="43989" marT="20303" marB="20303" anchor="ctr">
                    <a:solidFill>
                      <a:schemeClr val="tx1"/>
                    </a:solidFill>
                  </a:tcPr>
                </a:tc>
                <a:tc>
                  <a:txBody>
                    <a:bodyPr/>
                    <a:lstStyle/>
                    <a:p>
                      <a:r>
                        <a:rPr lang="en-AU" sz="1800" b="1">
                          <a:solidFill>
                            <a:schemeClr val="bg1"/>
                          </a:solidFill>
                          <a:effectLst/>
                        </a:rPr>
                        <a:t>C Type</a:t>
                      </a:r>
                    </a:p>
                  </a:txBody>
                  <a:tcPr marL="43989" marR="43989" marT="20303" marB="20303" anchor="ctr">
                    <a:solidFill>
                      <a:schemeClr val="tx1"/>
                    </a:solidFill>
                  </a:tcPr>
                </a:tc>
                <a:tc>
                  <a:txBody>
                    <a:bodyPr/>
                    <a:lstStyle/>
                    <a:p>
                      <a:r>
                        <a:rPr lang="en-AU" sz="1800" b="1" dirty="0">
                          <a:solidFill>
                            <a:schemeClr val="bg1"/>
                          </a:solidFill>
                          <a:effectLst/>
                        </a:rPr>
                        <a:t>Python Type</a:t>
                      </a:r>
                    </a:p>
                  </a:txBody>
                  <a:tcPr marL="43989" marR="43989" marT="20303" marB="20303" anchor="ctr">
                    <a:solidFill>
                      <a:schemeClr val="tx1"/>
                    </a:solidFill>
                  </a:tcPr>
                </a:tc>
                <a:tc>
                  <a:txBody>
                    <a:bodyPr/>
                    <a:lstStyle/>
                    <a:p>
                      <a:r>
                        <a:rPr lang="en-AU" sz="1800" b="1" dirty="0">
                          <a:solidFill>
                            <a:schemeClr val="bg1"/>
                          </a:solidFill>
                          <a:effectLst/>
                        </a:rPr>
                        <a:t>bytes</a:t>
                      </a:r>
                    </a:p>
                  </a:txBody>
                  <a:tcPr marL="43989" marR="43989" marT="20303" marB="20303" anchor="ctr">
                    <a:solidFill>
                      <a:schemeClr val="tx1"/>
                    </a:solidFill>
                  </a:tcPr>
                </a:tc>
                <a:extLst>
                  <a:ext uri="{0D108BD9-81ED-4DB2-BD59-A6C34878D82A}">
                    <a16:rowId xmlns:a16="http://schemas.microsoft.com/office/drawing/2014/main" val="3227298177"/>
                  </a:ext>
                </a:extLst>
              </a:tr>
              <a:tr h="322667">
                <a:tc>
                  <a:txBody>
                    <a:bodyPr/>
                    <a:lstStyle/>
                    <a:p>
                      <a:r>
                        <a:rPr lang="en-AU" sz="1800">
                          <a:solidFill>
                            <a:schemeClr val="bg1"/>
                          </a:solidFill>
                          <a:effectLst/>
                        </a:rPr>
                        <a:t>'b'</a:t>
                      </a:r>
                    </a:p>
                  </a:txBody>
                  <a:tcPr marL="43989" marR="43989" marT="20303" marB="20303" anchor="ctr">
                    <a:solidFill>
                      <a:schemeClr val="tx1"/>
                    </a:solidFill>
                  </a:tcPr>
                </a:tc>
                <a:tc>
                  <a:txBody>
                    <a:bodyPr/>
                    <a:lstStyle/>
                    <a:p>
                      <a:r>
                        <a:rPr lang="en-AU" sz="1800">
                          <a:solidFill>
                            <a:schemeClr val="bg1"/>
                          </a:solidFill>
                          <a:effectLst/>
                        </a:rPr>
                        <a:t>signed char</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1</a:t>
                      </a:r>
                    </a:p>
                  </a:txBody>
                  <a:tcPr marL="43989" marR="43989" marT="20303" marB="20303" anchor="ctr">
                    <a:solidFill>
                      <a:schemeClr val="tx1"/>
                    </a:solidFill>
                  </a:tcPr>
                </a:tc>
                <a:extLst>
                  <a:ext uri="{0D108BD9-81ED-4DB2-BD59-A6C34878D82A}">
                    <a16:rowId xmlns:a16="http://schemas.microsoft.com/office/drawing/2014/main" val="3728430320"/>
                  </a:ext>
                </a:extLst>
              </a:tr>
              <a:tr h="322667">
                <a:tc>
                  <a:txBody>
                    <a:bodyPr/>
                    <a:lstStyle/>
                    <a:p>
                      <a:r>
                        <a:rPr lang="en-AU" sz="1800">
                          <a:solidFill>
                            <a:schemeClr val="bg1"/>
                          </a:solidFill>
                          <a:effectLst/>
                        </a:rPr>
                        <a:t>'B'</a:t>
                      </a:r>
                    </a:p>
                  </a:txBody>
                  <a:tcPr marL="43989" marR="43989" marT="20303" marB="20303" anchor="ctr">
                    <a:solidFill>
                      <a:schemeClr val="tx1"/>
                    </a:solidFill>
                  </a:tcPr>
                </a:tc>
                <a:tc>
                  <a:txBody>
                    <a:bodyPr/>
                    <a:lstStyle/>
                    <a:p>
                      <a:r>
                        <a:rPr lang="en-AU" sz="1800">
                          <a:solidFill>
                            <a:schemeClr val="bg1"/>
                          </a:solidFill>
                          <a:effectLst/>
                        </a:rPr>
                        <a:t>unsigned char</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1</a:t>
                      </a:r>
                    </a:p>
                  </a:txBody>
                  <a:tcPr marL="43989" marR="43989" marT="20303" marB="20303" anchor="ctr">
                    <a:solidFill>
                      <a:schemeClr val="tx1"/>
                    </a:solidFill>
                  </a:tcPr>
                </a:tc>
                <a:extLst>
                  <a:ext uri="{0D108BD9-81ED-4DB2-BD59-A6C34878D82A}">
                    <a16:rowId xmlns:a16="http://schemas.microsoft.com/office/drawing/2014/main" val="1185800814"/>
                  </a:ext>
                </a:extLst>
              </a:tr>
              <a:tr h="417107">
                <a:tc>
                  <a:txBody>
                    <a:bodyPr/>
                    <a:lstStyle/>
                    <a:p>
                      <a:r>
                        <a:rPr lang="en-AU" sz="1800">
                          <a:solidFill>
                            <a:schemeClr val="bg1"/>
                          </a:solidFill>
                          <a:effectLst/>
                        </a:rPr>
                        <a:t>'u'</a:t>
                      </a:r>
                    </a:p>
                  </a:txBody>
                  <a:tcPr marL="43989" marR="43989" marT="20303" marB="20303" anchor="ctr">
                    <a:solidFill>
                      <a:schemeClr val="tx1"/>
                    </a:solidFill>
                  </a:tcPr>
                </a:tc>
                <a:tc>
                  <a:txBody>
                    <a:bodyPr/>
                    <a:lstStyle/>
                    <a:p>
                      <a:r>
                        <a:rPr lang="en-AU" sz="1800">
                          <a:solidFill>
                            <a:schemeClr val="bg1"/>
                          </a:solidFill>
                          <a:effectLst/>
                        </a:rPr>
                        <a:t>Py_UNICODE</a:t>
                      </a:r>
                    </a:p>
                  </a:txBody>
                  <a:tcPr marL="43989" marR="43989" marT="20303" marB="20303" anchor="ctr">
                    <a:solidFill>
                      <a:schemeClr val="tx1"/>
                    </a:solidFill>
                  </a:tcPr>
                </a:tc>
                <a:tc>
                  <a:txBody>
                    <a:bodyPr/>
                    <a:lstStyle/>
                    <a:p>
                      <a:r>
                        <a:rPr lang="en-AU" sz="1800">
                          <a:solidFill>
                            <a:schemeClr val="bg1"/>
                          </a:solidFill>
                          <a:effectLst/>
                        </a:rPr>
                        <a:t>Unicode character</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4221353679"/>
                  </a:ext>
                </a:extLst>
              </a:tr>
              <a:tr h="322667">
                <a:tc>
                  <a:txBody>
                    <a:bodyPr/>
                    <a:lstStyle/>
                    <a:p>
                      <a:r>
                        <a:rPr lang="en-AU" sz="1800">
                          <a:solidFill>
                            <a:schemeClr val="bg1"/>
                          </a:solidFill>
                          <a:effectLst/>
                        </a:rPr>
                        <a:t>'h'</a:t>
                      </a:r>
                    </a:p>
                  </a:txBody>
                  <a:tcPr marL="43989" marR="43989" marT="20303" marB="20303" anchor="ctr">
                    <a:solidFill>
                      <a:schemeClr val="tx1"/>
                    </a:solidFill>
                  </a:tcPr>
                </a:tc>
                <a:tc>
                  <a:txBody>
                    <a:bodyPr/>
                    <a:lstStyle/>
                    <a:p>
                      <a:r>
                        <a:rPr lang="en-AU" sz="1800">
                          <a:solidFill>
                            <a:schemeClr val="bg1"/>
                          </a:solidFill>
                          <a:effectLst/>
                        </a:rPr>
                        <a:t>signed short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170284725"/>
                  </a:ext>
                </a:extLst>
              </a:tr>
              <a:tr h="322667">
                <a:tc>
                  <a:txBody>
                    <a:bodyPr/>
                    <a:lstStyle/>
                    <a:p>
                      <a:r>
                        <a:rPr lang="en-AU" sz="1800">
                          <a:solidFill>
                            <a:schemeClr val="bg1"/>
                          </a:solidFill>
                          <a:effectLst/>
                        </a:rPr>
                        <a:t>'H'</a:t>
                      </a:r>
                    </a:p>
                  </a:txBody>
                  <a:tcPr marL="43989" marR="43989" marT="20303" marB="20303" anchor="ctr">
                    <a:solidFill>
                      <a:schemeClr val="tx1"/>
                    </a:solidFill>
                  </a:tcPr>
                </a:tc>
                <a:tc>
                  <a:txBody>
                    <a:bodyPr/>
                    <a:lstStyle/>
                    <a:p>
                      <a:r>
                        <a:rPr lang="en-AU" sz="1800">
                          <a:solidFill>
                            <a:schemeClr val="bg1"/>
                          </a:solidFill>
                          <a:effectLst/>
                        </a:rPr>
                        <a:t>unsigned short</a:t>
                      </a:r>
                    </a:p>
                  </a:txBody>
                  <a:tcPr marL="43989" marR="43989" marT="20303" marB="20303" anchor="ctr">
                    <a:solidFill>
                      <a:schemeClr val="tx1"/>
                    </a:solidFill>
                  </a:tcPr>
                </a:tc>
                <a:tc>
                  <a:txBody>
                    <a:bodyPr/>
                    <a:lstStyle/>
                    <a:p>
                      <a:r>
                        <a:rPr lang="en-AU" sz="1800" dirty="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361092622"/>
                  </a:ext>
                </a:extLst>
              </a:tr>
              <a:tr h="305186">
                <a:tc>
                  <a:txBody>
                    <a:bodyPr/>
                    <a:lstStyle/>
                    <a:p>
                      <a:r>
                        <a:rPr lang="en-AU" sz="1800">
                          <a:solidFill>
                            <a:schemeClr val="bg1"/>
                          </a:solidFill>
                          <a:effectLst/>
                        </a:rPr>
                        <a:t>'i'</a:t>
                      </a:r>
                    </a:p>
                  </a:txBody>
                  <a:tcPr marL="43989" marR="43989" marT="20303" marB="20303" anchor="ctr">
                    <a:solidFill>
                      <a:schemeClr val="tx1"/>
                    </a:solidFill>
                  </a:tcPr>
                </a:tc>
                <a:tc>
                  <a:txBody>
                    <a:bodyPr/>
                    <a:lstStyle/>
                    <a:p>
                      <a:r>
                        <a:rPr lang="en-AU" sz="1800">
                          <a:solidFill>
                            <a:schemeClr val="bg1"/>
                          </a:solidFill>
                          <a:effectLst/>
                        </a:rPr>
                        <a:t>signed int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1566259015"/>
                  </a:ext>
                </a:extLst>
              </a:tr>
              <a:tr h="322667">
                <a:tc>
                  <a:txBody>
                    <a:bodyPr/>
                    <a:lstStyle/>
                    <a:p>
                      <a:r>
                        <a:rPr lang="en-AU" sz="1800">
                          <a:solidFill>
                            <a:schemeClr val="bg1"/>
                          </a:solidFill>
                          <a:effectLst/>
                        </a:rPr>
                        <a:t>'I'</a:t>
                      </a:r>
                    </a:p>
                  </a:txBody>
                  <a:tcPr marL="43989" marR="43989" marT="20303" marB="20303" anchor="ctr">
                    <a:solidFill>
                      <a:schemeClr val="tx1"/>
                    </a:solidFill>
                  </a:tcPr>
                </a:tc>
                <a:tc>
                  <a:txBody>
                    <a:bodyPr/>
                    <a:lstStyle/>
                    <a:p>
                      <a:r>
                        <a:rPr lang="en-AU" sz="1800">
                          <a:solidFill>
                            <a:schemeClr val="bg1"/>
                          </a:solidFill>
                          <a:effectLst/>
                        </a:rPr>
                        <a:t>unsigned int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630088534"/>
                  </a:ext>
                </a:extLst>
              </a:tr>
              <a:tr h="305186">
                <a:tc>
                  <a:txBody>
                    <a:bodyPr/>
                    <a:lstStyle/>
                    <a:p>
                      <a:r>
                        <a:rPr lang="en-AU" sz="1800">
                          <a:solidFill>
                            <a:schemeClr val="bg1"/>
                          </a:solidFill>
                          <a:effectLst/>
                        </a:rPr>
                        <a:t>'l'</a:t>
                      </a:r>
                    </a:p>
                  </a:txBody>
                  <a:tcPr marL="43989" marR="43989" marT="20303" marB="20303" anchor="ctr">
                    <a:solidFill>
                      <a:schemeClr val="tx1"/>
                    </a:solidFill>
                  </a:tcPr>
                </a:tc>
                <a:tc>
                  <a:txBody>
                    <a:bodyPr/>
                    <a:lstStyle/>
                    <a:p>
                      <a:r>
                        <a:rPr lang="en-AU" sz="1800">
                          <a:solidFill>
                            <a:schemeClr val="bg1"/>
                          </a:solidFill>
                          <a:effectLst/>
                        </a:rPr>
                        <a:t>signed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2788264578"/>
                  </a:ext>
                </a:extLst>
              </a:tr>
              <a:tr h="322667">
                <a:tc>
                  <a:txBody>
                    <a:bodyPr/>
                    <a:lstStyle/>
                    <a:p>
                      <a:r>
                        <a:rPr lang="en-AU" sz="1800">
                          <a:solidFill>
                            <a:schemeClr val="bg1"/>
                          </a:solidFill>
                          <a:effectLst/>
                        </a:rPr>
                        <a:t>'L'</a:t>
                      </a:r>
                    </a:p>
                  </a:txBody>
                  <a:tcPr marL="43989" marR="43989" marT="20303" marB="20303" anchor="ctr">
                    <a:solidFill>
                      <a:schemeClr val="tx1"/>
                    </a:solidFill>
                  </a:tcPr>
                </a:tc>
                <a:tc>
                  <a:txBody>
                    <a:bodyPr/>
                    <a:lstStyle/>
                    <a:p>
                      <a:r>
                        <a:rPr lang="en-AU" sz="1800">
                          <a:solidFill>
                            <a:schemeClr val="bg1"/>
                          </a:solidFill>
                          <a:effectLst/>
                        </a:rPr>
                        <a:t>unsigned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768579256"/>
                  </a:ext>
                </a:extLst>
              </a:tr>
              <a:tr h="322667">
                <a:tc>
                  <a:txBody>
                    <a:bodyPr/>
                    <a:lstStyle/>
                    <a:p>
                      <a:r>
                        <a:rPr lang="en-AU" sz="1800">
                          <a:solidFill>
                            <a:schemeClr val="bg1"/>
                          </a:solidFill>
                          <a:effectLst/>
                        </a:rPr>
                        <a:t>'q'</a:t>
                      </a:r>
                    </a:p>
                  </a:txBody>
                  <a:tcPr marL="43989" marR="43989" marT="20303" marB="20303" anchor="ctr">
                    <a:solidFill>
                      <a:schemeClr val="tx1"/>
                    </a:solidFill>
                  </a:tcPr>
                </a:tc>
                <a:tc>
                  <a:txBody>
                    <a:bodyPr/>
                    <a:lstStyle/>
                    <a:p>
                      <a:r>
                        <a:rPr lang="en-AU" sz="1800">
                          <a:solidFill>
                            <a:schemeClr val="bg1"/>
                          </a:solidFill>
                          <a:effectLst/>
                        </a:rPr>
                        <a:t>signed long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694697741"/>
                  </a:ext>
                </a:extLst>
              </a:tr>
              <a:tr h="417107">
                <a:tc>
                  <a:txBody>
                    <a:bodyPr/>
                    <a:lstStyle/>
                    <a:p>
                      <a:r>
                        <a:rPr lang="en-AU" sz="1800">
                          <a:solidFill>
                            <a:schemeClr val="bg1"/>
                          </a:solidFill>
                          <a:effectLst/>
                        </a:rPr>
                        <a:t>'Q'</a:t>
                      </a:r>
                    </a:p>
                  </a:txBody>
                  <a:tcPr marL="43989" marR="43989" marT="20303" marB="20303" anchor="ctr">
                    <a:solidFill>
                      <a:schemeClr val="tx1"/>
                    </a:solidFill>
                  </a:tcPr>
                </a:tc>
                <a:tc>
                  <a:txBody>
                    <a:bodyPr/>
                    <a:lstStyle/>
                    <a:p>
                      <a:r>
                        <a:rPr lang="en-AU" sz="1800">
                          <a:solidFill>
                            <a:schemeClr val="bg1"/>
                          </a:solidFill>
                          <a:effectLst/>
                        </a:rPr>
                        <a:t>unsigned long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238384427"/>
                  </a:ext>
                </a:extLst>
              </a:tr>
              <a:tr h="305186">
                <a:tc>
                  <a:txBody>
                    <a:bodyPr/>
                    <a:lstStyle/>
                    <a:p>
                      <a:r>
                        <a:rPr lang="en-AU" sz="1800">
                          <a:solidFill>
                            <a:schemeClr val="bg1"/>
                          </a:solidFill>
                          <a:effectLst/>
                        </a:rPr>
                        <a:t>'f'</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1837829840"/>
                  </a:ext>
                </a:extLst>
              </a:tr>
              <a:tr h="305186">
                <a:tc>
                  <a:txBody>
                    <a:bodyPr/>
                    <a:lstStyle/>
                    <a:p>
                      <a:r>
                        <a:rPr lang="en-AU" sz="1800">
                          <a:solidFill>
                            <a:schemeClr val="bg1"/>
                          </a:solidFill>
                          <a:effectLst/>
                        </a:rPr>
                        <a:t>'d'</a:t>
                      </a:r>
                    </a:p>
                  </a:txBody>
                  <a:tcPr marL="43989" marR="43989" marT="20303" marB="20303" anchor="ctr">
                    <a:solidFill>
                      <a:schemeClr val="tx1"/>
                    </a:solidFill>
                  </a:tcPr>
                </a:tc>
                <a:tc>
                  <a:txBody>
                    <a:bodyPr/>
                    <a:lstStyle/>
                    <a:p>
                      <a:r>
                        <a:rPr lang="en-AU" sz="1800">
                          <a:solidFill>
                            <a:schemeClr val="bg1"/>
                          </a:solidFill>
                          <a:effectLst/>
                        </a:rPr>
                        <a:t>double</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dirty="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11463549"/>
                  </a:ext>
                </a:extLst>
              </a:tr>
            </a:tbl>
          </a:graphicData>
        </a:graphic>
      </p:graphicFrame>
      <p:sp>
        <p:nvSpPr>
          <p:cNvPr id="7" name="TextBox 6">
            <a:extLst>
              <a:ext uri="{FF2B5EF4-FFF2-40B4-BE49-F238E27FC236}">
                <a16:creationId xmlns:a16="http://schemas.microsoft.com/office/drawing/2014/main" id="{40C83E86-2BA4-2043-C5D6-613BC6B434D7}"/>
              </a:ext>
            </a:extLst>
          </p:cNvPr>
          <p:cNvSpPr txBox="1"/>
          <p:nvPr/>
        </p:nvSpPr>
        <p:spPr>
          <a:xfrm>
            <a:off x="483124" y="702311"/>
            <a:ext cx="6094428" cy="1200329"/>
          </a:xfrm>
          <a:prstGeom prst="rect">
            <a:avLst/>
          </a:prstGeom>
          <a:solidFill>
            <a:schemeClr val="tx1"/>
          </a:solidFill>
        </p:spPr>
        <p:txBody>
          <a:bodyPr wrap="square">
            <a:spAutoFit/>
          </a:bodyPr>
          <a:lstStyle/>
          <a:p>
            <a:r>
              <a:rPr lang="en-AU" dirty="0">
                <a:solidFill>
                  <a:schemeClr val="accent1"/>
                </a:solidFill>
                <a:effectLst/>
                <a:latin typeface="Consolas" panose="020B0609020204030204" pitchFamily="49" charset="0"/>
              </a:rPr>
              <a:t>from</a:t>
            </a:r>
            <a:r>
              <a:rPr lang="en-AU" dirty="0">
                <a:solidFill>
                  <a:schemeClr val="accent1"/>
                </a:solidFill>
                <a:latin typeface="Consolas" panose="020B0609020204030204" pitchFamily="49" charset="0"/>
              </a:rPr>
              <a:t> </a:t>
            </a:r>
            <a:r>
              <a:rPr lang="en-AU" dirty="0">
                <a:solidFill>
                  <a:srgbClr val="7030A0"/>
                </a:solidFill>
                <a:latin typeface="Consolas" panose="020B0609020204030204" pitchFamily="49" charset="0"/>
              </a:rPr>
              <a:t>array</a:t>
            </a:r>
            <a:r>
              <a:rPr lang="en-AU" dirty="0">
                <a:solidFill>
                  <a:schemeClr val="accent1"/>
                </a:solidFill>
                <a:latin typeface="Consolas" panose="020B0609020204030204" pitchFamily="49" charset="0"/>
              </a:rPr>
              <a:t> </a:t>
            </a:r>
            <a:r>
              <a:rPr lang="en-AU" dirty="0">
                <a:solidFill>
                  <a:schemeClr val="accent1"/>
                </a:solidFill>
                <a:effectLst/>
                <a:latin typeface="Consolas" panose="020B0609020204030204" pitchFamily="49" charset="0"/>
              </a:rPr>
              <a:t>import</a:t>
            </a:r>
            <a:r>
              <a:rPr lang="en-AU" dirty="0">
                <a:solidFill>
                  <a:schemeClr val="accent1"/>
                </a:solidFill>
                <a:latin typeface="Consolas" panose="020B0609020204030204" pitchFamily="49" charset="0"/>
              </a:rPr>
              <a:t> </a:t>
            </a:r>
            <a:r>
              <a:rPr lang="en-AU" dirty="0">
                <a:solidFill>
                  <a:srgbClr val="7030A0"/>
                </a:solidFill>
                <a:latin typeface="Consolas" panose="020B0609020204030204" pitchFamily="49" charset="0"/>
              </a:rPr>
              <a:t>array </a:t>
            </a:r>
          </a:p>
          <a:p>
            <a:r>
              <a:rPr lang="en-AU" dirty="0" err="1">
                <a:solidFill>
                  <a:schemeClr val="accent1"/>
                </a:solidFill>
                <a:latin typeface="Consolas" panose="020B0609020204030204" pitchFamily="49" charset="0"/>
              </a:rPr>
              <a:t>so_primitive</a:t>
            </a:r>
            <a:r>
              <a:rPr lang="en-AU" dirty="0">
                <a:solidFill>
                  <a:schemeClr val="accent1"/>
                </a:solidFill>
                <a:latin typeface="Consolas" panose="020B0609020204030204" pitchFamily="49" charset="0"/>
              </a:rPr>
              <a:t> </a:t>
            </a:r>
            <a:r>
              <a:rPr lang="en-AU" dirty="0">
                <a:solidFill>
                  <a:schemeClr val="accent1"/>
                </a:solidFill>
                <a:effectLst/>
                <a:latin typeface="Consolas" panose="020B0609020204030204" pitchFamily="49" charset="0"/>
              </a:rPr>
              <a:t>=</a:t>
            </a:r>
            <a:r>
              <a:rPr lang="en-AU" dirty="0">
                <a:solidFill>
                  <a:schemeClr val="accent1"/>
                </a:solidFill>
                <a:latin typeface="Consolas" panose="020B0609020204030204" pitchFamily="49" charset="0"/>
              </a:rPr>
              <a:t> array</a:t>
            </a:r>
            <a:r>
              <a:rPr lang="en-AU" dirty="0">
                <a:solidFill>
                  <a:schemeClr val="accent1"/>
                </a:solidFill>
                <a:effectLst/>
                <a:latin typeface="Consolas" panose="020B0609020204030204" pitchFamily="49" charset="0"/>
              </a:rPr>
              <a:t>(</a:t>
            </a:r>
            <a:r>
              <a:rPr lang="en-AU" dirty="0">
                <a:solidFill>
                  <a:srgbClr val="FFC000"/>
                </a:solidFill>
                <a:effectLst/>
                <a:latin typeface="Consolas" panose="020B0609020204030204" pitchFamily="49" charset="0"/>
              </a:rPr>
              <a:t>'</a:t>
            </a:r>
            <a:r>
              <a:rPr lang="en-AU" dirty="0" err="1">
                <a:solidFill>
                  <a:srgbClr val="FFC000"/>
                </a:solidFill>
                <a:effectLst/>
                <a:latin typeface="Consolas" panose="020B0609020204030204" pitchFamily="49" charset="0"/>
              </a:rPr>
              <a:t>i</a:t>
            </a:r>
            <a:r>
              <a:rPr lang="en-AU" dirty="0">
                <a:solidFill>
                  <a:srgbClr val="FFC000"/>
                </a:solidFill>
                <a:effectLst/>
                <a:latin typeface="Consolas" panose="020B0609020204030204" pitchFamily="49" charset="0"/>
              </a:rPr>
              <a:t>',</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[1,</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2,</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3,</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4,</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5])</a:t>
            </a:r>
            <a:r>
              <a:rPr lang="en-AU" dirty="0">
                <a:solidFill>
                  <a:srgbClr val="FFC000"/>
                </a:solidFill>
                <a:latin typeface="Consolas" panose="020B0609020204030204" pitchFamily="49" charset="0"/>
              </a:rPr>
              <a:t> </a:t>
            </a:r>
            <a:br>
              <a:rPr lang="en-AU" dirty="0">
                <a:latin typeface="Consolas" panose="020B0609020204030204" pitchFamily="49" charset="0"/>
              </a:rPr>
            </a:br>
            <a:r>
              <a:rPr lang="en-AU" dirty="0">
                <a:solidFill>
                  <a:schemeClr val="accent3"/>
                </a:solidFill>
                <a:effectLst/>
                <a:latin typeface="Consolas" panose="020B0609020204030204" pitchFamily="49" charset="0"/>
              </a:rPr>
              <a:t># must include a format specifier</a:t>
            </a:r>
            <a:r>
              <a:rPr lang="en-AU" dirty="0">
                <a:solidFill>
                  <a:schemeClr val="accent3"/>
                </a:solidFill>
                <a:latin typeface="Consolas" panose="020B0609020204030204" pitchFamily="49" charset="0"/>
              </a:rPr>
              <a:t> </a:t>
            </a:r>
            <a:br>
              <a:rPr lang="en-AU" dirty="0">
                <a:solidFill>
                  <a:schemeClr val="accent3"/>
                </a:solidFill>
                <a:latin typeface="Consolas" panose="020B0609020204030204" pitchFamily="49" charset="0"/>
              </a:rPr>
            </a:br>
            <a:r>
              <a:rPr lang="en-AU" dirty="0">
                <a:solidFill>
                  <a:schemeClr val="accent3"/>
                </a:solidFill>
                <a:effectLst/>
                <a:latin typeface="Consolas" panose="020B0609020204030204" pitchFamily="49" charset="0"/>
              </a:rPr>
              <a:t># foundation of </a:t>
            </a:r>
            <a:r>
              <a:rPr lang="en-AU" dirty="0" err="1">
                <a:solidFill>
                  <a:schemeClr val="accent3"/>
                </a:solidFill>
                <a:effectLst/>
                <a:latin typeface="Consolas" panose="020B0609020204030204" pitchFamily="49" charset="0"/>
              </a:rPr>
              <a:t>numpy</a:t>
            </a:r>
            <a:r>
              <a:rPr lang="en-AU" dirty="0">
                <a:solidFill>
                  <a:schemeClr val="accent3"/>
                </a:solidFill>
                <a:effectLst/>
                <a:latin typeface="Consolas" panose="020B0609020204030204" pitchFamily="49" charset="0"/>
              </a:rPr>
              <a:t> arrays!</a:t>
            </a:r>
            <a:endParaRPr lang="en-US" dirty="0">
              <a:solidFill>
                <a:schemeClr val="accent3"/>
              </a:solidFill>
              <a:latin typeface="Consolas" panose="020B0609020204030204" pitchFamily="49" charset="0"/>
            </a:endParaRPr>
          </a:p>
        </p:txBody>
      </p:sp>
    </p:spTree>
    <p:extLst>
      <p:ext uri="{BB962C8B-B14F-4D97-AF65-F5344CB8AC3E}">
        <p14:creationId xmlns:p14="http://schemas.microsoft.com/office/powerpoint/2010/main" val="3259061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Measuring Time</a:t>
            </a:r>
            <a:endParaRPr lang="en-US" i="1" dirty="0">
              <a:solidFill>
                <a:srgbClr val="FFC000"/>
              </a:solidFill>
            </a:endParaRP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560148" cy="3149916"/>
          </a:xfrm>
        </p:spPr>
        <p:txBody>
          <a:bodyPr>
            <a:normAutofit lnSpcReduction="10000"/>
          </a:bodyPr>
          <a:lstStyle/>
          <a:p>
            <a:pPr marL="0" indent="0">
              <a:buNone/>
            </a:pPr>
            <a:r>
              <a:rPr lang="en-AU" dirty="0"/>
              <a:t>As programs become more complex the amount of time an algorithm takes to complete can become unknown and therefore a problem.</a:t>
            </a:r>
          </a:p>
          <a:p>
            <a:pPr marL="0" indent="0">
              <a:buNone/>
            </a:pPr>
            <a:endParaRPr lang="en-AU" dirty="0"/>
          </a:p>
          <a:p>
            <a:r>
              <a:rPr lang="en-AU" dirty="0"/>
              <a:t>we use Big O notation to evaluate work done.</a:t>
            </a:r>
          </a:p>
          <a:p>
            <a:r>
              <a:rPr lang="en-AU" dirty="0"/>
              <a:t>describes the time as worst-case scenario.</a:t>
            </a:r>
            <a:endParaRPr lang="en-US" dirty="0"/>
          </a:p>
        </p:txBody>
      </p:sp>
    </p:spTree>
    <p:extLst>
      <p:ext uri="{BB962C8B-B14F-4D97-AF65-F5344CB8AC3E}">
        <p14:creationId xmlns:p14="http://schemas.microsoft.com/office/powerpoint/2010/main" val="3454921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Constant time – </a:t>
            </a:r>
            <a:r>
              <a:rPr lang="en-US" i="1" dirty="0">
                <a:solidFill>
                  <a:srgbClr val="FFC000"/>
                </a:solidFill>
              </a:rPr>
              <a:t>O(1)</a:t>
            </a: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340898" cy="3149916"/>
          </a:xfrm>
        </p:spPr>
        <p:txBody>
          <a:bodyPr>
            <a:normAutofit/>
          </a:bodyPr>
          <a:lstStyle/>
          <a:p>
            <a:r>
              <a:rPr lang="en-US" dirty="0"/>
              <a:t>the time taken to access an element at a specific index is independent of the size of the collection. </a:t>
            </a:r>
          </a:p>
          <a:p>
            <a:endParaRPr lang="en-US" dirty="0"/>
          </a:p>
          <a:p>
            <a:r>
              <a:rPr lang="en-US" dirty="0"/>
              <a:t>suitable for scenarios where frequent random access to elements is required, e.g. searching or iteration</a:t>
            </a:r>
          </a:p>
        </p:txBody>
      </p:sp>
      <p:sp>
        <p:nvSpPr>
          <p:cNvPr id="3" name="TextBox 2">
            <a:extLst>
              <a:ext uri="{FF2B5EF4-FFF2-40B4-BE49-F238E27FC236}">
                <a16:creationId xmlns:a16="http://schemas.microsoft.com/office/drawing/2014/main" id="{B1821F19-6099-E3ED-5F47-20B0AA936EF7}"/>
              </a:ext>
            </a:extLst>
          </p:cNvPr>
          <p:cNvSpPr txBox="1"/>
          <p:nvPr/>
        </p:nvSpPr>
        <p:spPr>
          <a:xfrm>
            <a:off x="2797503" y="5520266"/>
            <a:ext cx="6143541" cy="369332"/>
          </a:xfrm>
          <a:prstGeom prst="rect">
            <a:avLst/>
          </a:prstGeom>
          <a:noFill/>
        </p:spPr>
        <p:txBody>
          <a:bodyPr wrap="none" rtlCol="0">
            <a:spAutoFit/>
          </a:bodyPr>
          <a:lstStyle/>
          <a:p>
            <a:r>
              <a:rPr lang="en-US" dirty="0">
                <a:solidFill>
                  <a:srgbClr val="FFC000"/>
                </a:solidFill>
              </a:rPr>
              <a:t>https://</a:t>
            </a:r>
            <a:r>
              <a:rPr lang="en-US" dirty="0" err="1">
                <a:solidFill>
                  <a:srgbClr val="FFC000"/>
                </a:solidFill>
              </a:rPr>
              <a:t>learning.oreilly.com</a:t>
            </a:r>
            <a:r>
              <a:rPr lang="en-US" dirty="0">
                <a:solidFill>
                  <a:srgbClr val="FFC000"/>
                </a:solidFill>
              </a:rPr>
              <a:t>/library/view/grokking-algorithms</a:t>
            </a:r>
          </a:p>
        </p:txBody>
      </p:sp>
    </p:spTree>
    <p:extLst>
      <p:ext uri="{BB962C8B-B14F-4D97-AF65-F5344CB8AC3E}">
        <p14:creationId xmlns:p14="http://schemas.microsoft.com/office/powerpoint/2010/main" val="1626073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Linear time – </a:t>
            </a:r>
            <a:r>
              <a:rPr lang="en-US" i="1" dirty="0">
                <a:solidFill>
                  <a:srgbClr val="FFC000"/>
                </a:solidFill>
              </a:rPr>
              <a:t>O(n)</a:t>
            </a: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972800" cy="3149916"/>
          </a:xfrm>
        </p:spPr>
        <p:txBody>
          <a:bodyPr>
            <a:normAutofit/>
          </a:bodyPr>
          <a:lstStyle/>
          <a:p>
            <a:r>
              <a:rPr lang="en-US" dirty="0"/>
              <a:t>the time taken to action an element &amp; is dependent on the size of the collection. </a:t>
            </a:r>
          </a:p>
          <a:p>
            <a:endParaRPr lang="en-US" dirty="0"/>
          </a:p>
          <a:p>
            <a:r>
              <a:rPr lang="en-US" dirty="0"/>
              <a:t>suitable for scenarios where items are placed or removed, e.g. insertion or deletion</a:t>
            </a:r>
          </a:p>
        </p:txBody>
      </p:sp>
      <p:sp>
        <p:nvSpPr>
          <p:cNvPr id="3" name="TextBox 2">
            <a:extLst>
              <a:ext uri="{FF2B5EF4-FFF2-40B4-BE49-F238E27FC236}">
                <a16:creationId xmlns:a16="http://schemas.microsoft.com/office/drawing/2014/main" id="{B1821F19-6099-E3ED-5F47-20B0AA936EF7}"/>
              </a:ext>
            </a:extLst>
          </p:cNvPr>
          <p:cNvSpPr txBox="1"/>
          <p:nvPr/>
        </p:nvSpPr>
        <p:spPr>
          <a:xfrm>
            <a:off x="2797503" y="5520266"/>
            <a:ext cx="6143541" cy="369332"/>
          </a:xfrm>
          <a:prstGeom prst="rect">
            <a:avLst/>
          </a:prstGeom>
          <a:noFill/>
        </p:spPr>
        <p:txBody>
          <a:bodyPr wrap="none" rtlCol="0">
            <a:spAutoFit/>
          </a:bodyPr>
          <a:lstStyle/>
          <a:p>
            <a:r>
              <a:rPr lang="en-US" dirty="0">
                <a:solidFill>
                  <a:srgbClr val="FFC000"/>
                </a:solidFill>
              </a:rPr>
              <a:t>https://</a:t>
            </a:r>
            <a:r>
              <a:rPr lang="en-US" dirty="0" err="1">
                <a:solidFill>
                  <a:srgbClr val="FFC000"/>
                </a:solidFill>
              </a:rPr>
              <a:t>learning.oreilly.com</a:t>
            </a:r>
            <a:r>
              <a:rPr lang="en-US" dirty="0">
                <a:solidFill>
                  <a:srgbClr val="FFC000"/>
                </a:solidFill>
              </a:rPr>
              <a:t>/library/view/grokking-algorithms</a:t>
            </a:r>
          </a:p>
        </p:txBody>
      </p:sp>
    </p:spTree>
    <p:extLst>
      <p:ext uri="{BB962C8B-B14F-4D97-AF65-F5344CB8AC3E}">
        <p14:creationId xmlns:p14="http://schemas.microsoft.com/office/powerpoint/2010/main" val="4200078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7BFC-FB0C-1702-E56D-D31843AB0B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62FC55-F1D4-2865-E909-4534111B918B}"/>
              </a:ext>
            </a:extLst>
          </p:cNvPr>
          <p:cNvSpPr>
            <a:spLocks noGrp="1"/>
          </p:cNvSpPr>
          <p:nvPr>
            <p:ph type="title"/>
          </p:nvPr>
        </p:nvSpPr>
        <p:spPr/>
        <p:txBody>
          <a:bodyPr/>
          <a:lstStyle/>
          <a:p>
            <a:r>
              <a:rPr lang="en-US" dirty="0"/>
              <a:t>Work Done &amp; Growth</a:t>
            </a:r>
            <a:endParaRPr lang="en-US" i="1" dirty="0">
              <a:solidFill>
                <a:srgbClr val="FFC000"/>
              </a:solidFill>
            </a:endParaRPr>
          </a:p>
        </p:txBody>
      </p:sp>
      <p:pic>
        <p:nvPicPr>
          <p:cNvPr id="6" name="Content Placeholder 5" descr="A diagram of a function&#10;&#10;AI-generated content may be incorrect.">
            <a:extLst>
              <a:ext uri="{FF2B5EF4-FFF2-40B4-BE49-F238E27FC236}">
                <a16:creationId xmlns:a16="http://schemas.microsoft.com/office/drawing/2014/main" id="{6C36575D-795A-AEC3-7535-DF03F9A5B1DC}"/>
              </a:ext>
            </a:extLst>
          </p:cNvPr>
          <p:cNvPicPr>
            <a:picLocks noGrp="1" noChangeAspect="1"/>
          </p:cNvPicPr>
          <p:nvPr>
            <p:ph idx="1"/>
          </p:nvPr>
        </p:nvPicPr>
        <p:blipFill>
          <a:blip r:embed="rId3"/>
          <a:stretch>
            <a:fillRect/>
          </a:stretch>
        </p:blipFill>
        <p:spPr>
          <a:xfrm>
            <a:off x="695094" y="1588144"/>
            <a:ext cx="5515812" cy="4769964"/>
          </a:xfrm>
        </p:spPr>
      </p:pic>
      <p:sp>
        <p:nvSpPr>
          <p:cNvPr id="8" name="TextBox 7">
            <a:extLst>
              <a:ext uri="{FF2B5EF4-FFF2-40B4-BE49-F238E27FC236}">
                <a16:creationId xmlns:a16="http://schemas.microsoft.com/office/drawing/2014/main" id="{8E4106A4-FD60-5A47-5291-6CA3B2AA9EDF}"/>
              </a:ext>
            </a:extLst>
          </p:cNvPr>
          <p:cNvSpPr txBox="1"/>
          <p:nvPr/>
        </p:nvSpPr>
        <p:spPr>
          <a:xfrm>
            <a:off x="6648915" y="5834888"/>
            <a:ext cx="5405553" cy="523220"/>
          </a:xfrm>
          <a:prstGeom prst="rect">
            <a:avLst/>
          </a:prstGeom>
          <a:noFill/>
        </p:spPr>
        <p:txBody>
          <a:bodyPr wrap="square">
            <a:spAutoFit/>
          </a:bodyPr>
          <a:lstStyle/>
          <a:p>
            <a:r>
              <a:rPr lang="en-AU" sz="1400" dirty="0">
                <a:solidFill>
                  <a:schemeClr val="bg1"/>
                </a:solidFill>
                <a:hlinkClick r:id="rId4">
                  <a:extLst>
                    <a:ext uri="{A12FA001-AC4F-418D-AE19-62706E023703}">
                      <ahyp:hlinkClr xmlns:ahyp="http://schemas.microsoft.com/office/drawing/2018/hyperlinkcolor" val="tx"/>
                    </a:ext>
                  </a:extLst>
                </a:hlinkClick>
              </a:rPr>
              <a:t>How To Calculate Time Complexity With Big O Notation | by Maxwell Harvey Croy | </a:t>
            </a:r>
            <a:r>
              <a:rPr lang="en-AU" sz="1400" dirty="0" err="1">
                <a:solidFill>
                  <a:schemeClr val="bg1"/>
                </a:solidFill>
                <a:hlinkClick r:id="rId4">
                  <a:extLst>
                    <a:ext uri="{A12FA001-AC4F-418D-AE19-62706E023703}">
                      <ahyp:hlinkClr xmlns:ahyp="http://schemas.microsoft.com/office/drawing/2018/hyperlinkcolor" val="tx"/>
                    </a:ext>
                  </a:extLst>
                </a:hlinkClick>
              </a:rPr>
              <a:t>DataSeries</a:t>
            </a:r>
            <a:r>
              <a:rPr lang="en-AU" sz="1400" dirty="0">
                <a:solidFill>
                  <a:schemeClr val="bg1"/>
                </a:solidFill>
                <a:hlinkClick r:id="rId4">
                  <a:extLst>
                    <a:ext uri="{A12FA001-AC4F-418D-AE19-62706E023703}">
                      <ahyp:hlinkClr xmlns:ahyp="http://schemas.microsoft.com/office/drawing/2018/hyperlinkcolor" val="tx"/>
                    </a:ext>
                  </a:extLst>
                </a:hlinkClick>
              </a:rPr>
              <a:t> | Medium</a:t>
            </a:r>
            <a:endParaRPr lang="en-AU" sz="1400" dirty="0">
              <a:solidFill>
                <a:schemeClr val="bg1"/>
              </a:solidFill>
            </a:endParaRPr>
          </a:p>
        </p:txBody>
      </p:sp>
      <p:sp>
        <p:nvSpPr>
          <p:cNvPr id="12" name="TextBox 11">
            <a:extLst>
              <a:ext uri="{FF2B5EF4-FFF2-40B4-BE49-F238E27FC236}">
                <a16:creationId xmlns:a16="http://schemas.microsoft.com/office/drawing/2014/main" id="{FB148B4A-3E93-C778-90BE-E51A49F478B3}"/>
              </a:ext>
            </a:extLst>
          </p:cNvPr>
          <p:cNvSpPr txBox="1"/>
          <p:nvPr/>
        </p:nvSpPr>
        <p:spPr>
          <a:xfrm>
            <a:off x="6648915" y="2768888"/>
            <a:ext cx="5104470" cy="1815882"/>
          </a:xfrm>
          <a:prstGeom prst="rect">
            <a:avLst/>
          </a:prstGeom>
          <a:noFill/>
        </p:spPr>
        <p:txBody>
          <a:bodyPr wrap="square">
            <a:spAutoFit/>
          </a:bodyPr>
          <a:lstStyle/>
          <a:p>
            <a:r>
              <a:rPr lang="en-US" sz="2800" dirty="0">
                <a:solidFill>
                  <a:schemeClr val="bg1"/>
                </a:solidFill>
              </a:rPr>
              <a:t>We are measuring the growth in work that the computer needs to do to complete the task</a:t>
            </a:r>
          </a:p>
        </p:txBody>
      </p:sp>
    </p:spTree>
    <p:extLst>
      <p:ext uri="{BB962C8B-B14F-4D97-AF65-F5344CB8AC3E}">
        <p14:creationId xmlns:p14="http://schemas.microsoft.com/office/powerpoint/2010/main" val="1572457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5F88-8DBF-067A-8865-BA27A88C88D8}"/>
              </a:ext>
            </a:extLst>
          </p:cNvPr>
          <p:cNvSpPr>
            <a:spLocks noGrp="1"/>
          </p:cNvSpPr>
          <p:nvPr>
            <p:ph type="title"/>
          </p:nvPr>
        </p:nvSpPr>
        <p:spPr/>
        <p:txBody>
          <a:bodyPr/>
          <a:lstStyle/>
          <a:p>
            <a:r>
              <a:rPr lang="en-US" dirty="0"/>
              <a:t>Linked Lists</a:t>
            </a:r>
          </a:p>
        </p:txBody>
      </p:sp>
      <p:sp>
        <p:nvSpPr>
          <p:cNvPr id="9" name="TextBox 8">
            <a:extLst>
              <a:ext uri="{FF2B5EF4-FFF2-40B4-BE49-F238E27FC236}">
                <a16:creationId xmlns:a16="http://schemas.microsoft.com/office/drawing/2014/main" id="{5D415AD9-CB15-ACE0-F649-39AB3127750F}"/>
              </a:ext>
            </a:extLst>
          </p:cNvPr>
          <p:cNvSpPr txBox="1"/>
          <p:nvPr/>
        </p:nvSpPr>
        <p:spPr>
          <a:xfrm>
            <a:off x="4012222" y="5354903"/>
            <a:ext cx="4167555" cy="307777"/>
          </a:xfrm>
          <a:prstGeom prst="rect">
            <a:avLst/>
          </a:prstGeom>
          <a:noFill/>
        </p:spPr>
        <p:txBody>
          <a:bodyPr wrap="square">
            <a:spAutoFit/>
          </a:bodyPr>
          <a:lstStyle/>
          <a:p>
            <a:r>
              <a:rPr lang="en-AU" sz="1400" dirty="0">
                <a:solidFill>
                  <a:schemeClr val="bg1"/>
                </a:solidFill>
              </a:rPr>
              <a:t>https://www.youtube.com/watch?v=cOfhwxirhUE</a:t>
            </a:r>
          </a:p>
        </p:txBody>
      </p:sp>
      <p:pic>
        <p:nvPicPr>
          <p:cNvPr id="5" name="Picture 4" descr="A screenshot of a video&#10;&#10;AI-generated content may be incorrect.">
            <a:extLst>
              <a:ext uri="{FF2B5EF4-FFF2-40B4-BE49-F238E27FC236}">
                <a16:creationId xmlns:a16="http://schemas.microsoft.com/office/drawing/2014/main" id="{86F9C5C0-B607-135F-3434-9CF8C4E8B58E}"/>
              </a:ext>
            </a:extLst>
          </p:cNvPr>
          <p:cNvPicPr>
            <a:picLocks noChangeAspect="1"/>
          </p:cNvPicPr>
          <p:nvPr/>
        </p:nvPicPr>
        <p:blipFill>
          <a:blip r:embed="rId3"/>
          <a:srcRect t="34187" b="20914"/>
          <a:stretch/>
        </p:blipFill>
        <p:spPr>
          <a:xfrm>
            <a:off x="1800188" y="2447502"/>
            <a:ext cx="7772400" cy="1962996"/>
          </a:xfrm>
          <a:prstGeom prst="rect">
            <a:avLst/>
          </a:prstGeom>
        </p:spPr>
      </p:pic>
    </p:spTree>
    <p:extLst>
      <p:ext uri="{BB962C8B-B14F-4D97-AF65-F5344CB8AC3E}">
        <p14:creationId xmlns:p14="http://schemas.microsoft.com/office/powerpoint/2010/main" val="1612912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5F88-8DBF-067A-8865-BA27A88C88D8}"/>
              </a:ext>
            </a:extLst>
          </p:cNvPr>
          <p:cNvSpPr>
            <a:spLocks noGrp="1"/>
          </p:cNvSpPr>
          <p:nvPr>
            <p:ph type="title"/>
          </p:nvPr>
        </p:nvSpPr>
        <p:spPr/>
        <p:txBody>
          <a:bodyPr/>
          <a:lstStyle/>
          <a:p>
            <a:r>
              <a:rPr lang="en-US" dirty="0"/>
              <a:t>Linked Lists</a:t>
            </a:r>
          </a:p>
        </p:txBody>
      </p:sp>
      <p:sp>
        <p:nvSpPr>
          <p:cNvPr id="3" name="Content Placeholder 2">
            <a:extLst>
              <a:ext uri="{FF2B5EF4-FFF2-40B4-BE49-F238E27FC236}">
                <a16:creationId xmlns:a16="http://schemas.microsoft.com/office/drawing/2014/main" id="{D06B4C67-7BBF-C530-BE41-8D78CDE313FF}"/>
              </a:ext>
            </a:extLst>
          </p:cNvPr>
          <p:cNvSpPr>
            <a:spLocks noGrp="1"/>
          </p:cNvSpPr>
          <p:nvPr>
            <p:ph idx="1"/>
          </p:nvPr>
        </p:nvSpPr>
        <p:spPr>
          <a:xfrm>
            <a:off x="609600" y="2385461"/>
            <a:ext cx="10972800" cy="2552299"/>
          </a:xfrm>
        </p:spPr>
        <p:txBody>
          <a:bodyPr/>
          <a:lstStyle/>
          <a:p>
            <a:r>
              <a:rPr lang="en-US" dirty="0"/>
              <a:t>The gateway drug into data structures</a:t>
            </a:r>
          </a:p>
          <a:p>
            <a:r>
              <a:rPr lang="en-US" dirty="0"/>
              <a:t>Consists of nodes: data and references</a:t>
            </a:r>
          </a:p>
          <a:p>
            <a:r>
              <a:rPr lang="en-US" b="1" dirty="0"/>
              <a:t>Single</a:t>
            </a:r>
            <a:r>
              <a:rPr lang="en-US" dirty="0"/>
              <a:t>: nodes only point forward</a:t>
            </a:r>
          </a:p>
          <a:p>
            <a:r>
              <a:rPr lang="en-US" b="1" dirty="0"/>
              <a:t>Double</a:t>
            </a:r>
            <a:r>
              <a:rPr lang="en-US" dirty="0"/>
              <a:t>: nodes point forward and backwards</a:t>
            </a:r>
          </a:p>
        </p:txBody>
      </p:sp>
    </p:spTree>
    <p:extLst>
      <p:ext uri="{BB962C8B-B14F-4D97-AF65-F5344CB8AC3E}">
        <p14:creationId xmlns:p14="http://schemas.microsoft.com/office/powerpoint/2010/main" val="3648928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340E-6F66-277D-4C07-6704FC4641DA}"/>
              </a:ext>
            </a:extLst>
          </p:cNvPr>
          <p:cNvSpPr>
            <a:spLocks noGrp="1"/>
          </p:cNvSpPr>
          <p:nvPr>
            <p:ph type="title"/>
          </p:nvPr>
        </p:nvSpPr>
        <p:spPr/>
        <p:txBody>
          <a:bodyPr/>
          <a:lstStyle/>
          <a:p>
            <a:r>
              <a:rPr lang="en-US" dirty="0"/>
              <a:t>Queues and stacks</a:t>
            </a:r>
          </a:p>
        </p:txBody>
      </p:sp>
      <p:sp>
        <p:nvSpPr>
          <p:cNvPr id="3" name="Content Placeholder 2">
            <a:extLst>
              <a:ext uri="{FF2B5EF4-FFF2-40B4-BE49-F238E27FC236}">
                <a16:creationId xmlns:a16="http://schemas.microsoft.com/office/drawing/2014/main" id="{D45D63C6-55BF-62E7-8793-37ADC6F81802}"/>
              </a:ext>
            </a:extLst>
          </p:cNvPr>
          <p:cNvSpPr>
            <a:spLocks noGrp="1"/>
          </p:cNvSpPr>
          <p:nvPr>
            <p:ph idx="1"/>
          </p:nvPr>
        </p:nvSpPr>
        <p:spPr>
          <a:xfrm>
            <a:off x="609600" y="2319551"/>
            <a:ext cx="10972800" cy="2608050"/>
          </a:xfrm>
        </p:spPr>
        <p:txBody>
          <a:bodyPr/>
          <a:lstStyle/>
          <a:p>
            <a:r>
              <a:rPr lang="en-US" dirty="0"/>
              <a:t>Collection types - Last In First Out (LIFO) and First In First Out (FIFO (not ‘works in the mines’)</a:t>
            </a:r>
          </a:p>
          <a:p>
            <a:r>
              <a:rPr lang="en-AU" dirty="0"/>
              <a:t>Python: </a:t>
            </a:r>
            <a:r>
              <a:rPr lang="en-AU" dirty="0" err="1"/>
              <a:t>collections.deque</a:t>
            </a:r>
            <a:r>
              <a:rPr lang="en-AU" dirty="0"/>
              <a:t> (pronounced DECK): </a:t>
            </a:r>
            <a:br>
              <a:rPr lang="en-AU" dirty="0"/>
            </a:br>
            <a:r>
              <a:rPr lang="en-AU" dirty="0"/>
              <a:t>A double-ended queue</a:t>
            </a:r>
            <a:endParaRPr lang="en-US" dirty="0"/>
          </a:p>
        </p:txBody>
      </p:sp>
    </p:spTree>
    <p:extLst>
      <p:ext uri="{BB962C8B-B14F-4D97-AF65-F5344CB8AC3E}">
        <p14:creationId xmlns:p14="http://schemas.microsoft.com/office/powerpoint/2010/main" val="1739078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18E30-3EF7-DEF3-E40F-1D901F870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09A59-758D-3100-9BDB-2B5536773C30}"/>
              </a:ext>
            </a:extLst>
          </p:cNvPr>
          <p:cNvSpPr>
            <a:spLocks noGrp="1"/>
          </p:cNvSpPr>
          <p:nvPr>
            <p:ph type="title"/>
          </p:nvPr>
        </p:nvSpPr>
        <p:spPr/>
        <p:txBody>
          <a:bodyPr/>
          <a:lstStyle/>
          <a:p>
            <a:r>
              <a:rPr lang="en-US" dirty="0"/>
              <a:t>Stacks - LIFO</a:t>
            </a:r>
          </a:p>
        </p:txBody>
      </p:sp>
      <p:sp>
        <p:nvSpPr>
          <p:cNvPr id="3" name="Content Placeholder 2">
            <a:extLst>
              <a:ext uri="{FF2B5EF4-FFF2-40B4-BE49-F238E27FC236}">
                <a16:creationId xmlns:a16="http://schemas.microsoft.com/office/drawing/2014/main" id="{18C86BBD-2E9A-39BB-E460-B28C5F2A69AF}"/>
              </a:ext>
            </a:extLst>
          </p:cNvPr>
          <p:cNvSpPr>
            <a:spLocks noGrp="1"/>
          </p:cNvSpPr>
          <p:nvPr>
            <p:ph idx="1"/>
          </p:nvPr>
        </p:nvSpPr>
        <p:spPr>
          <a:xfrm>
            <a:off x="355601" y="1701125"/>
            <a:ext cx="6439094" cy="4563491"/>
          </a:xfrm>
        </p:spPr>
        <p:txBody>
          <a:bodyPr>
            <a:normAutofit lnSpcReduction="10000"/>
          </a:bodyPr>
          <a:lstStyle/>
          <a:p>
            <a:pPr marL="0" indent="0">
              <a:buNone/>
            </a:pPr>
            <a:r>
              <a:rPr lang="en-AU" dirty="0"/>
              <a:t>Used in managing function calls in recursion</a:t>
            </a:r>
          </a:p>
          <a:p>
            <a:r>
              <a:rPr lang="en-AU" b="1" i="1" dirty="0">
                <a:solidFill>
                  <a:srgbClr val="FFC000"/>
                </a:solidFill>
              </a:rPr>
              <a:t>append() </a:t>
            </a:r>
            <a:r>
              <a:rPr lang="en-AU" dirty="0"/>
              <a:t>adds an element to the top of the stack, </a:t>
            </a:r>
          </a:p>
          <a:p>
            <a:r>
              <a:rPr lang="en-AU" b="1" i="1" dirty="0">
                <a:solidFill>
                  <a:srgbClr val="FFC000"/>
                </a:solidFill>
              </a:rPr>
              <a:t>pop() </a:t>
            </a:r>
            <a:r>
              <a:rPr lang="en-AU" dirty="0"/>
              <a:t>removes &amp; returns the top element from the stack.</a:t>
            </a:r>
          </a:p>
          <a:p>
            <a:r>
              <a:rPr lang="en-AU" dirty="0"/>
              <a:t>use the </a:t>
            </a:r>
            <a:r>
              <a:rPr lang="en-AU" b="1" i="1" dirty="0" err="1">
                <a:solidFill>
                  <a:srgbClr val="FFC000"/>
                </a:solidFill>
              </a:rPr>
              <a:t>collections.deque</a:t>
            </a:r>
            <a:r>
              <a:rPr lang="en-AU" b="1" i="1" dirty="0">
                <a:solidFill>
                  <a:srgbClr val="FFC000"/>
                </a:solidFill>
              </a:rPr>
              <a:t> </a:t>
            </a:r>
            <a:r>
              <a:rPr lang="en-AU" dirty="0"/>
              <a:t>class which provides add/remove operations.</a:t>
            </a:r>
            <a:endParaRPr lang="en-US" dirty="0"/>
          </a:p>
        </p:txBody>
      </p:sp>
      <p:sp>
        <p:nvSpPr>
          <p:cNvPr id="5" name="TextBox 4">
            <a:extLst>
              <a:ext uri="{FF2B5EF4-FFF2-40B4-BE49-F238E27FC236}">
                <a16:creationId xmlns:a16="http://schemas.microsoft.com/office/drawing/2014/main" id="{855F068D-C499-9DB0-B761-2755FB752719}"/>
              </a:ext>
            </a:extLst>
          </p:cNvPr>
          <p:cNvSpPr txBox="1"/>
          <p:nvPr/>
        </p:nvSpPr>
        <p:spPr>
          <a:xfrm>
            <a:off x="7005710" y="2459376"/>
            <a:ext cx="5041705" cy="3046988"/>
          </a:xfrm>
          <a:prstGeom prst="rect">
            <a:avLst/>
          </a:prstGeom>
          <a:noFill/>
        </p:spPr>
        <p:txBody>
          <a:bodyPr wrap="square">
            <a:spAutoFit/>
          </a:bodyPr>
          <a:lstStyle/>
          <a:p>
            <a:r>
              <a:rPr lang="en-AU" sz="1600" b="0" dirty="0">
                <a:solidFill>
                  <a:srgbClr val="569CD6"/>
                </a:solidFill>
                <a:effectLst/>
                <a:highlight>
                  <a:srgbClr val="000000"/>
                </a:highlight>
                <a:latin typeface="Consolas" panose="020B0609020204030204" pitchFamily="49" charset="0"/>
              </a:rPr>
              <a:t>def</a:t>
            </a:r>
            <a:r>
              <a:rPr lang="en-AU" sz="1600" b="0" dirty="0">
                <a:solidFill>
                  <a:srgbClr val="CCCCCC"/>
                </a:solidFill>
                <a:effectLst/>
                <a:highlight>
                  <a:srgbClr val="000000"/>
                </a:highlight>
                <a:latin typeface="Consolas" panose="020B0609020204030204" pitchFamily="49" charset="0"/>
              </a:rPr>
              <a:t> </a:t>
            </a:r>
            <a:r>
              <a:rPr lang="en-AU" sz="1600" b="0" dirty="0">
                <a:solidFill>
                  <a:srgbClr val="DCDCAA"/>
                </a:solidFill>
                <a:effectLst/>
                <a:highlight>
                  <a:srgbClr val="000000"/>
                </a:highlight>
                <a:latin typeface="Consolas" panose="020B0609020204030204" pitchFamily="49" charset="0"/>
              </a:rPr>
              <a:t>push</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self</a:t>
            </a:r>
            <a:r>
              <a:rPr lang="en-AU" sz="1600" b="0" dirty="0">
                <a:solidFill>
                  <a:srgbClr val="CCCCCC"/>
                </a:solidFill>
                <a:effectLst/>
                <a:highlight>
                  <a:srgbClr val="000000"/>
                </a:highlight>
                <a:latin typeface="Consolas" panose="020B0609020204030204" pitchFamily="49" charset="0"/>
              </a:rPr>
              <a:t>, </a:t>
            </a:r>
            <a:r>
              <a:rPr lang="en-AU" sz="1600" b="0" dirty="0">
                <a:solidFill>
                  <a:srgbClr val="9CDCFE"/>
                </a:solidFill>
                <a:effectLst/>
                <a:highlight>
                  <a:srgbClr val="000000"/>
                </a:highlight>
                <a:latin typeface="Consolas" panose="020B0609020204030204" pitchFamily="49" charset="0"/>
              </a:rPr>
              <a:t>item</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Add an item to the top of the stack</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9CDCFE"/>
                </a:solidFill>
                <a:effectLst/>
                <a:highlight>
                  <a:srgbClr val="000000"/>
                </a:highlight>
                <a:latin typeface="Consolas" panose="020B0609020204030204" pitchFamily="49" charset="0"/>
              </a:rPr>
              <a:t>stack</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append</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item</a:t>
            </a:r>
            <a:r>
              <a:rPr lang="en-AU" sz="1600" b="0" dirty="0">
                <a:solidFill>
                  <a:srgbClr val="CCCCCC"/>
                </a:solidFill>
                <a:effectLst/>
                <a:highlight>
                  <a:srgbClr val="000000"/>
                </a:highlight>
                <a:latin typeface="Consolas" panose="020B0609020204030204" pitchFamily="49" charset="0"/>
              </a:rPr>
              <a:t>) </a:t>
            </a:r>
          </a:p>
          <a:p>
            <a:br>
              <a:rPr lang="en-AU" sz="1600" b="0" dirty="0">
                <a:solidFill>
                  <a:srgbClr val="CCCCCC"/>
                </a:solidFill>
                <a:effectLst/>
                <a:highlight>
                  <a:srgbClr val="000000"/>
                </a:highlight>
                <a:latin typeface="Consolas" panose="020B0609020204030204" pitchFamily="49" charset="0"/>
              </a:rPr>
            </a:br>
            <a:r>
              <a:rPr lang="en-AU" sz="1600" b="0" dirty="0">
                <a:solidFill>
                  <a:srgbClr val="569CD6"/>
                </a:solidFill>
                <a:effectLst/>
                <a:highlight>
                  <a:srgbClr val="000000"/>
                </a:highlight>
                <a:latin typeface="Consolas" panose="020B0609020204030204" pitchFamily="49" charset="0"/>
              </a:rPr>
              <a:t>def</a:t>
            </a:r>
            <a:r>
              <a:rPr lang="en-AU" sz="1600" b="0" dirty="0">
                <a:solidFill>
                  <a:srgbClr val="CCCCCC"/>
                </a:solidFill>
                <a:effectLst/>
                <a:highlight>
                  <a:srgbClr val="000000"/>
                </a:highlight>
                <a:latin typeface="Consolas" panose="020B0609020204030204" pitchFamily="49" charset="0"/>
              </a:rPr>
              <a:t> </a:t>
            </a:r>
            <a:r>
              <a:rPr lang="en-AU" sz="1600" b="0" dirty="0">
                <a:solidFill>
                  <a:srgbClr val="DCDCAA"/>
                </a:solidFill>
                <a:effectLst/>
                <a:highlight>
                  <a:srgbClr val="000000"/>
                </a:highlight>
                <a:latin typeface="Consolas" panose="020B0609020204030204" pitchFamily="49" charset="0"/>
              </a:rPr>
              <a:t>pop</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self</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if</a:t>
            </a:r>
            <a:r>
              <a:rPr lang="en-AU" sz="1600" b="0" dirty="0">
                <a:solidFill>
                  <a:srgbClr val="CCCCCC"/>
                </a:solidFill>
                <a:effectLst/>
                <a:highlight>
                  <a:srgbClr val="000000"/>
                </a:highlight>
                <a:latin typeface="Consolas" panose="020B0609020204030204" pitchFamily="49" charset="0"/>
              </a:rPr>
              <a:t> </a:t>
            </a:r>
            <a:r>
              <a:rPr lang="en-AU" sz="1600" b="0" dirty="0">
                <a:solidFill>
                  <a:srgbClr val="569CD6"/>
                </a:solidFill>
                <a:effectLst/>
                <a:highlight>
                  <a:srgbClr val="000000"/>
                </a:highlight>
                <a:latin typeface="Consolas" panose="020B0609020204030204" pitchFamily="49" charset="0"/>
              </a:rPr>
              <a:t>not</a:t>
            </a:r>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is_empty</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Remove and return the top item</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return</a:t>
            </a:r>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9CDCFE"/>
                </a:solidFill>
                <a:effectLst/>
                <a:highlight>
                  <a:srgbClr val="000000"/>
                </a:highlight>
                <a:latin typeface="Consolas" panose="020B0609020204030204" pitchFamily="49" charset="0"/>
              </a:rPr>
              <a:t>stack</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pop</a:t>
            </a:r>
            <a:r>
              <a:rPr lang="en-AU" sz="1600" b="0" dirty="0">
                <a:solidFill>
                  <a:srgbClr val="CCCCCC"/>
                </a:solidFill>
                <a:effectLst/>
                <a:highlight>
                  <a:srgbClr val="000000"/>
                </a:highlight>
                <a:latin typeface="Consolas" panose="020B0609020204030204" pitchFamily="49" charset="0"/>
              </a:rPr>
              <a:t>()  </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else</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Return None if the stack is empty</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return</a:t>
            </a:r>
            <a:r>
              <a:rPr lang="en-AU" sz="1600" b="0" dirty="0">
                <a:solidFill>
                  <a:srgbClr val="CCCCCC"/>
                </a:solidFill>
                <a:effectLst/>
                <a:highlight>
                  <a:srgbClr val="000000"/>
                </a:highlight>
                <a:latin typeface="Consolas" panose="020B0609020204030204" pitchFamily="49" charset="0"/>
              </a:rPr>
              <a:t> </a:t>
            </a:r>
            <a:r>
              <a:rPr lang="en-AU" sz="1600" b="0" dirty="0">
                <a:solidFill>
                  <a:srgbClr val="4FC1FF"/>
                </a:solidFill>
                <a:effectLst/>
                <a:highlight>
                  <a:srgbClr val="000000"/>
                </a:highlight>
                <a:latin typeface="Consolas" panose="020B0609020204030204" pitchFamily="49" charset="0"/>
              </a:rPr>
              <a:t>None</a:t>
            </a:r>
            <a:r>
              <a:rPr lang="en-AU" sz="1600" b="0" dirty="0">
                <a:solidFill>
                  <a:srgbClr val="CCCCCC"/>
                </a:solidFill>
                <a:effectLst/>
                <a:highlight>
                  <a:srgbClr val="000000"/>
                </a:highlight>
                <a:latin typeface="Consolas" panose="020B0609020204030204" pitchFamily="49" charset="0"/>
              </a:rPr>
              <a:t> </a:t>
            </a:r>
          </a:p>
        </p:txBody>
      </p:sp>
    </p:spTree>
    <p:extLst>
      <p:ext uri="{BB962C8B-B14F-4D97-AF65-F5344CB8AC3E}">
        <p14:creationId xmlns:p14="http://schemas.microsoft.com/office/powerpoint/2010/main" val="680702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CEE2-26A1-F108-588D-056854318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F0B31-1938-D777-4447-D6DE18FB0D34}"/>
              </a:ext>
            </a:extLst>
          </p:cNvPr>
          <p:cNvSpPr>
            <a:spLocks noGrp="1"/>
          </p:cNvSpPr>
          <p:nvPr>
            <p:ph type="title"/>
          </p:nvPr>
        </p:nvSpPr>
        <p:spPr/>
        <p:txBody>
          <a:bodyPr/>
          <a:lstStyle/>
          <a:p>
            <a:r>
              <a:rPr lang="en-US" dirty="0"/>
              <a:t>Queues - FIFO</a:t>
            </a:r>
          </a:p>
        </p:txBody>
      </p:sp>
      <p:sp>
        <p:nvSpPr>
          <p:cNvPr id="3" name="Content Placeholder 2">
            <a:extLst>
              <a:ext uri="{FF2B5EF4-FFF2-40B4-BE49-F238E27FC236}">
                <a16:creationId xmlns:a16="http://schemas.microsoft.com/office/drawing/2014/main" id="{A1597F5A-F994-BAA2-BA31-2795F3FD25C6}"/>
              </a:ext>
            </a:extLst>
          </p:cNvPr>
          <p:cNvSpPr>
            <a:spLocks noGrp="1"/>
          </p:cNvSpPr>
          <p:nvPr>
            <p:ph idx="1"/>
          </p:nvPr>
        </p:nvSpPr>
        <p:spPr>
          <a:xfrm>
            <a:off x="5477934" y="1604274"/>
            <a:ext cx="5977466" cy="4563491"/>
          </a:xfrm>
        </p:spPr>
        <p:txBody>
          <a:bodyPr>
            <a:normAutofit fontScale="92500"/>
          </a:bodyPr>
          <a:lstStyle/>
          <a:p>
            <a:r>
              <a:rPr lang="en-AU" dirty="0"/>
              <a:t>managing resources, like CPU scheduling &amp; handling requests.</a:t>
            </a:r>
          </a:p>
          <a:p>
            <a:r>
              <a:rPr lang="en-AU" dirty="0"/>
              <a:t>we can use the queue module in the standard library</a:t>
            </a:r>
          </a:p>
          <a:p>
            <a:r>
              <a:rPr lang="en-AU" dirty="0"/>
              <a:t>provides a FIFO queue using </a:t>
            </a:r>
            <a:r>
              <a:rPr lang="en-AU" b="1" dirty="0">
                <a:solidFill>
                  <a:srgbClr val="FFC000"/>
                </a:solidFill>
              </a:rPr>
              <a:t>put() </a:t>
            </a:r>
            <a:r>
              <a:rPr lang="en-AU" dirty="0"/>
              <a:t>- enqueue &amp;  </a:t>
            </a:r>
            <a:r>
              <a:rPr lang="en-AU" b="1" dirty="0">
                <a:solidFill>
                  <a:srgbClr val="FFC000"/>
                </a:solidFill>
              </a:rPr>
              <a:t>get() </a:t>
            </a:r>
            <a:r>
              <a:rPr lang="en-AU" dirty="0"/>
              <a:t>-  dequeue.</a:t>
            </a:r>
          </a:p>
          <a:p>
            <a:r>
              <a:rPr lang="en-AU" dirty="0"/>
              <a:t>using the lists </a:t>
            </a:r>
            <a:r>
              <a:rPr lang="en-AU" b="1" dirty="0">
                <a:solidFill>
                  <a:srgbClr val="FFC000"/>
                </a:solidFill>
              </a:rPr>
              <a:t>append() </a:t>
            </a:r>
            <a:r>
              <a:rPr lang="en-AU" dirty="0"/>
              <a:t>&amp; </a:t>
            </a:r>
            <a:r>
              <a:rPr lang="en-AU" b="1" dirty="0" err="1">
                <a:solidFill>
                  <a:srgbClr val="FFC000"/>
                </a:solidFill>
              </a:rPr>
              <a:t>popleft</a:t>
            </a:r>
            <a:r>
              <a:rPr lang="en-AU" b="1" dirty="0">
                <a:solidFill>
                  <a:srgbClr val="FFC000"/>
                </a:solidFill>
              </a:rPr>
              <a:t>() </a:t>
            </a:r>
            <a:r>
              <a:rPr lang="en-AU" dirty="0"/>
              <a:t>methods</a:t>
            </a:r>
          </a:p>
        </p:txBody>
      </p:sp>
      <p:sp>
        <p:nvSpPr>
          <p:cNvPr id="5" name="TextBox 4">
            <a:extLst>
              <a:ext uri="{FF2B5EF4-FFF2-40B4-BE49-F238E27FC236}">
                <a16:creationId xmlns:a16="http://schemas.microsoft.com/office/drawing/2014/main" id="{1433042F-08B8-09C7-D4B5-4CAA97CA0D25}"/>
              </a:ext>
            </a:extLst>
          </p:cNvPr>
          <p:cNvSpPr txBox="1"/>
          <p:nvPr/>
        </p:nvSpPr>
        <p:spPr>
          <a:xfrm>
            <a:off x="609600" y="2410164"/>
            <a:ext cx="4496972" cy="2585323"/>
          </a:xfrm>
          <a:prstGeom prst="rect">
            <a:avLst/>
          </a:prstGeom>
          <a:noFill/>
        </p:spPr>
        <p:txBody>
          <a:bodyPr wrap="square">
            <a:spAutoFit/>
          </a:bodyPr>
          <a:lstStyle/>
          <a:p>
            <a:br>
              <a:rPr lang="en-AU" b="0" dirty="0">
                <a:solidFill>
                  <a:srgbClr val="CCCCCC"/>
                </a:solidFill>
                <a:effectLst/>
                <a:latin typeface="Consolas" panose="020B0609020204030204" pitchFamily="49" charset="0"/>
              </a:rPr>
            </a:br>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enqueue</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self</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item</a:t>
            </a:r>
            <a:r>
              <a:rPr lang="en-AU" b="0" dirty="0">
                <a:solidFill>
                  <a:srgbClr val="CCCCCC"/>
                </a:solidFill>
                <a:effectLst/>
                <a:latin typeface="Consolas" panose="020B0609020204030204" pitchFamily="49" charset="0"/>
              </a:rPr>
              <a:t>):</a:t>
            </a:r>
          </a:p>
          <a:p>
            <a:r>
              <a:rPr lang="en-AU" b="0" dirty="0">
                <a:solidFill>
                  <a:srgbClr val="9CDCFE"/>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9CDCFE"/>
                </a:solidFill>
                <a:effectLst/>
                <a:latin typeface="Consolas" panose="020B0609020204030204" pitchFamily="49" charset="0"/>
              </a:rPr>
              <a:t>queue</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append</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item</a:t>
            </a:r>
            <a:r>
              <a:rPr lang="en-AU" b="0" dirty="0">
                <a:solidFill>
                  <a:srgbClr val="CCCCCC"/>
                </a:solidFill>
                <a:effectLst/>
                <a:latin typeface="Consolas" panose="020B0609020204030204" pitchFamily="49" charset="0"/>
              </a:rPr>
              <a:t>)</a:t>
            </a:r>
          </a:p>
          <a:p>
            <a:br>
              <a:rPr lang="en-AU" b="0" dirty="0">
                <a:solidFill>
                  <a:srgbClr val="CCCCCC"/>
                </a:solidFill>
                <a:effectLst/>
                <a:latin typeface="Consolas" panose="020B0609020204030204" pitchFamily="49" charset="0"/>
              </a:rPr>
            </a:br>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dequeue</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self</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if</a:t>
            </a:r>
            <a:r>
              <a:rPr lang="en-AU" b="0" dirty="0">
                <a:solidFill>
                  <a:srgbClr val="CCCCCC"/>
                </a:solidFill>
                <a:effectLst/>
                <a:latin typeface="Consolas" panose="020B0609020204030204" pitchFamily="49" charset="0"/>
              </a:rPr>
              <a:t> </a:t>
            </a:r>
            <a:r>
              <a:rPr lang="en-AU" b="0" dirty="0">
                <a:solidFill>
                  <a:srgbClr val="569CD6"/>
                </a:solidFill>
                <a:effectLst/>
                <a:latin typeface="Consolas" panose="020B0609020204030204" pitchFamily="49" charset="0"/>
              </a:rPr>
              <a:t>not</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is_empty</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return</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9CDCFE"/>
                </a:solidFill>
                <a:effectLst/>
                <a:latin typeface="Consolas" panose="020B0609020204030204" pitchFamily="49" charset="0"/>
              </a:rPr>
              <a:t>queue</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popleft</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else</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return</a:t>
            </a:r>
            <a:r>
              <a:rPr lang="en-AU" b="0" dirty="0">
                <a:solidFill>
                  <a:srgbClr val="CCCCCC"/>
                </a:solidFill>
                <a:effectLst/>
                <a:latin typeface="Consolas" panose="020B0609020204030204" pitchFamily="49" charset="0"/>
              </a:rPr>
              <a:t> </a:t>
            </a:r>
            <a:r>
              <a:rPr lang="en-AU" b="0" dirty="0">
                <a:solidFill>
                  <a:srgbClr val="4FC1FF"/>
                </a:solidFill>
                <a:effectLst/>
                <a:latin typeface="Consolas" panose="020B0609020204030204" pitchFamily="49" charset="0"/>
              </a:rPr>
              <a:t>None</a:t>
            </a:r>
            <a:endParaRPr lang="en-AU"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73255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CEE2-26A1-F108-588D-056854318C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97F5A-F994-BAA2-BA31-2795F3FD25C6}"/>
              </a:ext>
            </a:extLst>
          </p:cNvPr>
          <p:cNvSpPr>
            <a:spLocks noGrp="1"/>
          </p:cNvSpPr>
          <p:nvPr>
            <p:ph idx="1"/>
          </p:nvPr>
        </p:nvSpPr>
        <p:spPr>
          <a:xfrm>
            <a:off x="4156580" y="3133857"/>
            <a:ext cx="3878840" cy="590286"/>
          </a:xfrm>
        </p:spPr>
        <p:txBody>
          <a:bodyPr>
            <a:noAutofit/>
          </a:bodyPr>
          <a:lstStyle/>
          <a:p>
            <a:pPr marL="0" indent="0">
              <a:buNone/>
            </a:pPr>
            <a:r>
              <a:rPr lang="en-AU" sz="4000" b="1" dirty="0"/>
              <a:t>Activities 1 &amp; 2</a:t>
            </a:r>
          </a:p>
        </p:txBody>
      </p:sp>
    </p:spTree>
    <p:extLst>
      <p:ext uri="{BB962C8B-B14F-4D97-AF65-F5344CB8AC3E}">
        <p14:creationId xmlns:p14="http://schemas.microsoft.com/office/powerpoint/2010/main" val="1719421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Maps &amp; Associative Arrays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p:txBody>
          <a:bodyPr/>
          <a:lstStyle/>
          <a:p>
            <a:pPr marL="0" indent="0">
              <a:buNone/>
            </a:pPr>
            <a:r>
              <a:rPr lang="en-US"/>
              <a:t>We create structures to hold values for retrieval using keys</a:t>
            </a:r>
            <a:endParaRPr lang="en-US" dirty="0"/>
          </a:p>
        </p:txBody>
      </p:sp>
      <p:sp>
        <p:nvSpPr>
          <p:cNvPr id="11" name="TextBox 10">
            <a:extLst>
              <a:ext uri="{FF2B5EF4-FFF2-40B4-BE49-F238E27FC236}">
                <a16:creationId xmlns:a16="http://schemas.microsoft.com/office/drawing/2014/main" id="{A07D2D6E-55BC-785C-556A-B3F2019AFF9E}"/>
              </a:ext>
            </a:extLst>
          </p:cNvPr>
          <p:cNvSpPr txBox="1"/>
          <p:nvPr/>
        </p:nvSpPr>
        <p:spPr>
          <a:xfrm>
            <a:off x="3640015" y="5997659"/>
            <a:ext cx="4505179" cy="338554"/>
          </a:xfrm>
          <a:prstGeom prst="rect">
            <a:avLst/>
          </a:prstGeom>
          <a:noFill/>
        </p:spPr>
        <p:txBody>
          <a:bodyPr wrap="square">
            <a:spAutoFit/>
          </a:bodyPr>
          <a:lstStyle/>
          <a:p>
            <a:r>
              <a:rPr lang="en-AU" sz="1600" dirty="0">
                <a:solidFill>
                  <a:schemeClr val="bg1"/>
                </a:solidFill>
              </a:rPr>
              <a:t>https://www.youtube.com/watch?v=ItjAF6et-mQ</a:t>
            </a:r>
          </a:p>
        </p:txBody>
      </p:sp>
      <p:pic>
        <p:nvPicPr>
          <p:cNvPr id="5" name="Picture 4" descr="A diagram of a dictionary&#10;&#10;AI-generated content may be incorrect.">
            <a:extLst>
              <a:ext uri="{FF2B5EF4-FFF2-40B4-BE49-F238E27FC236}">
                <a16:creationId xmlns:a16="http://schemas.microsoft.com/office/drawing/2014/main" id="{707B1E04-8234-ADBE-7A18-4BA252F3D410}"/>
              </a:ext>
            </a:extLst>
          </p:cNvPr>
          <p:cNvPicPr>
            <a:picLocks noChangeAspect="1"/>
          </p:cNvPicPr>
          <p:nvPr/>
        </p:nvPicPr>
        <p:blipFill>
          <a:blip r:embed="rId3"/>
          <a:srcRect l="4412" t="30814" r="2574" b="18955"/>
          <a:stretch/>
        </p:blipFill>
        <p:spPr>
          <a:xfrm>
            <a:off x="529781" y="2908850"/>
            <a:ext cx="6096498" cy="185193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EDEF398C-2076-9F0B-A298-772A9A50AF7C}"/>
              </a:ext>
            </a:extLst>
          </p:cNvPr>
          <p:cNvPicPr>
            <a:picLocks noChangeAspect="1"/>
          </p:cNvPicPr>
          <p:nvPr/>
        </p:nvPicPr>
        <p:blipFill>
          <a:blip r:embed="rId4"/>
          <a:srcRect l="25904" t="30698" r="28981" b="6526"/>
          <a:stretch/>
        </p:blipFill>
        <p:spPr>
          <a:xfrm>
            <a:off x="7115176" y="2704129"/>
            <a:ext cx="3506591" cy="2744465"/>
          </a:xfrm>
          <a:prstGeom prst="rect">
            <a:avLst/>
          </a:prstGeom>
        </p:spPr>
      </p:pic>
    </p:spTree>
    <p:extLst>
      <p:ext uri="{BB962C8B-B14F-4D97-AF65-F5344CB8AC3E}">
        <p14:creationId xmlns:p14="http://schemas.microsoft.com/office/powerpoint/2010/main" val="71507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a:xfrm>
            <a:off x="609600" y="1118871"/>
            <a:ext cx="10972800" cy="1003205"/>
          </a:xfrm>
        </p:spPr>
        <p:txBody>
          <a:bodyPr/>
          <a:lstStyle/>
          <a:p>
            <a:r>
              <a:rPr lang="en-US" dirty="0"/>
              <a:t>Consider</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863268"/>
            <a:ext cx="10972800" cy="1131463"/>
          </a:xfrm>
        </p:spPr>
        <p:txBody>
          <a:bodyPr/>
          <a:lstStyle/>
          <a:p>
            <a:pPr marL="0" indent="0">
              <a:buNone/>
            </a:pPr>
            <a:r>
              <a:rPr lang="en-US" dirty="0"/>
              <a:t>How do we get the efficiency of a list/array but we use the keys given to us in the array?</a:t>
            </a:r>
          </a:p>
        </p:txBody>
      </p:sp>
    </p:spTree>
    <p:extLst>
      <p:ext uri="{BB962C8B-B14F-4D97-AF65-F5344CB8AC3E}">
        <p14:creationId xmlns:p14="http://schemas.microsoft.com/office/powerpoint/2010/main" val="1749577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2F34-F3E5-5569-42B3-819D47103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79E3-6BA8-1C7A-F921-04B8E3927A4B}"/>
              </a:ext>
            </a:extLst>
          </p:cNvPr>
          <p:cNvSpPr>
            <a:spLocks noGrp="1"/>
          </p:cNvSpPr>
          <p:nvPr>
            <p:ph type="title"/>
          </p:nvPr>
        </p:nvSpPr>
        <p:spPr>
          <a:xfrm>
            <a:off x="609600" y="1118871"/>
            <a:ext cx="10972800" cy="1003205"/>
          </a:xfrm>
        </p:spPr>
        <p:txBody>
          <a:bodyPr/>
          <a:lstStyle/>
          <a:p>
            <a:r>
              <a:rPr lang="en-US" dirty="0"/>
              <a:t>Consider</a:t>
            </a:r>
          </a:p>
        </p:txBody>
      </p:sp>
      <p:sp>
        <p:nvSpPr>
          <p:cNvPr id="3" name="Content Placeholder 2">
            <a:extLst>
              <a:ext uri="{FF2B5EF4-FFF2-40B4-BE49-F238E27FC236}">
                <a16:creationId xmlns:a16="http://schemas.microsoft.com/office/drawing/2014/main" id="{DADE129F-8F67-C1DD-DADE-11D217853CAF}"/>
              </a:ext>
            </a:extLst>
          </p:cNvPr>
          <p:cNvSpPr>
            <a:spLocks noGrp="1"/>
          </p:cNvSpPr>
          <p:nvPr>
            <p:ph idx="1"/>
          </p:nvPr>
        </p:nvSpPr>
        <p:spPr>
          <a:xfrm>
            <a:off x="609600" y="2295710"/>
            <a:ext cx="10972800" cy="2765022"/>
          </a:xfrm>
        </p:spPr>
        <p:txBody>
          <a:bodyPr>
            <a:normAutofit lnSpcReduction="10000"/>
          </a:bodyPr>
          <a:lstStyle/>
          <a:p>
            <a:pPr marL="514350" indent="-514350">
              <a:buFont typeface="+mj-lt"/>
              <a:buAutoNum type="arabicPeriod"/>
            </a:pPr>
            <a:r>
              <a:rPr lang="en-US" dirty="0" err="1"/>
              <a:t>Hashmap</a:t>
            </a:r>
            <a:r>
              <a:rPr lang="en-US" dirty="0"/>
              <a:t>:  (Dictionary) of keys to values</a:t>
            </a:r>
          </a:p>
          <a:p>
            <a:pPr marL="514350" indent="-514350">
              <a:buFont typeface="+mj-lt"/>
              <a:buAutoNum type="arabicPeriod"/>
            </a:pPr>
            <a:r>
              <a:rPr lang="en-US" dirty="0"/>
              <a:t>Dictionary of lists</a:t>
            </a:r>
          </a:p>
          <a:p>
            <a:pPr marL="514350" indent="-514350">
              <a:buFont typeface="+mj-lt"/>
              <a:buAutoNum type="arabicPeriod"/>
            </a:pPr>
            <a:r>
              <a:rPr lang="en-US" dirty="0"/>
              <a:t>List of Tuples</a:t>
            </a:r>
          </a:p>
          <a:p>
            <a:pPr marL="514350" indent="-514350">
              <a:buFont typeface="+mj-lt"/>
              <a:buAutoNum type="arabicPeriod"/>
            </a:pPr>
            <a:endParaRPr lang="en-US" dirty="0"/>
          </a:p>
          <a:p>
            <a:pPr marL="0" indent="0">
              <a:buNone/>
            </a:pPr>
            <a:r>
              <a:rPr lang="en-US" dirty="0"/>
              <a:t>Which is faster?</a:t>
            </a:r>
          </a:p>
        </p:txBody>
      </p:sp>
    </p:spTree>
    <p:extLst>
      <p:ext uri="{BB962C8B-B14F-4D97-AF65-F5344CB8AC3E}">
        <p14:creationId xmlns:p14="http://schemas.microsoft.com/office/powerpoint/2010/main" val="529807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Hash Functions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160377"/>
            <a:ext cx="5070231" cy="3677715"/>
          </a:xfrm>
        </p:spPr>
        <p:txBody>
          <a:bodyPr/>
          <a:lstStyle/>
          <a:p>
            <a:r>
              <a:rPr lang="en-US" dirty="0"/>
              <a:t>Dictionaries and sets use hashing</a:t>
            </a:r>
          </a:p>
          <a:p>
            <a:r>
              <a:rPr lang="en-US" dirty="0"/>
              <a:t>Think array, with the added feature of distilling a key to a number representing the position of a value.</a:t>
            </a:r>
          </a:p>
        </p:txBody>
      </p:sp>
      <p:sp>
        <p:nvSpPr>
          <p:cNvPr id="5" name="TextBox 4">
            <a:extLst>
              <a:ext uri="{FF2B5EF4-FFF2-40B4-BE49-F238E27FC236}">
                <a16:creationId xmlns:a16="http://schemas.microsoft.com/office/drawing/2014/main" id="{6DE4A748-34D3-F235-83E8-DBBB40EC2C6F}"/>
              </a:ext>
            </a:extLst>
          </p:cNvPr>
          <p:cNvSpPr txBox="1"/>
          <p:nvPr/>
        </p:nvSpPr>
        <p:spPr>
          <a:xfrm>
            <a:off x="5989321" y="2706572"/>
            <a:ext cx="6098344" cy="2585323"/>
          </a:xfrm>
          <a:prstGeom prst="rect">
            <a:avLst/>
          </a:prstGeom>
          <a:noFill/>
        </p:spPr>
        <p:txBody>
          <a:bodyPr wrap="square">
            <a:spAutoFit/>
          </a:bodyPr>
          <a:lstStyle/>
          <a:p>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name</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0</a:t>
            </a:r>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for</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character</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in</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name</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ord</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character</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return</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10</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6A9955"/>
                </a:solidFill>
                <a:effectLst/>
                <a:latin typeface="Consolas" panose="020B0609020204030204" pitchFamily="49" charset="0"/>
              </a:rPr>
              <a:t># Example usage</a:t>
            </a:r>
            <a:endParaRPr lang="en-AU" b="0" dirty="0">
              <a:solidFill>
                <a:srgbClr val="CCCCCC"/>
              </a:solidFill>
              <a:effectLst/>
              <a:latin typeface="Consolas" panose="020B0609020204030204" pitchFamily="49" charset="0"/>
            </a:endParaRPr>
          </a:p>
          <a:p>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"Ahmed"</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Output: 3</a:t>
            </a:r>
            <a:endParaRPr lang="en-AU" b="0" dirty="0">
              <a:solidFill>
                <a:srgbClr val="CCCCCC"/>
              </a:solidFill>
              <a:effectLst/>
              <a:latin typeface="Consolas" panose="020B0609020204030204" pitchFamily="49" charset="0"/>
            </a:endParaRPr>
          </a:p>
          <a:p>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"Smith"</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Output: </a:t>
            </a:r>
            <a:r>
              <a:rPr lang="en-AU" b="0" dirty="0">
                <a:solidFill>
                  <a:srgbClr val="6A9955"/>
                </a:solidFill>
                <a:effectLst/>
                <a:highlight>
                  <a:srgbClr val="1F1F1F"/>
                </a:highlight>
                <a:latin typeface="Consolas" panose="020B0609020204030204" pitchFamily="49" charset="0"/>
              </a:rPr>
              <a:t>0</a:t>
            </a:r>
            <a:endParaRPr lang="en-AU"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440871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2D002D3F-519D-32D5-DE31-DB981542ADA9}"/>
              </a:ext>
            </a:extLst>
          </p:cNvPr>
          <p:cNvCxnSpPr>
            <a:cxnSpLocks/>
            <a:stCxn id="15" idx="3"/>
            <a:endCxn id="4" idx="1"/>
          </p:cNvCxnSpPr>
          <p:nvPr/>
        </p:nvCxnSpPr>
        <p:spPr>
          <a:xfrm>
            <a:off x="2184400" y="1413934"/>
            <a:ext cx="4487333" cy="0"/>
          </a:xfrm>
          <a:prstGeom prst="straightConnector1">
            <a:avLst/>
          </a:prstGeom>
          <a:ln w="63500">
            <a:tailEnd type="triangle" w="lg" len="lg"/>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88FC501-4E7E-1A09-2D13-AA0A9BA21F06}"/>
              </a:ext>
            </a:extLst>
          </p:cNvPr>
          <p:cNvSpPr/>
          <p:nvPr/>
        </p:nvSpPr>
        <p:spPr>
          <a:xfrm>
            <a:off x="6671733" y="965200"/>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0</a:t>
            </a:r>
          </a:p>
        </p:txBody>
      </p:sp>
      <p:sp>
        <p:nvSpPr>
          <p:cNvPr id="5" name="Rectangle 4">
            <a:extLst>
              <a:ext uri="{FF2B5EF4-FFF2-40B4-BE49-F238E27FC236}">
                <a16:creationId xmlns:a16="http://schemas.microsoft.com/office/drawing/2014/main" id="{E39D5F2F-2846-45D4-2BA4-B4045BD790FE}"/>
              </a:ext>
            </a:extLst>
          </p:cNvPr>
          <p:cNvSpPr/>
          <p:nvPr/>
        </p:nvSpPr>
        <p:spPr>
          <a:xfrm>
            <a:off x="6671733" y="1862667"/>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1</a:t>
            </a:r>
          </a:p>
        </p:txBody>
      </p:sp>
      <p:sp>
        <p:nvSpPr>
          <p:cNvPr id="6" name="Rectangle 5">
            <a:extLst>
              <a:ext uri="{FF2B5EF4-FFF2-40B4-BE49-F238E27FC236}">
                <a16:creationId xmlns:a16="http://schemas.microsoft.com/office/drawing/2014/main" id="{C97B613B-1748-2096-E8BA-2427D20B88D4}"/>
              </a:ext>
            </a:extLst>
          </p:cNvPr>
          <p:cNvSpPr/>
          <p:nvPr/>
        </p:nvSpPr>
        <p:spPr>
          <a:xfrm>
            <a:off x="6671733" y="2760134"/>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C95D71A5-AAAC-A6AF-2E58-238A3CE1C3A4}"/>
              </a:ext>
            </a:extLst>
          </p:cNvPr>
          <p:cNvSpPr/>
          <p:nvPr/>
        </p:nvSpPr>
        <p:spPr>
          <a:xfrm>
            <a:off x="6671733" y="3657601"/>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3</a:t>
            </a:r>
          </a:p>
        </p:txBody>
      </p:sp>
      <p:sp>
        <p:nvSpPr>
          <p:cNvPr id="8" name="Rectangle 7">
            <a:extLst>
              <a:ext uri="{FF2B5EF4-FFF2-40B4-BE49-F238E27FC236}">
                <a16:creationId xmlns:a16="http://schemas.microsoft.com/office/drawing/2014/main" id="{C00A9498-536A-6557-C6BA-771F940672E1}"/>
              </a:ext>
            </a:extLst>
          </p:cNvPr>
          <p:cNvSpPr/>
          <p:nvPr/>
        </p:nvSpPr>
        <p:spPr>
          <a:xfrm>
            <a:off x="6671733" y="4555068"/>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5CEA0D3A-DA7C-3418-5A3F-F7BB1A29A481}"/>
              </a:ext>
            </a:extLst>
          </p:cNvPr>
          <p:cNvSpPr/>
          <p:nvPr/>
        </p:nvSpPr>
        <p:spPr>
          <a:xfrm>
            <a:off x="7569200" y="965200"/>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“Anna”</a:t>
            </a:r>
          </a:p>
        </p:txBody>
      </p:sp>
      <p:sp>
        <p:nvSpPr>
          <p:cNvPr id="10" name="Rectangle 9">
            <a:extLst>
              <a:ext uri="{FF2B5EF4-FFF2-40B4-BE49-F238E27FC236}">
                <a16:creationId xmlns:a16="http://schemas.microsoft.com/office/drawing/2014/main" id="{C4A1FB2F-97C5-CBB1-0FAB-65CE576849B8}"/>
              </a:ext>
            </a:extLst>
          </p:cNvPr>
          <p:cNvSpPr/>
          <p:nvPr/>
        </p:nvSpPr>
        <p:spPr>
          <a:xfrm>
            <a:off x="7569200" y="1862667"/>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“Bob”</a:t>
            </a:r>
          </a:p>
        </p:txBody>
      </p:sp>
      <p:sp>
        <p:nvSpPr>
          <p:cNvPr id="12" name="Rectangle 11">
            <a:extLst>
              <a:ext uri="{FF2B5EF4-FFF2-40B4-BE49-F238E27FC236}">
                <a16:creationId xmlns:a16="http://schemas.microsoft.com/office/drawing/2014/main" id="{24673CAA-C70C-C153-B4EC-BF15364FC42D}"/>
              </a:ext>
            </a:extLst>
          </p:cNvPr>
          <p:cNvSpPr/>
          <p:nvPr/>
        </p:nvSpPr>
        <p:spPr>
          <a:xfrm>
            <a:off x="7569200" y="3657601"/>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“John”</a:t>
            </a:r>
          </a:p>
        </p:txBody>
      </p:sp>
      <p:sp>
        <p:nvSpPr>
          <p:cNvPr id="15" name="Rectangle 14">
            <a:extLst>
              <a:ext uri="{FF2B5EF4-FFF2-40B4-BE49-F238E27FC236}">
                <a16:creationId xmlns:a16="http://schemas.microsoft.com/office/drawing/2014/main" id="{5FBC7477-C6AE-B2FD-0106-D91E06E71FD6}"/>
              </a:ext>
            </a:extLst>
          </p:cNvPr>
          <p:cNvSpPr/>
          <p:nvPr/>
        </p:nvSpPr>
        <p:spPr>
          <a:xfrm>
            <a:off x="474134" y="965200"/>
            <a:ext cx="1710266" cy="897467"/>
          </a:xfrm>
          <a:prstGeom prst="rect">
            <a:avLst/>
          </a:prstGeom>
          <a:solidFill>
            <a:schemeClr val="bg1"/>
          </a:solidFill>
          <a:ln w="28575">
            <a:solidFill>
              <a:srgbClr val="63C5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“Ahmed”</a:t>
            </a:r>
          </a:p>
        </p:txBody>
      </p:sp>
      <p:sp>
        <p:nvSpPr>
          <p:cNvPr id="16" name="Lightning Bolt 15">
            <a:extLst>
              <a:ext uri="{FF2B5EF4-FFF2-40B4-BE49-F238E27FC236}">
                <a16:creationId xmlns:a16="http://schemas.microsoft.com/office/drawing/2014/main" id="{2E8E11BC-6E3B-0636-DF76-D781D99CA97A}"/>
              </a:ext>
            </a:extLst>
          </p:cNvPr>
          <p:cNvSpPr/>
          <p:nvPr/>
        </p:nvSpPr>
        <p:spPr>
          <a:xfrm>
            <a:off x="2878667" y="668867"/>
            <a:ext cx="1032933" cy="1286933"/>
          </a:xfrm>
          <a:prstGeom prst="lightningBol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7B0BB1-FBAE-24BA-7DDC-817DC9AFEAEC}"/>
              </a:ext>
            </a:extLst>
          </p:cNvPr>
          <p:cNvSpPr/>
          <p:nvPr/>
        </p:nvSpPr>
        <p:spPr>
          <a:xfrm>
            <a:off x="5075766" y="1058334"/>
            <a:ext cx="698500" cy="711200"/>
          </a:xfrm>
          <a:prstGeom prst="rect">
            <a:avLst/>
          </a:prstGeom>
          <a:solidFill>
            <a:schemeClr val="bg1">
              <a:lumMod val="95000"/>
            </a:schemeClr>
          </a:solid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92D050"/>
                </a:solidFill>
              </a:rPr>
              <a:t>0</a:t>
            </a:r>
          </a:p>
        </p:txBody>
      </p:sp>
      <p:sp>
        <p:nvSpPr>
          <p:cNvPr id="18" name="TextBox 17">
            <a:extLst>
              <a:ext uri="{FF2B5EF4-FFF2-40B4-BE49-F238E27FC236}">
                <a16:creationId xmlns:a16="http://schemas.microsoft.com/office/drawing/2014/main" id="{8C4A0867-E9C2-1038-F57E-A45C13819D67}"/>
              </a:ext>
            </a:extLst>
          </p:cNvPr>
          <p:cNvSpPr txBox="1"/>
          <p:nvPr/>
        </p:nvSpPr>
        <p:spPr>
          <a:xfrm>
            <a:off x="2783287" y="2126734"/>
            <a:ext cx="1672253" cy="369332"/>
          </a:xfrm>
          <a:prstGeom prst="rect">
            <a:avLst/>
          </a:prstGeom>
          <a:noFill/>
        </p:spPr>
        <p:txBody>
          <a:bodyPr wrap="none" rtlCol="0">
            <a:spAutoFit/>
          </a:bodyPr>
          <a:lstStyle/>
          <a:p>
            <a:r>
              <a:rPr lang="en-US" dirty="0">
                <a:solidFill>
                  <a:schemeClr val="bg1"/>
                </a:solidFill>
              </a:rPr>
              <a:t>Hash Function</a:t>
            </a:r>
          </a:p>
        </p:txBody>
      </p:sp>
      <p:cxnSp>
        <p:nvCxnSpPr>
          <p:cNvPr id="22" name="Straight Arrow Connector 21">
            <a:extLst>
              <a:ext uri="{FF2B5EF4-FFF2-40B4-BE49-F238E27FC236}">
                <a16:creationId xmlns:a16="http://schemas.microsoft.com/office/drawing/2014/main" id="{7E2F04AB-8F24-F2EB-4544-07575F82FCC7}"/>
              </a:ext>
            </a:extLst>
          </p:cNvPr>
          <p:cNvCxnSpPr>
            <a:cxnSpLocks/>
            <a:stCxn id="25" idx="3"/>
          </p:cNvCxnSpPr>
          <p:nvPr/>
        </p:nvCxnSpPr>
        <p:spPr>
          <a:xfrm>
            <a:off x="2184400" y="5007518"/>
            <a:ext cx="4487333" cy="0"/>
          </a:xfrm>
          <a:prstGeom prst="straightConnector1">
            <a:avLst/>
          </a:prstGeom>
          <a:ln w="63500">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8D8E2705-F4EF-5BF4-0EAF-F353FA2E9B9B}"/>
              </a:ext>
            </a:extLst>
          </p:cNvPr>
          <p:cNvSpPr/>
          <p:nvPr/>
        </p:nvSpPr>
        <p:spPr>
          <a:xfrm>
            <a:off x="474134" y="4558784"/>
            <a:ext cx="1710266" cy="897467"/>
          </a:xfrm>
          <a:prstGeom prst="rect">
            <a:avLst/>
          </a:prstGeom>
          <a:solidFill>
            <a:schemeClr val="bg1"/>
          </a:solidFill>
          <a:ln w="28575">
            <a:solidFill>
              <a:srgbClr val="63C5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“Smith”</a:t>
            </a:r>
          </a:p>
        </p:txBody>
      </p:sp>
      <p:sp>
        <p:nvSpPr>
          <p:cNvPr id="26" name="Lightning Bolt 25">
            <a:extLst>
              <a:ext uri="{FF2B5EF4-FFF2-40B4-BE49-F238E27FC236}">
                <a16:creationId xmlns:a16="http://schemas.microsoft.com/office/drawing/2014/main" id="{54B3A035-E64F-4B22-2644-5B2A04C26CC7}"/>
              </a:ext>
            </a:extLst>
          </p:cNvPr>
          <p:cNvSpPr/>
          <p:nvPr/>
        </p:nvSpPr>
        <p:spPr>
          <a:xfrm>
            <a:off x="3225799" y="4282589"/>
            <a:ext cx="1032933" cy="1286933"/>
          </a:xfrm>
          <a:prstGeom prst="lightningBol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C49DC7-6EC6-C6A2-BBD9-A24B910E9500}"/>
              </a:ext>
            </a:extLst>
          </p:cNvPr>
          <p:cNvSpPr/>
          <p:nvPr/>
        </p:nvSpPr>
        <p:spPr>
          <a:xfrm>
            <a:off x="5075766" y="4648201"/>
            <a:ext cx="698500" cy="711200"/>
          </a:xfrm>
          <a:prstGeom prst="rect">
            <a:avLst/>
          </a:prstGeom>
          <a:solidFill>
            <a:schemeClr val="bg1">
              <a:lumMod val="95000"/>
            </a:schemeClr>
          </a:solid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92D050"/>
                </a:solidFill>
              </a:rPr>
              <a:t>4</a:t>
            </a:r>
          </a:p>
        </p:txBody>
      </p:sp>
      <p:sp>
        <p:nvSpPr>
          <p:cNvPr id="28" name="TextBox 27">
            <a:extLst>
              <a:ext uri="{FF2B5EF4-FFF2-40B4-BE49-F238E27FC236}">
                <a16:creationId xmlns:a16="http://schemas.microsoft.com/office/drawing/2014/main" id="{717B8938-362B-4635-A408-BCC7193343CB}"/>
              </a:ext>
            </a:extLst>
          </p:cNvPr>
          <p:cNvSpPr txBox="1"/>
          <p:nvPr/>
        </p:nvSpPr>
        <p:spPr>
          <a:xfrm>
            <a:off x="2963333" y="5665857"/>
            <a:ext cx="1672253" cy="369332"/>
          </a:xfrm>
          <a:prstGeom prst="rect">
            <a:avLst/>
          </a:prstGeom>
          <a:noFill/>
        </p:spPr>
        <p:txBody>
          <a:bodyPr wrap="none" rtlCol="0">
            <a:spAutoFit/>
          </a:bodyPr>
          <a:lstStyle/>
          <a:p>
            <a:r>
              <a:rPr lang="en-US" dirty="0">
                <a:solidFill>
                  <a:schemeClr val="bg1"/>
                </a:solidFill>
              </a:rPr>
              <a:t>Hash Function</a:t>
            </a:r>
          </a:p>
        </p:txBody>
      </p:sp>
      <p:grpSp>
        <p:nvGrpSpPr>
          <p:cNvPr id="21" name="Group 20">
            <a:extLst>
              <a:ext uri="{FF2B5EF4-FFF2-40B4-BE49-F238E27FC236}">
                <a16:creationId xmlns:a16="http://schemas.microsoft.com/office/drawing/2014/main" id="{C2ABEA12-40FE-426B-8874-FA0CEC42C912}"/>
              </a:ext>
            </a:extLst>
          </p:cNvPr>
          <p:cNvGrpSpPr/>
          <p:nvPr/>
        </p:nvGrpSpPr>
        <p:grpSpPr>
          <a:xfrm>
            <a:off x="8190488" y="5666289"/>
            <a:ext cx="2906090" cy="897468"/>
            <a:chOff x="3452843" y="833453"/>
            <a:chExt cx="2463426" cy="498960"/>
          </a:xfrm>
        </p:grpSpPr>
        <p:sp>
          <p:nvSpPr>
            <p:cNvPr id="23" name="Rectangle: Rounded Corners 22">
              <a:extLst>
                <a:ext uri="{FF2B5EF4-FFF2-40B4-BE49-F238E27FC236}">
                  <a16:creationId xmlns:a16="http://schemas.microsoft.com/office/drawing/2014/main" id="{2D61C42E-ACD8-4583-8246-BA40B577096D}"/>
                </a:ext>
              </a:extLst>
            </p:cNvPr>
            <p:cNvSpPr/>
            <p:nvPr/>
          </p:nvSpPr>
          <p:spPr>
            <a:xfrm>
              <a:off x="3452843" y="833453"/>
              <a:ext cx="2463426" cy="49896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4" name="Rectangle: Rounded Corners 4">
              <a:extLst>
                <a:ext uri="{FF2B5EF4-FFF2-40B4-BE49-F238E27FC236}">
                  <a16:creationId xmlns:a16="http://schemas.microsoft.com/office/drawing/2014/main" id="{F379582D-4843-4D5B-B9C6-A060245B2519}"/>
                </a:ext>
              </a:extLst>
            </p:cNvPr>
            <p:cNvSpPr txBox="1"/>
            <p:nvPr/>
          </p:nvSpPr>
          <p:spPr>
            <a:xfrm>
              <a:off x="3467457" y="848067"/>
              <a:ext cx="2434198" cy="4697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User number to lookup or insert value in array</a:t>
              </a:r>
            </a:p>
          </p:txBody>
        </p:sp>
      </p:grpSp>
    </p:spTree>
    <p:extLst>
      <p:ext uri="{BB962C8B-B14F-4D97-AF65-F5344CB8AC3E}">
        <p14:creationId xmlns:p14="http://schemas.microsoft.com/office/powerpoint/2010/main" val="1009631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Hash Functions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160377"/>
            <a:ext cx="10972800" cy="3677715"/>
          </a:xfrm>
        </p:spPr>
        <p:txBody>
          <a:bodyPr>
            <a:normAutofit fontScale="92500"/>
          </a:bodyPr>
          <a:lstStyle/>
          <a:p>
            <a:r>
              <a:rPr lang="en-US" dirty="0"/>
              <a:t>simple hash functions values can be hashed to the same key</a:t>
            </a:r>
          </a:p>
          <a:p>
            <a:r>
              <a:rPr lang="en-US" dirty="0"/>
              <a:t>this is referred to as a </a:t>
            </a:r>
            <a:r>
              <a:rPr lang="en-US" b="1" dirty="0">
                <a:solidFill>
                  <a:srgbClr val="FFC000"/>
                </a:solidFill>
              </a:rPr>
              <a:t>hash collision</a:t>
            </a:r>
          </a:p>
          <a:p>
            <a:r>
              <a:rPr lang="en-US" dirty="0"/>
              <a:t>we need to find the next available slot in the table</a:t>
            </a:r>
          </a:p>
          <a:p>
            <a:r>
              <a:rPr lang="en-US" dirty="0"/>
              <a:t>if the allocated table(memory) is full, python resizes the table*</a:t>
            </a:r>
          </a:p>
          <a:p>
            <a:r>
              <a:rPr lang="en-US" dirty="0"/>
              <a:t>in memory this can also involve creating a linked list or tree of connected memory addresses</a:t>
            </a:r>
          </a:p>
        </p:txBody>
      </p:sp>
    </p:spTree>
    <p:extLst>
      <p:ext uri="{BB962C8B-B14F-4D97-AF65-F5344CB8AC3E}">
        <p14:creationId xmlns:p14="http://schemas.microsoft.com/office/powerpoint/2010/main" val="3878250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3E86024-7FE8-83A1-6239-8A39C086DE3E}"/>
              </a:ext>
            </a:extLst>
          </p:cNvPr>
          <p:cNvSpPr>
            <a:spLocks noGrp="1"/>
          </p:cNvSpPr>
          <p:nvPr>
            <p:ph idx="1"/>
          </p:nvPr>
        </p:nvSpPr>
        <p:spPr>
          <a:xfrm>
            <a:off x="2656449" y="3087857"/>
            <a:ext cx="6879101" cy="1244992"/>
          </a:xfrm>
        </p:spPr>
        <p:txBody>
          <a:bodyPr>
            <a:noAutofit/>
          </a:bodyPr>
          <a:lstStyle/>
          <a:p>
            <a:pPr marL="0" indent="0">
              <a:buNone/>
            </a:pPr>
            <a:r>
              <a:rPr lang="en-AU" sz="3600" b="1" dirty="0">
                <a:solidFill>
                  <a:srgbClr val="FFC000"/>
                </a:solidFill>
                <a:hlinkClick r:id="rId3">
                  <a:extLst>
                    <a:ext uri="{A12FA001-AC4F-418D-AE19-62706E023703}">
                      <ahyp:hlinkClr xmlns:ahyp="http://schemas.microsoft.com/office/drawing/2018/hyperlinkcolor" val="tx"/>
                    </a:ext>
                  </a:extLst>
                </a:hlinkClick>
              </a:rPr>
              <a:t>Closed Hashing Animation</a:t>
            </a:r>
            <a:r>
              <a:rPr lang="en-AU" sz="3600" b="1" dirty="0">
                <a:solidFill>
                  <a:srgbClr val="FFC000"/>
                </a:solidFill>
              </a:rPr>
              <a:t> </a:t>
            </a:r>
            <a:r>
              <a:rPr lang="en-AU" sz="3600" b="1" dirty="0">
                <a:solidFill>
                  <a:srgbClr val="4F81BD"/>
                </a:solidFill>
              </a:rPr>
              <a:t>using Open Addressing</a:t>
            </a:r>
          </a:p>
        </p:txBody>
      </p:sp>
    </p:spTree>
    <p:extLst>
      <p:ext uri="{BB962C8B-B14F-4D97-AF65-F5344CB8AC3E}">
        <p14:creationId xmlns:p14="http://schemas.microsoft.com/office/powerpoint/2010/main" val="1054714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a:xfrm>
            <a:off x="449179" y="690674"/>
            <a:ext cx="10972800" cy="415992"/>
          </a:xfrm>
        </p:spPr>
        <p:txBody>
          <a:bodyPr>
            <a:normAutofit fontScale="90000"/>
          </a:bodyPr>
          <a:lstStyle/>
          <a:p>
            <a:r>
              <a:rPr lang="en-US" dirty="0"/>
              <a:t>Hash Tables and Scaling up</a:t>
            </a:r>
          </a:p>
        </p:txBody>
      </p:sp>
      <p:pic>
        <p:nvPicPr>
          <p:cNvPr id="11" name="Content Placeholder 10" descr="A screen shot of a computer&#10;&#10;AI-generated content may be incorrect.">
            <a:extLst>
              <a:ext uri="{FF2B5EF4-FFF2-40B4-BE49-F238E27FC236}">
                <a16:creationId xmlns:a16="http://schemas.microsoft.com/office/drawing/2014/main" id="{7DF305CD-4F59-B1EA-5AF1-50D2204D52D9}"/>
              </a:ext>
            </a:extLst>
          </p:cNvPr>
          <p:cNvPicPr>
            <a:picLocks noGrp="1" noChangeAspect="1"/>
          </p:cNvPicPr>
          <p:nvPr>
            <p:ph idx="1"/>
          </p:nvPr>
        </p:nvPicPr>
        <p:blipFill>
          <a:blip r:embed="rId3"/>
          <a:srcRect l="15869" t="15165" r="22248" b="17530"/>
          <a:stretch>
            <a:fillRect/>
          </a:stretch>
        </p:blipFill>
        <p:spPr>
          <a:xfrm>
            <a:off x="449179" y="1995894"/>
            <a:ext cx="5943600" cy="3636170"/>
          </a:xfrm>
        </p:spPr>
      </p:pic>
      <p:sp>
        <p:nvSpPr>
          <p:cNvPr id="4" name="TextBox 3">
            <a:extLst>
              <a:ext uri="{FF2B5EF4-FFF2-40B4-BE49-F238E27FC236}">
                <a16:creationId xmlns:a16="http://schemas.microsoft.com/office/drawing/2014/main" id="{E9E19B60-7A25-A2AA-5B8D-F6A5DE20C716}"/>
              </a:ext>
            </a:extLst>
          </p:cNvPr>
          <p:cNvSpPr txBox="1"/>
          <p:nvPr/>
        </p:nvSpPr>
        <p:spPr>
          <a:xfrm>
            <a:off x="2612173" y="5425289"/>
            <a:ext cx="6094140" cy="646331"/>
          </a:xfrm>
          <a:prstGeom prst="rect">
            <a:avLst/>
          </a:prstGeom>
          <a:noFill/>
        </p:spPr>
        <p:txBody>
          <a:bodyPr wrap="square">
            <a:spAutoFit/>
          </a:bodyPr>
          <a:lstStyle/>
          <a:p>
            <a:r>
              <a:rPr lang="en-US" dirty="0"/>
              <a:t>simple hash functions values can be hashed to the same key</a:t>
            </a:r>
          </a:p>
        </p:txBody>
      </p:sp>
      <p:sp>
        <p:nvSpPr>
          <p:cNvPr id="6" name="TextBox 5">
            <a:extLst>
              <a:ext uri="{FF2B5EF4-FFF2-40B4-BE49-F238E27FC236}">
                <a16:creationId xmlns:a16="http://schemas.microsoft.com/office/drawing/2014/main" id="{23277E5D-8B07-4CC9-CBA3-6EB542498477}"/>
              </a:ext>
            </a:extLst>
          </p:cNvPr>
          <p:cNvSpPr txBox="1"/>
          <p:nvPr/>
        </p:nvSpPr>
        <p:spPr>
          <a:xfrm>
            <a:off x="6615461" y="2690594"/>
            <a:ext cx="4959505" cy="2677656"/>
          </a:xfrm>
          <a:prstGeom prst="rect">
            <a:avLst/>
          </a:prstGeom>
          <a:noFill/>
        </p:spPr>
        <p:txBody>
          <a:bodyPr wrap="square">
            <a:spAutoFit/>
          </a:bodyPr>
          <a:lstStyle/>
          <a:p>
            <a:r>
              <a:rPr lang="en-US" sz="2800" dirty="0">
                <a:solidFill>
                  <a:schemeClr val="bg1"/>
                </a:solidFill>
              </a:rPr>
              <a:t>If we want to store multiple values and related keys, how can we achieve this?</a:t>
            </a:r>
          </a:p>
          <a:p>
            <a:endParaRPr lang="en-US" sz="2800" dirty="0">
              <a:solidFill>
                <a:schemeClr val="bg1"/>
              </a:solidFill>
            </a:endParaRPr>
          </a:p>
          <a:p>
            <a:r>
              <a:rPr lang="en-US" sz="2800" i="1" dirty="0">
                <a:solidFill>
                  <a:schemeClr val="bg1"/>
                </a:solidFill>
              </a:rPr>
              <a:t>By using a hash table and chaining</a:t>
            </a:r>
          </a:p>
        </p:txBody>
      </p:sp>
    </p:spTree>
    <p:extLst>
      <p:ext uri="{BB962C8B-B14F-4D97-AF65-F5344CB8AC3E}">
        <p14:creationId xmlns:p14="http://schemas.microsoft.com/office/powerpoint/2010/main" val="298988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DAC3-8F0A-6223-DDED-F2AF87734EF3}"/>
              </a:ext>
            </a:extLst>
          </p:cNvPr>
          <p:cNvSpPr>
            <a:spLocks noGrp="1"/>
          </p:cNvSpPr>
          <p:nvPr>
            <p:ph type="title"/>
          </p:nvPr>
        </p:nvSpPr>
        <p:spPr/>
        <p:txBody>
          <a:bodyPr/>
          <a:lstStyle/>
          <a:p>
            <a:r>
              <a:rPr lang="en-US" dirty="0"/>
              <a:t>Graphs and Trees</a:t>
            </a:r>
          </a:p>
        </p:txBody>
      </p:sp>
      <p:sp>
        <p:nvSpPr>
          <p:cNvPr id="3" name="Content Placeholder 2">
            <a:extLst>
              <a:ext uri="{FF2B5EF4-FFF2-40B4-BE49-F238E27FC236}">
                <a16:creationId xmlns:a16="http://schemas.microsoft.com/office/drawing/2014/main" id="{DE02D1A0-472F-53B4-BA3A-E36D34320BD6}"/>
              </a:ext>
            </a:extLst>
          </p:cNvPr>
          <p:cNvSpPr>
            <a:spLocks noGrp="1"/>
          </p:cNvSpPr>
          <p:nvPr>
            <p:ph idx="1"/>
          </p:nvPr>
        </p:nvSpPr>
        <p:spPr>
          <a:xfrm>
            <a:off x="835378" y="2152850"/>
            <a:ext cx="10972800" cy="2552300"/>
          </a:xfrm>
        </p:spPr>
        <p:txBody>
          <a:bodyPr>
            <a:normAutofit fontScale="92500" lnSpcReduction="10000"/>
          </a:bodyPr>
          <a:lstStyle/>
          <a:p>
            <a:pPr marL="0" indent="0">
              <a:buNone/>
            </a:pPr>
            <a:r>
              <a:rPr lang="en-US" dirty="0"/>
              <a:t>Where angels fear to tread…</a:t>
            </a:r>
          </a:p>
          <a:p>
            <a:r>
              <a:rPr lang="en-US" dirty="0"/>
              <a:t>Essential for all advanced applications</a:t>
            </a:r>
          </a:p>
          <a:p>
            <a:r>
              <a:rPr lang="en-US" dirty="0"/>
              <a:t>Form the base for Large Language Models(AI)</a:t>
            </a:r>
          </a:p>
          <a:p>
            <a:r>
              <a:rPr lang="en-US" dirty="0"/>
              <a:t>Git, Google Maps, and a whole stack of </a:t>
            </a:r>
            <a:r>
              <a:rPr lang="en-US" dirty="0" err="1"/>
              <a:t>leet</a:t>
            </a:r>
            <a:r>
              <a:rPr lang="en-US" dirty="0"/>
              <a:t> code questions all boil down to them</a:t>
            </a:r>
          </a:p>
        </p:txBody>
      </p:sp>
    </p:spTree>
    <p:extLst>
      <p:ext uri="{BB962C8B-B14F-4D97-AF65-F5344CB8AC3E}">
        <p14:creationId xmlns:p14="http://schemas.microsoft.com/office/powerpoint/2010/main" val="2201105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24897-5120-C99A-2453-7D4C59A6A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079C8-5463-A56A-2A92-696909B54B7E}"/>
              </a:ext>
            </a:extLst>
          </p:cNvPr>
          <p:cNvSpPr>
            <a:spLocks noGrp="1"/>
          </p:cNvSpPr>
          <p:nvPr>
            <p:ph type="title"/>
          </p:nvPr>
        </p:nvSpPr>
        <p:spPr/>
        <p:txBody>
          <a:bodyPr/>
          <a:lstStyle/>
          <a:p>
            <a:r>
              <a:rPr lang="en-US" dirty="0"/>
              <a:t>Graphs</a:t>
            </a:r>
          </a:p>
        </p:txBody>
      </p:sp>
      <p:sp>
        <p:nvSpPr>
          <p:cNvPr id="3" name="Content Placeholder 2">
            <a:extLst>
              <a:ext uri="{FF2B5EF4-FFF2-40B4-BE49-F238E27FC236}">
                <a16:creationId xmlns:a16="http://schemas.microsoft.com/office/drawing/2014/main" id="{A3620487-ADAD-0975-1F80-60981C7671A9}"/>
              </a:ext>
            </a:extLst>
          </p:cNvPr>
          <p:cNvSpPr>
            <a:spLocks noGrp="1"/>
          </p:cNvSpPr>
          <p:nvPr>
            <p:ph idx="1"/>
          </p:nvPr>
        </p:nvSpPr>
        <p:spPr>
          <a:xfrm>
            <a:off x="609600" y="1622039"/>
            <a:ext cx="7247467" cy="4007872"/>
          </a:xfrm>
        </p:spPr>
        <p:txBody>
          <a:bodyPr>
            <a:normAutofit/>
          </a:bodyPr>
          <a:lstStyle/>
          <a:p>
            <a:r>
              <a:rPr lang="en-US" sz="2800" dirty="0"/>
              <a:t>model relationships between objects.</a:t>
            </a:r>
          </a:p>
          <a:p>
            <a:r>
              <a:rPr lang="en-US" sz="2800" dirty="0"/>
              <a:t>nodes(</a:t>
            </a:r>
            <a:r>
              <a:rPr lang="en-US" sz="2800" b="1" i="1" dirty="0">
                <a:solidFill>
                  <a:schemeClr val="accent1"/>
                </a:solidFill>
              </a:rPr>
              <a:t>vertices</a:t>
            </a:r>
            <a:r>
              <a:rPr lang="en-US" sz="2800" dirty="0"/>
              <a:t>) represent objects, </a:t>
            </a:r>
            <a:r>
              <a:rPr lang="en-US" sz="2800" b="1" i="1" dirty="0">
                <a:solidFill>
                  <a:schemeClr val="accent1"/>
                </a:solidFill>
              </a:rPr>
              <a:t>edges</a:t>
            </a:r>
            <a:r>
              <a:rPr lang="en-US" sz="2800" dirty="0">
                <a:solidFill>
                  <a:schemeClr val="accent1"/>
                </a:solidFill>
              </a:rPr>
              <a:t> </a:t>
            </a:r>
            <a:r>
              <a:rPr lang="en-US" sz="2800" dirty="0"/>
              <a:t>(arrows) represent relationships between the nodes</a:t>
            </a:r>
          </a:p>
          <a:p>
            <a:r>
              <a:rPr lang="en-US" sz="2800" dirty="0"/>
              <a:t>relationships can be:</a:t>
            </a:r>
          </a:p>
          <a:p>
            <a:pPr lvl="1"/>
            <a:r>
              <a:rPr lang="en-US" i="1" dirty="0">
                <a:solidFill>
                  <a:schemeClr val="bg1"/>
                </a:solidFill>
              </a:rPr>
              <a:t>undirected (two-way) </a:t>
            </a:r>
          </a:p>
          <a:p>
            <a:pPr lvl="1"/>
            <a:r>
              <a:rPr lang="en-US" i="1" dirty="0">
                <a:solidFill>
                  <a:schemeClr val="bg1"/>
                </a:solidFill>
              </a:rPr>
              <a:t>directed (one-way).</a:t>
            </a:r>
          </a:p>
          <a:p>
            <a:pPr lvl="1"/>
            <a:r>
              <a:rPr lang="en-US" i="1" dirty="0">
                <a:solidFill>
                  <a:schemeClr val="bg1"/>
                </a:solidFill>
              </a:rPr>
              <a:t>weighted</a:t>
            </a:r>
          </a:p>
          <a:p>
            <a:pPr marL="457200" lvl="1" indent="0">
              <a:buNone/>
            </a:pPr>
            <a:endParaRPr lang="en-US" i="1" dirty="0">
              <a:solidFill>
                <a:schemeClr val="bg1"/>
              </a:solidFill>
            </a:endParaRPr>
          </a:p>
        </p:txBody>
      </p:sp>
      <p:pic>
        <p:nvPicPr>
          <p:cNvPr id="6" name="Picture 5" descr="A diagram of a flowchart&#10;&#10;AI-generated content may be incorrect.">
            <a:extLst>
              <a:ext uri="{FF2B5EF4-FFF2-40B4-BE49-F238E27FC236}">
                <a16:creationId xmlns:a16="http://schemas.microsoft.com/office/drawing/2014/main" id="{14636BFA-EBEE-B1F4-B350-D609C739AA6F}"/>
              </a:ext>
            </a:extLst>
          </p:cNvPr>
          <p:cNvPicPr>
            <a:picLocks noChangeAspect="1"/>
          </p:cNvPicPr>
          <p:nvPr/>
        </p:nvPicPr>
        <p:blipFill>
          <a:blip r:embed="rId3"/>
          <a:srcRect l="23651" r="19160"/>
          <a:stretch/>
        </p:blipFill>
        <p:spPr>
          <a:xfrm>
            <a:off x="8396288" y="1704306"/>
            <a:ext cx="3186112" cy="3843338"/>
          </a:xfrm>
          <a:prstGeom prst="rect">
            <a:avLst/>
          </a:prstGeom>
        </p:spPr>
      </p:pic>
      <p:sp>
        <p:nvSpPr>
          <p:cNvPr id="5" name="TextBox 4">
            <a:extLst>
              <a:ext uri="{FF2B5EF4-FFF2-40B4-BE49-F238E27FC236}">
                <a16:creationId xmlns:a16="http://schemas.microsoft.com/office/drawing/2014/main" id="{FC7EDF94-3E05-0853-EBAB-DB3F9EC67A38}"/>
              </a:ext>
            </a:extLst>
          </p:cNvPr>
          <p:cNvSpPr txBox="1"/>
          <p:nvPr/>
        </p:nvSpPr>
        <p:spPr>
          <a:xfrm>
            <a:off x="519288" y="5988776"/>
            <a:ext cx="10351911" cy="523220"/>
          </a:xfrm>
          <a:prstGeom prst="rect">
            <a:avLst/>
          </a:prstGeom>
          <a:noFill/>
        </p:spPr>
        <p:txBody>
          <a:bodyPr wrap="square">
            <a:spAutoFit/>
          </a:bodyPr>
          <a:lstStyle/>
          <a:p>
            <a:pPr lvl="1" algn="ctr"/>
            <a:r>
              <a:rPr lang="en-US" sz="2800" i="1" dirty="0">
                <a:solidFill>
                  <a:schemeClr val="bg1">
                    <a:lumMod val="65000"/>
                  </a:schemeClr>
                </a:solidFill>
              </a:rPr>
              <a:t>What relationships might be represented by weights?</a:t>
            </a:r>
          </a:p>
        </p:txBody>
      </p:sp>
    </p:spTree>
    <p:extLst>
      <p:ext uri="{BB962C8B-B14F-4D97-AF65-F5344CB8AC3E}">
        <p14:creationId xmlns:p14="http://schemas.microsoft.com/office/powerpoint/2010/main" val="4084066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21DA-CF7D-99B0-7EEA-3E82C0033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A344-D3DB-67B5-0260-D0455E9661A8}"/>
              </a:ext>
            </a:extLst>
          </p:cNvPr>
          <p:cNvSpPr>
            <a:spLocks noGrp="1"/>
          </p:cNvSpPr>
          <p:nvPr>
            <p:ph type="title"/>
          </p:nvPr>
        </p:nvSpPr>
        <p:spPr/>
        <p:txBody>
          <a:bodyPr/>
          <a:lstStyle/>
          <a:p>
            <a:r>
              <a:rPr lang="en-US" dirty="0"/>
              <a:t>Trees (aka Graphs with a root)</a:t>
            </a:r>
          </a:p>
        </p:txBody>
      </p:sp>
      <p:sp>
        <p:nvSpPr>
          <p:cNvPr id="3" name="Content Placeholder 2">
            <a:extLst>
              <a:ext uri="{FF2B5EF4-FFF2-40B4-BE49-F238E27FC236}">
                <a16:creationId xmlns:a16="http://schemas.microsoft.com/office/drawing/2014/main" id="{FA201881-5399-87ED-58BE-13763CD0C878}"/>
              </a:ext>
            </a:extLst>
          </p:cNvPr>
          <p:cNvSpPr>
            <a:spLocks noGrp="1"/>
          </p:cNvSpPr>
          <p:nvPr>
            <p:ph idx="1"/>
          </p:nvPr>
        </p:nvSpPr>
        <p:spPr>
          <a:xfrm>
            <a:off x="609600" y="1794617"/>
            <a:ext cx="5334000" cy="4563491"/>
          </a:xfrm>
        </p:spPr>
        <p:txBody>
          <a:bodyPr>
            <a:normAutofit lnSpcReduction="10000"/>
          </a:bodyPr>
          <a:lstStyle/>
          <a:p>
            <a:r>
              <a:rPr lang="en-US" dirty="0"/>
              <a:t>they represent hierarchical relationships and structures.</a:t>
            </a:r>
          </a:p>
          <a:p>
            <a:r>
              <a:rPr lang="en-US" dirty="0"/>
              <a:t>binary trees are a subset where each node no more than two children</a:t>
            </a:r>
          </a:p>
          <a:p>
            <a:r>
              <a:rPr lang="en-US" dirty="0"/>
              <a:t>form the basis for more advanced structures and algorithms</a:t>
            </a:r>
          </a:p>
        </p:txBody>
      </p:sp>
      <p:pic>
        <p:nvPicPr>
          <p:cNvPr id="7" name="Picture 6" descr="A diagram of a child&#10;&#10;AI-generated content may be incorrect.">
            <a:extLst>
              <a:ext uri="{FF2B5EF4-FFF2-40B4-BE49-F238E27FC236}">
                <a16:creationId xmlns:a16="http://schemas.microsoft.com/office/drawing/2014/main" id="{B057F255-8283-B9EA-89CB-B2D8AAB3B568}"/>
              </a:ext>
            </a:extLst>
          </p:cNvPr>
          <p:cNvPicPr>
            <a:picLocks noChangeAspect="1"/>
          </p:cNvPicPr>
          <p:nvPr/>
        </p:nvPicPr>
        <p:blipFill>
          <a:blip r:embed="rId3"/>
          <a:stretch>
            <a:fillRect/>
          </a:stretch>
        </p:blipFill>
        <p:spPr>
          <a:xfrm>
            <a:off x="6248402" y="1957387"/>
            <a:ext cx="5281229" cy="3643313"/>
          </a:xfrm>
          <a:prstGeom prst="rect">
            <a:avLst/>
          </a:prstGeom>
        </p:spPr>
      </p:pic>
    </p:spTree>
    <p:extLst>
      <p:ext uri="{BB962C8B-B14F-4D97-AF65-F5344CB8AC3E}">
        <p14:creationId xmlns:p14="http://schemas.microsoft.com/office/powerpoint/2010/main" val="3973639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21DA-CF7D-99B0-7EEA-3E82C0033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A344-D3DB-67B5-0260-D0455E9661A8}"/>
              </a:ext>
            </a:extLst>
          </p:cNvPr>
          <p:cNvSpPr>
            <a:spLocks noGrp="1"/>
          </p:cNvSpPr>
          <p:nvPr>
            <p:ph type="title"/>
          </p:nvPr>
        </p:nvSpPr>
        <p:spPr/>
        <p:txBody>
          <a:bodyPr/>
          <a:lstStyle/>
          <a:p>
            <a:r>
              <a:rPr lang="en-US" dirty="0"/>
              <a:t>A Tree in the wild – </a:t>
            </a:r>
            <a:r>
              <a:rPr lang="en-US" i="1" dirty="0">
                <a:solidFill>
                  <a:srgbClr val="FFC000"/>
                </a:solidFill>
              </a:rPr>
              <a:t>The DOM Tree</a:t>
            </a:r>
          </a:p>
        </p:txBody>
      </p:sp>
      <p:pic>
        <p:nvPicPr>
          <p:cNvPr id="5" name="Picture 4" descr="A diagram of a computer flowchart&#10;&#10;AI-generated content may be incorrect.">
            <a:extLst>
              <a:ext uri="{FF2B5EF4-FFF2-40B4-BE49-F238E27FC236}">
                <a16:creationId xmlns:a16="http://schemas.microsoft.com/office/drawing/2014/main" id="{64595DC2-81E1-0E3B-438B-368FF52F497C}"/>
              </a:ext>
            </a:extLst>
          </p:cNvPr>
          <p:cNvPicPr>
            <a:picLocks noChangeAspect="1"/>
          </p:cNvPicPr>
          <p:nvPr/>
        </p:nvPicPr>
        <p:blipFill>
          <a:blip r:embed="rId3"/>
          <a:stretch>
            <a:fillRect/>
          </a:stretch>
        </p:blipFill>
        <p:spPr>
          <a:xfrm>
            <a:off x="2823709" y="1531672"/>
            <a:ext cx="6544581" cy="4514850"/>
          </a:xfrm>
          <a:prstGeom prst="rect">
            <a:avLst/>
          </a:prstGeom>
        </p:spPr>
      </p:pic>
    </p:spTree>
    <p:extLst>
      <p:ext uri="{BB962C8B-B14F-4D97-AF65-F5344CB8AC3E}">
        <p14:creationId xmlns:p14="http://schemas.microsoft.com/office/powerpoint/2010/main" val="1860688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AE7F-6025-6A95-CB67-CDBA21950BF2}"/>
              </a:ext>
            </a:extLst>
          </p:cNvPr>
          <p:cNvSpPr>
            <a:spLocks noGrp="1"/>
          </p:cNvSpPr>
          <p:nvPr>
            <p:ph type="title"/>
          </p:nvPr>
        </p:nvSpPr>
        <p:spPr/>
        <p:txBody>
          <a:bodyPr/>
          <a:lstStyle/>
          <a:p>
            <a:r>
              <a:rPr lang="en-US" dirty="0"/>
              <a:t>Python: User data structures examples</a:t>
            </a:r>
          </a:p>
        </p:txBody>
      </p:sp>
      <p:sp>
        <p:nvSpPr>
          <p:cNvPr id="3" name="Content Placeholder 2">
            <a:extLst>
              <a:ext uri="{FF2B5EF4-FFF2-40B4-BE49-F238E27FC236}">
                <a16:creationId xmlns:a16="http://schemas.microsoft.com/office/drawing/2014/main" id="{A1F6197F-4CAE-8B64-C927-E75041BFC844}"/>
              </a:ext>
            </a:extLst>
          </p:cNvPr>
          <p:cNvSpPr>
            <a:spLocks noGrp="1"/>
          </p:cNvSpPr>
          <p:nvPr>
            <p:ph idx="1"/>
          </p:nvPr>
        </p:nvSpPr>
        <p:spPr/>
        <p:txBody>
          <a:bodyPr/>
          <a:lstStyle/>
          <a:p>
            <a:r>
              <a:rPr lang="en-US" dirty="0"/>
              <a:t>Classes</a:t>
            </a:r>
          </a:p>
          <a:p>
            <a:r>
              <a:rPr lang="en-US" dirty="0" err="1"/>
              <a:t>Dataclasses</a:t>
            </a:r>
            <a:endParaRPr lang="en-US" dirty="0"/>
          </a:p>
          <a:p>
            <a:r>
              <a:rPr lang="en-US" dirty="0"/>
              <a:t>Named Tuples</a:t>
            </a:r>
          </a:p>
        </p:txBody>
      </p:sp>
    </p:spTree>
    <p:extLst>
      <p:ext uri="{BB962C8B-B14F-4D97-AF65-F5344CB8AC3E}">
        <p14:creationId xmlns:p14="http://schemas.microsoft.com/office/powerpoint/2010/main" val="4146851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5765-49E5-DEBF-2A15-AACDA6EB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B925-CFB8-B5CA-D9E1-2BEA4E6B5BD0}"/>
              </a:ext>
            </a:extLst>
          </p:cNvPr>
          <p:cNvSpPr>
            <a:spLocks noGrp="1"/>
          </p:cNvSpPr>
          <p:nvPr>
            <p:ph type="title"/>
          </p:nvPr>
        </p:nvSpPr>
        <p:spPr/>
        <p:txBody>
          <a:bodyPr/>
          <a:lstStyle/>
          <a:p>
            <a:r>
              <a:rPr lang="en-US" dirty="0"/>
              <a:t>Data Classes</a:t>
            </a:r>
          </a:p>
        </p:txBody>
      </p:sp>
      <p:sp>
        <p:nvSpPr>
          <p:cNvPr id="3" name="Content Placeholder 2">
            <a:extLst>
              <a:ext uri="{FF2B5EF4-FFF2-40B4-BE49-F238E27FC236}">
                <a16:creationId xmlns:a16="http://schemas.microsoft.com/office/drawing/2014/main" id="{1B7DCEEB-C89E-0CF2-1505-70B8351A2A89}"/>
              </a:ext>
            </a:extLst>
          </p:cNvPr>
          <p:cNvSpPr>
            <a:spLocks noGrp="1"/>
          </p:cNvSpPr>
          <p:nvPr>
            <p:ph idx="1"/>
          </p:nvPr>
        </p:nvSpPr>
        <p:spPr>
          <a:xfrm>
            <a:off x="609600" y="1794617"/>
            <a:ext cx="5808133" cy="4563491"/>
          </a:xfrm>
        </p:spPr>
        <p:txBody>
          <a:bodyPr>
            <a:normAutofit/>
          </a:bodyPr>
          <a:lstStyle/>
          <a:p>
            <a:r>
              <a:rPr lang="en-US" dirty="0"/>
              <a:t>have a fixed set of attributes </a:t>
            </a:r>
          </a:p>
          <a:p>
            <a:r>
              <a:rPr lang="en-US" dirty="0"/>
              <a:t>created using </a:t>
            </a:r>
            <a:r>
              <a:rPr lang="en-US" dirty="0" err="1"/>
              <a:t>the</a:t>
            </a:r>
            <a:r>
              <a:rPr lang="en-US" b="1" i="1" dirty="0" err="1">
                <a:solidFill>
                  <a:srgbClr val="FFC000"/>
                </a:solidFill>
              </a:rPr>
              <a:t>@dataclass</a:t>
            </a:r>
            <a:r>
              <a:rPr lang="en-US" b="1" i="1" dirty="0">
                <a:solidFill>
                  <a:srgbClr val="FFC000"/>
                </a:solidFill>
              </a:rPr>
              <a:t> </a:t>
            </a:r>
            <a:r>
              <a:rPr lang="en-US" dirty="0"/>
              <a:t>decorator, which adds special methods </a:t>
            </a:r>
          </a:p>
          <a:p>
            <a:r>
              <a:rPr lang="en-US" dirty="0"/>
              <a:t>attributes are declared in the class definition (incl. type)</a:t>
            </a:r>
          </a:p>
          <a:p>
            <a:r>
              <a:rPr lang="en-US" dirty="0"/>
              <a:t>they can be made immutable by adding the </a:t>
            </a:r>
            <a:r>
              <a:rPr lang="en-US" b="1" i="1" dirty="0">
                <a:solidFill>
                  <a:schemeClr val="tx2">
                    <a:lumMod val="20000"/>
                    <a:lumOff val="80000"/>
                  </a:schemeClr>
                </a:solidFill>
              </a:rPr>
              <a:t>frozen=</a:t>
            </a:r>
            <a:r>
              <a:rPr lang="en-US" b="1" i="1" dirty="0">
                <a:solidFill>
                  <a:schemeClr val="accent1"/>
                </a:solidFill>
              </a:rPr>
              <a:t>True</a:t>
            </a:r>
            <a:r>
              <a:rPr lang="en-US" dirty="0"/>
              <a:t>.</a:t>
            </a:r>
          </a:p>
        </p:txBody>
      </p:sp>
      <p:sp>
        <p:nvSpPr>
          <p:cNvPr id="5" name="TextBox 4">
            <a:extLst>
              <a:ext uri="{FF2B5EF4-FFF2-40B4-BE49-F238E27FC236}">
                <a16:creationId xmlns:a16="http://schemas.microsoft.com/office/drawing/2014/main" id="{A9770D19-FEB4-C066-8B6F-510BD668779A}"/>
              </a:ext>
            </a:extLst>
          </p:cNvPr>
          <p:cNvSpPr txBox="1"/>
          <p:nvPr/>
        </p:nvSpPr>
        <p:spPr>
          <a:xfrm>
            <a:off x="6587067" y="2136338"/>
            <a:ext cx="5435599" cy="2862322"/>
          </a:xfrm>
          <a:prstGeom prst="rect">
            <a:avLst/>
          </a:prstGeom>
          <a:noFill/>
        </p:spPr>
        <p:txBody>
          <a:bodyPr wrap="square">
            <a:spAutoFit/>
          </a:bodyPr>
          <a:lstStyle/>
          <a:p>
            <a:r>
              <a:rPr lang="en-AU" b="0" dirty="0">
                <a:solidFill>
                  <a:srgbClr val="C586C0"/>
                </a:solidFill>
                <a:effectLst/>
                <a:latin typeface="Consolas" panose="020B0609020204030204" pitchFamily="49" charset="0"/>
              </a:rPr>
              <a:t>from</a:t>
            </a:r>
            <a:r>
              <a:rPr lang="en-AU" b="0" dirty="0">
                <a:solidFill>
                  <a:srgbClr val="CCCCCC"/>
                </a:solidFill>
                <a:effectLst/>
                <a:latin typeface="Consolas" panose="020B0609020204030204" pitchFamily="49" charset="0"/>
              </a:rPr>
              <a:t> </a:t>
            </a:r>
            <a:r>
              <a:rPr lang="en-AU" b="0" dirty="0" err="1">
                <a:solidFill>
                  <a:srgbClr val="4EC9B0"/>
                </a:solidFill>
                <a:effectLst/>
                <a:latin typeface="Consolas" panose="020B0609020204030204" pitchFamily="49" charset="0"/>
              </a:rPr>
              <a:t>dataclasses</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import</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dataclass</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DCDCAA"/>
                </a:solidFill>
                <a:effectLst/>
                <a:latin typeface="Consolas" panose="020B0609020204030204" pitchFamily="49" charset="0"/>
              </a:rPr>
              <a:t>@</a:t>
            </a:r>
            <a:r>
              <a:rPr lang="en-AU" b="0" dirty="0" err="1">
                <a:solidFill>
                  <a:srgbClr val="DCDCAA"/>
                </a:solidFill>
                <a:effectLst/>
                <a:latin typeface="Consolas" panose="020B0609020204030204" pitchFamily="49" charset="0"/>
              </a:rPr>
              <a:t>dataclass</a:t>
            </a:r>
            <a:endParaRPr lang="en-AU" b="0" dirty="0">
              <a:solidFill>
                <a:srgbClr val="CCCCCC"/>
              </a:solidFill>
              <a:effectLst/>
              <a:latin typeface="Consolas" panose="020B0609020204030204" pitchFamily="49" charset="0"/>
            </a:endParaRPr>
          </a:p>
          <a:p>
            <a:r>
              <a:rPr lang="en-AU" b="0" dirty="0">
                <a:solidFill>
                  <a:srgbClr val="569CD6"/>
                </a:solidFill>
                <a:effectLst/>
                <a:latin typeface="Consolas" panose="020B0609020204030204" pitchFamily="49" charset="0"/>
              </a:rPr>
              <a:t>class</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a:t>
            </a:r>
          </a:p>
          <a:p>
            <a:r>
              <a:rPr lang="en-AU" b="0" dirty="0">
                <a:solidFill>
                  <a:srgbClr val="9CDCFE"/>
                </a:solidFill>
                <a:effectLst/>
                <a:latin typeface="Consolas" panose="020B0609020204030204" pitchFamily="49" charset="0"/>
              </a:rPr>
              <a:t>	latitude</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float</a:t>
            </a:r>
            <a:endParaRPr lang="en-AU" b="0" dirty="0">
              <a:solidFill>
                <a:srgbClr val="CCCCCC"/>
              </a:solidFill>
              <a:effectLst/>
              <a:latin typeface="Consolas" panose="020B0609020204030204" pitchFamily="49" charset="0"/>
            </a:endParaRPr>
          </a:p>
          <a:p>
            <a:r>
              <a:rPr lang="en-AU" b="0" dirty="0">
                <a:solidFill>
                  <a:srgbClr val="9CDCFE"/>
                </a:solidFill>
                <a:effectLst/>
                <a:latin typeface="Consolas" panose="020B0609020204030204" pitchFamily="49" charset="0"/>
              </a:rPr>
              <a:t>	longitude</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float frozen</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9CDCFE"/>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latitude</a:t>
            </a:r>
            <a:r>
              <a:rPr lang="en-AU" b="0" dirty="0">
                <a:solidFill>
                  <a:srgbClr val="D4D4D4"/>
                </a:solidFill>
                <a:effectLst/>
                <a:latin typeface="Consolas" panose="020B0609020204030204" pitchFamily="49" charset="0"/>
              </a:rPr>
              <a:t>=</a:t>
            </a:r>
            <a:r>
              <a:rPr lang="en-AU" b="0" dirty="0">
                <a:solidFill>
                  <a:srgbClr val="B5CEA8"/>
                </a:solidFill>
                <a:effectLst/>
                <a:latin typeface="Consolas" panose="020B0609020204030204" pitchFamily="49" charset="0"/>
              </a:rPr>
              <a:t>37.7749</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longitude</a:t>
            </a:r>
            <a:r>
              <a:rPr lang="en-AU" b="0" dirty="0">
                <a:solidFill>
                  <a:srgbClr val="D4D4D4"/>
                </a:solidFill>
                <a:effectLst/>
                <a:latin typeface="Consolas" panose="020B0609020204030204" pitchFamily="49" charset="0"/>
              </a:rPr>
              <a:t>=-</a:t>
            </a:r>
            <a:r>
              <a:rPr lang="en-AU" b="0" dirty="0">
                <a:solidFill>
                  <a:srgbClr val="B5CEA8"/>
                </a:solidFill>
                <a:effectLst/>
                <a:latin typeface="Consolas" panose="020B0609020204030204" pitchFamily="49" charset="0"/>
              </a:rPr>
              <a:t>122.4194</a:t>
            </a:r>
            <a:r>
              <a:rPr lang="en-AU"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71103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5765-49E5-DEBF-2A15-AACDA6EB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B925-CFB8-B5CA-D9E1-2BEA4E6B5BD0}"/>
              </a:ext>
            </a:extLst>
          </p:cNvPr>
          <p:cNvSpPr>
            <a:spLocks noGrp="1"/>
          </p:cNvSpPr>
          <p:nvPr>
            <p:ph type="title"/>
          </p:nvPr>
        </p:nvSpPr>
        <p:spPr>
          <a:xfrm>
            <a:off x="4506350" y="2792926"/>
            <a:ext cx="2907323" cy="1003205"/>
          </a:xfrm>
        </p:spPr>
        <p:txBody>
          <a:bodyPr/>
          <a:lstStyle/>
          <a:p>
            <a:r>
              <a:rPr lang="en-US" dirty="0"/>
              <a:t>Activity 3</a:t>
            </a:r>
          </a:p>
        </p:txBody>
      </p:sp>
    </p:spTree>
    <p:extLst>
      <p:ext uri="{BB962C8B-B14F-4D97-AF65-F5344CB8AC3E}">
        <p14:creationId xmlns:p14="http://schemas.microsoft.com/office/powerpoint/2010/main" val="1798223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08F1-3F17-C2D2-7F48-E93ED59D4360}"/>
              </a:ext>
            </a:extLst>
          </p:cNvPr>
          <p:cNvSpPr>
            <a:spLocks noGrp="1"/>
          </p:cNvSpPr>
          <p:nvPr>
            <p:ph type="title"/>
          </p:nvPr>
        </p:nvSpPr>
        <p:spPr/>
        <p:txBody>
          <a:bodyPr/>
          <a:lstStyle/>
          <a:p>
            <a:r>
              <a:rPr lang="en-US" dirty="0"/>
              <a:t>Binary Search</a:t>
            </a:r>
          </a:p>
        </p:txBody>
      </p:sp>
      <p:sp>
        <p:nvSpPr>
          <p:cNvPr id="3" name="Content Placeholder 2">
            <a:extLst>
              <a:ext uri="{FF2B5EF4-FFF2-40B4-BE49-F238E27FC236}">
                <a16:creationId xmlns:a16="http://schemas.microsoft.com/office/drawing/2014/main" id="{7D069D63-D69F-128B-1949-D3A29E22AEA8}"/>
              </a:ext>
            </a:extLst>
          </p:cNvPr>
          <p:cNvSpPr>
            <a:spLocks noGrp="1"/>
          </p:cNvSpPr>
          <p:nvPr>
            <p:ph idx="1"/>
          </p:nvPr>
        </p:nvSpPr>
        <p:spPr/>
        <p:txBody>
          <a:bodyPr>
            <a:normAutofit lnSpcReduction="10000"/>
          </a:bodyPr>
          <a:lstStyle/>
          <a:p>
            <a:r>
              <a:rPr lang="en-US" dirty="0"/>
              <a:t>algorithm for finding values in a sorted list</a:t>
            </a:r>
          </a:p>
          <a:p>
            <a:r>
              <a:rPr lang="en-US" dirty="0"/>
              <a:t>your first divide and conquer algorithm!</a:t>
            </a:r>
          </a:p>
          <a:p>
            <a:r>
              <a:rPr lang="en-US" dirty="0"/>
              <a:t>O(log n) average/worst-case time complexity</a:t>
            </a:r>
          </a:p>
          <a:p>
            <a:endParaRPr lang="en-US" dirty="0"/>
          </a:p>
          <a:p>
            <a:pPr marL="0" indent="0">
              <a:buNone/>
            </a:pPr>
            <a:r>
              <a:rPr lang="en-US" i="1" dirty="0"/>
              <a:t>Scenario: we can only go out when it 19 degrees lets find the time of day when we can go out</a:t>
            </a:r>
          </a:p>
          <a:p>
            <a:pPr marL="0" indent="0">
              <a:buNone/>
            </a:pPr>
            <a:endParaRPr lang="en-US" dirty="0"/>
          </a:p>
          <a:p>
            <a:pPr marL="0" indent="0">
              <a:buNone/>
            </a:pPr>
            <a:r>
              <a:rPr lang="en-US" dirty="0"/>
              <a:t>Remember our binary tree structure….</a:t>
            </a:r>
          </a:p>
        </p:txBody>
      </p:sp>
    </p:spTree>
    <p:extLst>
      <p:ext uri="{BB962C8B-B14F-4D97-AF65-F5344CB8AC3E}">
        <p14:creationId xmlns:p14="http://schemas.microsoft.com/office/powerpoint/2010/main" val="218211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069D63-D69F-128B-1949-D3A29E22AEA8}"/>
              </a:ext>
            </a:extLst>
          </p:cNvPr>
          <p:cNvSpPr>
            <a:spLocks noGrp="1"/>
          </p:cNvSpPr>
          <p:nvPr>
            <p:ph idx="1"/>
          </p:nvPr>
        </p:nvSpPr>
        <p:spPr>
          <a:xfrm>
            <a:off x="2025748" y="2912505"/>
            <a:ext cx="8140504" cy="1786103"/>
          </a:xfrm>
        </p:spPr>
        <p:txBody>
          <a:bodyPr>
            <a:noAutofit/>
          </a:bodyPr>
          <a:lstStyle/>
          <a:p>
            <a:pPr marL="0" indent="0">
              <a:buNone/>
            </a:pPr>
            <a:r>
              <a:rPr lang="en-AU" sz="4000" b="1" dirty="0">
                <a:solidFill>
                  <a:srgbClr val="FFC000"/>
                </a:solidFill>
                <a:hlinkClick r:id="rId3">
                  <a:extLst>
                    <a:ext uri="{A12FA001-AC4F-418D-AE19-62706E023703}">
                      <ahyp:hlinkClr xmlns:ahyp="http://schemas.microsoft.com/office/drawing/2018/hyperlinkcolor" val="tx"/>
                    </a:ext>
                  </a:extLst>
                </a:hlinkClick>
              </a:rPr>
              <a:t>Binary Search Animation</a:t>
            </a:r>
            <a:endParaRPr lang="en-US" sz="4000" b="1" dirty="0">
              <a:solidFill>
                <a:srgbClr val="FFC000"/>
              </a:solidFill>
            </a:endParaRPr>
          </a:p>
          <a:p>
            <a:pPr marL="0" indent="0">
              <a:buNone/>
            </a:pPr>
            <a:r>
              <a:rPr lang="en-AU" sz="4000" b="1" dirty="0">
                <a:solidFill>
                  <a:srgbClr val="FFC000"/>
                </a:solidFill>
                <a:hlinkClick r:id="rId4">
                  <a:extLst>
                    <a:ext uri="{A12FA001-AC4F-418D-AE19-62706E023703}">
                      <ahyp:hlinkClr xmlns:ahyp="http://schemas.microsoft.com/office/drawing/2018/hyperlinkcolor" val="tx"/>
                    </a:ext>
                  </a:extLst>
                </a:hlinkClick>
              </a:rPr>
              <a:t>Binary Search Tree Animation</a:t>
            </a:r>
            <a:endParaRPr lang="en-US" sz="4000" b="1" dirty="0">
              <a:solidFill>
                <a:srgbClr val="FFC000"/>
              </a:solidFill>
            </a:endParaRPr>
          </a:p>
        </p:txBody>
      </p:sp>
    </p:spTree>
    <p:extLst>
      <p:ext uri="{BB962C8B-B14F-4D97-AF65-F5344CB8AC3E}">
        <p14:creationId xmlns:p14="http://schemas.microsoft.com/office/powerpoint/2010/main" val="4144836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Python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1794617"/>
            <a:ext cx="10972800" cy="3621445"/>
          </a:xfrm>
        </p:spPr>
        <p:txBody>
          <a:bodyPr>
            <a:normAutofit/>
          </a:bodyPr>
          <a:lstStyle/>
          <a:p>
            <a:r>
              <a:rPr lang="en-AU" b="1" i="0" dirty="0">
                <a:solidFill>
                  <a:schemeClr val="bg1"/>
                </a:solidFill>
                <a:effectLst/>
              </a:rPr>
              <a:t>sorted() function</a:t>
            </a:r>
            <a:r>
              <a:rPr lang="en-AU" b="0" i="0" dirty="0">
                <a:solidFill>
                  <a:schemeClr val="bg1"/>
                </a:solidFill>
                <a:effectLst/>
              </a:rPr>
              <a:t>: Returns a new sorted list</a:t>
            </a:r>
          </a:p>
          <a:p>
            <a:r>
              <a:rPr lang="en-AU" b="1" i="0" dirty="0" err="1">
                <a:solidFill>
                  <a:schemeClr val="bg1"/>
                </a:solidFill>
                <a:effectLst/>
              </a:rPr>
              <a:t>list.sort</a:t>
            </a:r>
            <a:r>
              <a:rPr lang="en-AU" b="1" i="0" dirty="0">
                <a:solidFill>
                  <a:schemeClr val="bg1"/>
                </a:solidFill>
                <a:effectLst/>
              </a:rPr>
              <a:t>() method</a:t>
            </a:r>
            <a:r>
              <a:rPr lang="en-AU" b="0" i="0" dirty="0">
                <a:solidFill>
                  <a:schemeClr val="bg1"/>
                </a:solidFill>
                <a:effectLst/>
              </a:rPr>
              <a:t>: Sorts the list in place</a:t>
            </a:r>
          </a:p>
          <a:p>
            <a:r>
              <a:rPr lang="en-AU" b="1" dirty="0" err="1">
                <a:solidFill>
                  <a:schemeClr val="bg1"/>
                </a:solidFill>
              </a:rPr>
              <a:t>bisect.bisect</a:t>
            </a:r>
            <a:r>
              <a:rPr lang="en-AU" dirty="0">
                <a:solidFill>
                  <a:schemeClr val="bg1"/>
                </a:solidFill>
              </a:rPr>
              <a:t> (binary search module)</a:t>
            </a:r>
          </a:p>
          <a:p>
            <a:pPr marL="0" indent="0">
              <a:buNone/>
            </a:pPr>
            <a:endParaRPr lang="en-AU" b="1" dirty="0">
              <a:solidFill>
                <a:schemeClr val="bg1"/>
              </a:solidFill>
            </a:endParaRPr>
          </a:p>
          <a:p>
            <a:pPr marL="0" indent="0">
              <a:buNone/>
            </a:pPr>
            <a:r>
              <a:rPr lang="en-AU" b="1" i="1" dirty="0">
                <a:solidFill>
                  <a:schemeClr val="bg1"/>
                </a:solidFill>
              </a:rPr>
              <a:t>Note: </a:t>
            </a:r>
            <a:r>
              <a:rPr lang="en-AU" i="1" dirty="0">
                <a:solidFill>
                  <a:schemeClr val="bg1"/>
                </a:solidFill>
              </a:rPr>
              <a:t>native C will beat most algorithms for real-world applications</a:t>
            </a:r>
            <a:endParaRPr lang="en-US" i="1" dirty="0">
              <a:solidFill>
                <a:schemeClr val="bg1"/>
              </a:solidFill>
            </a:endParaRPr>
          </a:p>
        </p:txBody>
      </p:sp>
    </p:spTree>
    <p:extLst>
      <p:ext uri="{BB962C8B-B14F-4D97-AF65-F5344CB8AC3E}">
        <p14:creationId xmlns:p14="http://schemas.microsoft.com/office/powerpoint/2010/main" val="1932680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Bubble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2889925"/>
          </a:xfrm>
        </p:spPr>
        <p:txBody>
          <a:bodyPr>
            <a:normAutofit/>
          </a:bodyPr>
          <a:lstStyle/>
          <a:p>
            <a:r>
              <a:rPr lang="en-AU" dirty="0">
                <a:solidFill>
                  <a:schemeClr val="bg1"/>
                </a:solidFill>
              </a:rPr>
              <a:t>compares adjacent elements</a:t>
            </a:r>
          </a:p>
          <a:p>
            <a:r>
              <a:rPr lang="en-AU" dirty="0">
                <a:solidFill>
                  <a:schemeClr val="bg1"/>
                </a:solidFill>
              </a:rPr>
              <a:t>swaps them if they are in the wrong order.</a:t>
            </a:r>
          </a:p>
          <a:p>
            <a:r>
              <a:rPr lang="en-AU" dirty="0">
                <a:solidFill>
                  <a:schemeClr val="bg1"/>
                </a:solidFill>
              </a:rPr>
              <a:t>use case: small datasets </a:t>
            </a:r>
          </a:p>
          <a:p>
            <a:r>
              <a:rPr lang="en-AU" dirty="0">
                <a:solidFill>
                  <a:schemeClr val="bg1"/>
                </a:solidFill>
              </a:rPr>
              <a:t>does not require additional memory</a:t>
            </a:r>
          </a:p>
        </p:txBody>
      </p:sp>
      <p:sp>
        <p:nvSpPr>
          <p:cNvPr id="5" name="TextBox 4">
            <a:extLst>
              <a:ext uri="{FF2B5EF4-FFF2-40B4-BE49-F238E27FC236}">
                <a16:creationId xmlns:a16="http://schemas.microsoft.com/office/drawing/2014/main" id="{81E7DB2F-8C45-18E5-7BE8-1D5EE5DBBCEE}"/>
              </a:ext>
            </a:extLst>
          </p:cNvPr>
          <p:cNvSpPr txBox="1"/>
          <p:nvPr/>
        </p:nvSpPr>
        <p:spPr>
          <a:xfrm>
            <a:off x="609600" y="4994031"/>
            <a:ext cx="6093912" cy="523220"/>
          </a:xfrm>
          <a:prstGeom prst="rect">
            <a:avLst/>
          </a:prstGeom>
          <a:noFill/>
        </p:spPr>
        <p:txBody>
          <a:bodyPr wrap="square">
            <a:spAutoFit/>
          </a:bodyPr>
          <a:lstStyle/>
          <a:p>
            <a:r>
              <a:rPr lang="en-AU" sz="2800" dirty="0">
                <a:solidFill>
                  <a:schemeClr val="bg1">
                    <a:lumMod val="65000"/>
                  </a:schemeClr>
                </a:solidFill>
              </a:rPr>
              <a:t>O(n²) in the worst case</a:t>
            </a:r>
          </a:p>
        </p:txBody>
      </p:sp>
    </p:spTree>
    <p:extLst>
      <p:ext uri="{BB962C8B-B14F-4D97-AF65-F5344CB8AC3E}">
        <p14:creationId xmlns:p14="http://schemas.microsoft.com/office/powerpoint/2010/main" val="2536399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Insertion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1991905"/>
          </a:xfrm>
        </p:spPr>
        <p:txBody>
          <a:bodyPr>
            <a:normAutofit/>
          </a:bodyPr>
          <a:lstStyle/>
          <a:p>
            <a:r>
              <a:rPr lang="en-AU" dirty="0">
                <a:solidFill>
                  <a:schemeClr val="bg1"/>
                </a:solidFill>
              </a:rPr>
              <a:t>builds a sorted array one item at a time</a:t>
            </a:r>
          </a:p>
          <a:p>
            <a:r>
              <a:rPr lang="en-AU" dirty="0">
                <a:solidFill>
                  <a:schemeClr val="bg1"/>
                </a:solidFill>
              </a:rPr>
              <a:t>use case: small datasets </a:t>
            </a:r>
          </a:p>
          <a:p>
            <a:r>
              <a:rPr lang="en-AU" dirty="0">
                <a:solidFill>
                  <a:schemeClr val="bg1"/>
                </a:solidFill>
              </a:rPr>
              <a:t>uses a small amount of memory</a:t>
            </a:r>
          </a:p>
        </p:txBody>
      </p:sp>
      <p:sp>
        <p:nvSpPr>
          <p:cNvPr id="5" name="TextBox 4">
            <a:extLst>
              <a:ext uri="{FF2B5EF4-FFF2-40B4-BE49-F238E27FC236}">
                <a16:creationId xmlns:a16="http://schemas.microsoft.com/office/drawing/2014/main" id="{9C92F3EB-D394-B65E-7339-F63AED179B5C}"/>
              </a:ext>
            </a:extLst>
          </p:cNvPr>
          <p:cNvSpPr txBox="1"/>
          <p:nvPr/>
        </p:nvSpPr>
        <p:spPr>
          <a:xfrm>
            <a:off x="609600" y="4624699"/>
            <a:ext cx="6093912" cy="523220"/>
          </a:xfrm>
          <a:prstGeom prst="rect">
            <a:avLst/>
          </a:prstGeom>
          <a:noFill/>
        </p:spPr>
        <p:txBody>
          <a:bodyPr wrap="square">
            <a:spAutoFit/>
          </a:bodyPr>
          <a:lstStyle/>
          <a:p>
            <a:r>
              <a:rPr lang="en-AU" sz="2800" dirty="0">
                <a:solidFill>
                  <a:schemeClr val="bg1">
                    <a:lumMod val="65000"/>
                  </a:schemeClr>
                </a:solidFill>
              </a:rPr>
              <a:t>O(n²) in the worst case</a:t>
            </a:r>
          </a:p>
        </p:txBody>
      </p:sp>
    </p:spTree>
    <p:extLst>
      <p:ext uri="{BB962C8B-B14F-4D97-AF65-F5344CB8AC3E}">
        <p14:creationId xmlns:p14="http://schemas.microsoft.com/office/powerpoint/2010/main" val="3554149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Selection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2889925"/>
          </a:xfrm>
        </p:spPr>
        <p:txBody>
          <a:bodyPr>
            <a:normAutofit lnSpcReduction="10000"/>
          </a:bodyPr>
          <a:lstStyle/>
          <a:p>
            <a:r>
              <a:rPr lang="en-AU" dirty="0">
                <a:solidFill>
                  <a:schemeClr val="bg1"/>
                </a:solidFill>
              </a:rPr>
              <a:t>selects the lowest value item from the unsorted part </a:t>
            </a:r>
          </a:p>
          <a:p>
            <a:r>
              <a:rPr lang="en-AU" dirty="0">
                <a:solidFill>
                  <a:schemeClr val="bg1"/>
                </a:solidFill>
              </a:rPr>
              <a:t>swaps with the first unsorted element.</a:t>
            </a:r>
          </a:p>
          <a:p>
            <a:r>
              <a:rPr lang="en-AU" dirty="0">
                <a:solidFill>
                  <a:schemeClr val="bg1"/>
                </a:solidFill>
              </a:rPr>
              <a:t>inefficient but simple</a:t>
            </a:r>
          </a:p>
          <a:p>
            <a:r>
              <a:rPr lang="en-AU" dirty="0">
                <a:solidFill>
                  <a:schemeClr val="bg1"/>
                </a:solidFill>
              </a:rPr>
              <a:t>does not require additional memory</a:t>
            </a:r>
          </a:p>
          <a:p>
            <a:r>
              <a:rPr lang="en-AU" dirty="0">
                <a:solidFill>
                  <a:schemeClr val="bg1"/>
                </a:solidFill>
              </a:rPr>
              <a:t>may not keep original order of equal elements</a:t>
            </a:r>
          </a:p>
        </p:txBody>
      </p:sp>
      <p:sp>
        <p:nvSpPr>
          <p:cNvPr id="5" name="TextBox 4">
            <a:extLst>
              <a:ext uri="{FF2B5EF4-FFF2-40B4-BE49-F238E27FC236}">
                <a16:creationId xmlns:a16="http://schemas.microsoft.com/office/drawing/2014/main" id="{1D92915D-1505-6B46-1624-58B71863909A}"/>
              </a:ext>
            </a:extLst>
          </p:cNvPr>
          <p:cNvSpPr txBox="1"/>
          <p:nvPr/>
        </p:nvSpPr>
        <p:spPr>
          <a:xfrm>
            <a:off x="609600" y="5322691"/>
            <a:ext cx="6093912" cy="523220"/>
          </a:xfrm>
          <a:prstGeom prst="rect">
            <a:avLst/>
          </a:prstGeom>
          <a:noFill/>
        </p:spPr>
        <p:txBody>
          <a:bodyPr wrap="square">
            <a:spAutoFit/>
          </a:bodyPr>
          <a:lstStyle/>
          <a:p>
            <a:r>
              <a:rPr lang="en-AU" sz="2800" dirty="0">
                <a:solidFill>
                  <a:schemeClr val="bg1">
                    <a:lumMod val="65000"/>
                  </a:schemeClr>
                </a:solidFill>
              </a:rPr>
              <a:t>O(n²) in all cases</a:t>
            </a:r>
          </a:p>
        </p:txBody>
      </p:sp>
    </p:spTree>
    <p:extLst>
      <p:ext uri="{BB962C8B-B14F-4D97-AF65-F5344CB8AC3E}">
        <p14:creationId xmlns:p14="http://schemas.microsoft.com/office/powerpoint/2010/main" val="969309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Merge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599" y="2104106"/>
            <a:ext cx="11221329" cy="2889925"/>
          </a:xfrm>
        </p:spPr>
        <p:txBody>
          <a:bodyPr>
            <a:normAutofit/>
          </a:bodyPr>
          <a:lstStyle/>
          <a:p>
            <a:r>
              <a:rPr lang="en-AU" dirty="0">
                <a:solidFill>
                  <a:schemeClr val="bg1"/>
                </a:solidFill>
              </a:rPr>
              <a:t>splits an array into 2 &amp; merges sorted halves -	recursively</a:t>
            </a:r>
          </a:p>
          <a:p>
            <a:r>
              <a:rPr lang="en-AU" dirty="0">
                <a:solidFill>
                  <a:schemeClr val="bg1"/>
                </a:solidFill>
              </a:rPr>
              <a:t>use case: large datasets</a:t>
            </a:r>
          </a:p>
          <a:p>
            <a:r>
              <a:rPr lang="en-AU" dirty="0">
                <a:solidFill>
                  <a:schemeClr val="bg1"/>
                </a:solidFill>
              </a:rPr>
              <a:t>requires additional memory for the merging process</a:t>
            </a:r>
          </a:p>
        </p:txBody>
      </p:sp>
      <p:sp>
        <p:nvSpPr>
          <p:cNvPr id="5" name="TextBox 4">
            <a:extLst>
              <a:ext uri="{FF2B5EF4-FFF2-40B4-BE49-F238E27FC236}">
                <a16:creationId xmlns:a16="http://schemas.microsoft.com/office/drawing/2014/main" id="{B0F4490A-9914-C18F-2DF8-8887C791D611}"/>
              </a:ext>
            </a:extLst>
          </p:cNvPr>
          <p:cNvSpPr txBox="1"/>
          <p:nvPr/>
        </p:nvSpPr>
        <p:spPr>
          <a:xfrm>
            <a:off x="609599" y="4732421"/>
            <a:ext cx="6093912" cy="523220"/>
          </a:xfrm>
          <a:prstGeom prst="rect">
            <a:avLst/>
          </a:prstGeom>
          <a:noFill/>
        </p:spPr>
        <p:txBody>
          <a:bodyPr wrap="square">
            <a:spAutoFit/>
          </a:bodyPr>
          <a:lstStyle/>
          <a:p>
            <a:r>
              <a:rPr lang="en-AU" sz="2800" dirty="0">
                <a:solidFill>
                  <a:schemeClr val="bg1">
                    <a:lumMod val="65000"/>
                  </a:schemeClr>
                </a:solidFill>
              </a:rPr>
              <a:t>O(n log n) in all cases</a:t>
            </a:r>
          </a:p>
        </p:txBody>
      </p:sp>
    </p:spTree>
    <p:extLst>
      <p:ext uri="{BB962C8B-B14F-4D97-AF65-F5344CB8AC3E}">
        <p14:creationId xmlns:p14="http://schemas.microsoft.com/office/powerpoint/2010/main" val="4143116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Quick sorting</a:t>
            </a:r>
          </a:p>
        </p:txBody>
      </p:sp>
      <p:sp>
        <p:nvSpPr>
          <p:cNvPr id="4" name="Rectangle 1">
            <a:extLst>
              <a:ext uri="{FF2B5EF4-FFF2-40B4-BE49-F238E27FC236}">
                <a16:creationId xmlns:a16="http://schemas.microsoft.com/office/drawing/2014/main" id="{03C1EE1F-1EBA-1F41-3715-635DE9E07029}"/>
              </a:ext>
            </a:extLst>
          </p:cNvPr>
          <p:cNvSpPr>
            <a:spLocks noGrp="1" noChangeArrowheads="1"/>
          </p:cNvSpPr>
          <p:nvPr>
            <p:ph idx="1"/>
          </p:nvPr>
        </p:nvSpPr>
        <p:spPr bwMode="auto">
          <a:xfrm>
            <a:off x="609600" y="1959294"/>
            <a:ext cx="10972800"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dirty="0">
                <a:solidFill>
                  <a:schemeClr val="bg1"/>
                </a:solidFill>
              </a:rPr>
              <a:t>s</a:t>
            </a:r>
            <a:r>
              <a:rPr kumimoji="0" lang="en-US" altLang="en-US" i="0" u="none" strike="noStrike" cap="none" normalizeH="0" baseline="0" dirty="0">
                <a:ln>
                  <a:noFill/>
                </a:ln>
                <a:solidFill>
                  <a:schemeClr val="bg1"/>
                </a:solidFill>
                <a:effectLst/>
              </a:rPr>
              <a:t>elects a</a:t>
            </a:r>
            <a:r>
              <a:rPr lang="en-US" altLang="en-US" dirty="0">
                <a:solidFill>
                  <a:schemeClr val="bg1"/>
                </a:solidFill>
              </a:rPr>
              <a:t>n </a:t>
            </a:r>
            <a:r>
              <a:rPr kumimoji="0" lang="en-US" altLang="en-US" i="0" u="none" strike="noStrike" cap="none" normalizeH="0" baseline="0" dirty="0">
                <a:ln>
                  <a:noFill/>
                </a:ln>
                <a:solidFill>
                  <a:schemeClr val="bg1"/>
                </a:solidFill>
                <a:effectLst/>
              </a:rPr>
              <a:t>element and splits the array in 2</a:t>
            </a:r>
            <a:r>
              <a:rPr lang="en-US" altLang="en-US" dirty="0">
                <a:solidFill>
                  <a:schemeClr val="bg1"/>
                </a:solidFill>
              </a:rPr>
              <a:t> </a:t>
            </a:r>
            <a:r>
              <a:rPr kumimoji="0" lang="en-US" altLang="en-US" i="0" u="none" strike="noStrike" cap="none" normalizeH="0" baseline="0" dirty="0">
                <a:ln>
                  <a:noFill/>
                </a:ln>
                <a:solidFill>
                  <a:schemeClr val="bg1"/>
                </a:solidFill>
                <a:effectLst/>
              </a:rPr>
              <a:t>sorts the halves - recursively</a:t>
            </a:r>
          </a:p>
          <a:p>
            <a:pPr defTabSz="914400" eaLnBrk="0" fontAlgn="base" hangingPunct="0">
              <a:spcBef>
                <a:spcPct val="0"/>
              </a:spcBef>
              <a:spcAft>
                <a:spcPct val="0"/>
              </a:spcAft>
            </a:pPr>
            <a:r>
              <a:rPr lang="en-US" altLang="en-US" dirty="0">
                <a:solidFill>
                  <a:schemeClr val="bg1"/>
                </a:solidFill>
              </a:rPr>
              <a:t>u</a:t>
            </a:r>
            <a:r>
              <a:rPr kumimoji="0" lang="en-US" altLang="en-US" i="0" u="none" strike="noStrike" cap="none" normalizeH="0" baseline="0" dirty="0">
                <a:ln>
                  <a:noFill/>
                </a:ln>
                <a:solidFill>
                  <a:schemeClr val="bg1"/>
                </a:solidFill>
                <a:effectLst/>
              </a:rPr>
              <a:t>se case: large datasets</a:t>
            </a:r>
          </a:p>
          <a:p>
            <a:pPr defTabSz="914400" eaLnBrk="0" fontAlgn="base" hangingPunct="0">
              <a:spcBef>
                <a:spcPct val="0"/>
              </a:spcBef>
              <a:spcAft>
                <a:spcPct val="0"/>
              </a:spcAft>
            </a:pPr>
            <a:r>
              <a:rPr lang="en-US" altLang="en-US" dirty="0">
                <a:solidFill>
                  <a:schemeClr val="bg1"/>
                </a:solidFill>
              </a:rPr>
              <a:t>r</a:t>
            </a:r>
            <a:r>
              <a:rPr kumimoji="0" lang="en-US" altLang="en-US" i="0" u="none" strike="noStrike" cap="none" normalizeH="0" baseline="0" dirty="0">
                <a:ln>
                  <a:noFill/>
                </a:ln>
                <a:solidFill>
                  <a:schemeClr val="bg1"/>
                </a:solidFill>
                <a:effectLst/>
              </a:rPr>
              <a:t>equires only a small amount of memory.</a:t>
            </a:r>
          </a:p>
          <a:p>
            <a:r>
              <a:rPr lang="en-AU" dirty="0">
                <a:solidFill>
                  <a:schemeClr val="bg1"/>
                </a:solidFill>
              </a:rPr>
              <a:t>may not keep original order of equal elements</a:t>
            </a:r>
          </a:p>
        </p:txBody>
      </p:sp>
      <p:sp>
        <p:nvSpPr>
          <p:cNvPr id="5" name="TextBox 4">
            <a:extLst>
              <a:ext uri="{FF2B5EF4-FFF2-40B4-BE49-F238E27FC236}">
                <a16:creationId xmlns:a16="http://schemas.microsoft.com/office/drawing/2014/main" id="{BBA8430B-1607-A95D-8851-905DF549546B}"/>
              </a:ext>
            </a:extLst>
          </p:cNvPr>
          <p:cNvSpPr txBox="1"/>
          <p:nvPr/>
        </p:nvSpPr>
        <p:spPr>
          <a:xfrm>
            <a:off x="609600" y="5422479"/>
            <a:ext cx="6093912" cy="523220"/>
          </a:xfrm>
          <a:prstGeom prst="rect">
            <a:avLst/>
          </a:prstGeom>
          <a:noFill/>
        </p:spPr>
        <p:txBody>
          <a:bodyPr wrap="square">
            <a:spAutoFit/>
          </a:bodyPr>
          <a:lstStyle/>
          <a:p>
            <a:pPr defTabSz="914400" eaLnBrk="0" fontAlgn="base" hangingPunct="0">
              <a:spcBef>
                <a:spcPct val="0"/>
              </a:spcBef>
              <a:spcAft>
                <a:spcPct val="0"/>
              </a:spcAft>
            </a:pPr>
            <a:r>
              <a:rPr kumimoji="0" lang="en-US" altLang="en-US" sz="2800" i="0" u="none" strike="noStrike" cap="none" normalizeH="0" baseline="0" dirty="0">
                <a:ln>
                  <a:noFill/>
                </a:ln>
                <a:solidFill>
                  <a:schemeClr val="bg1">
                    <a:lumMod val="65000"/>
                  </a:schemeClr>
                </a:solidFill>
                <a:effectLst/>
              </a:rPr>
              <a:t>O(n²) in the worst case</a:t>
            </a:r>
          </a:p>
        </p:txBody>
      </p:sp>
    </p:spTree>
    <p:extLst>
      <p:ext uri="{BB962C8B-B14F-4D97-AF65-F5344CB8AC3E}">
        <p14:creationId xmlns:p14="http://schemas.microsoft.com/office/powerpoint/2010/main" val="34197640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57FF74-6DE6-2AF9-5165-E13CE48B418E}"/>
              </a:ext>
            </a:extLst>
          </p:cNvPr>
          <p:cNvSpPr>
            <a:spLocks noGrp="1"/>
          </p:cNvSpPr>
          <p:nvPr>
            <p:ph type="title"/>
          </p:nvPr>
        </p:nvSpPr>
        <p:spPr/>
        <p:txBody>
          <a:bodyPr/>
          <a:lstStyle/>
          <a:p>
            <a:r>
              <a:rPr lang="en-US" dirty="0"/>
              <a:t>Work on KBA 1</a:t>
            </a:r>
          </a:p>
        </p:txBody>
      </p:sp>
      <p:sp>
        <p:nvSpPr>
          <p:cNvPr id="5" name="Text Placeholder 4">
            <a:extLst>
              <a:ext uri="{FF2B5EF4-FFF2-40B4-BE49-F238E27FC236}">
                <a16:creationId xmlns:a16="http://schemas.microsoft.com/office/drawing/2014/main" id="{7D86A3C9-3F8C-1A0A-4144-4461C411E54A}"/>
              </a:ext>
            </a:extLst>
          </p:cNvPr>
          <p:cNvSpPr>
            <a:spLocks noGrp="1"/>
          </p:cNvSpPr>
          <p:nvPr>
            <p:ph type="body" idx="1"/>
          </p:nvPr>
        </p:nvSpPr>
        <p:spPr/>
        <p:txBody>
          <a:bodyPr/>
          <a:lstStyle/>
          <a:p>
            <a:r>
              <a:rPr lang="en-US" dirty="0"/>
              <a:t>KBA AND NEXT WEEK…</a:t>
            </a:r>
          </a:p>
        </p:txBody>
      </p:sp>
    </p:spTree>
    <p:extLst>
      <p:ext uri="{BB962C8B-B14F-4D97-AF65-F5344CB8AC3E}">
        <p14:creationId xmlns:p14="http://schemas.microsoft.com/office/powerpoint/2010/main" val="17819084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A97D-F1EA-33B2-A64C-7F82FE3F3E99}"/>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446350C7-6952-310A-F14B-01D878670351}"/>
              </a:ext>
            </a:extLst>
          </p:cNvPr>
          <p:cNvSpPr>
            <a:spLocks noGrp="1"/>
          </p:cNvSpPr>
          <p:nvPr>
            <p:ph idx="1"/>
          </p:nvPr>
        </p:nvSpPr>
        <p:spPr/>
        <p:txBody>
          <a:bodyPr/>
          <a:lstStyle/>
          <a:p>
            <a:r>
              <a:rPr lang="en-US" dirty="0"/>
              <a:t>Now that we have refined our foundational knowledge of Python, we have enough tools to get into trouble</a:t>
            </a:r>
          </a:p>
          <a:p>
            <a:r>
              <a:rPr lang="en-US" dirty="0"/>
              <a:t>Next week, we turn our attention to debugging and documentation. </a:t>
            </a:r>
          </a:p>
          <a:p>
            <a:r>
              <a:rPr lang="en-US" dirty="0"/>
              <a:t>We will also use this to understand modern processes of quality control and document generation</a:t>
            </a:r>
          </a:p>
        </p:txBody>
      </p:sp>
    </p:spTree>
    <p:extLst>
      <p:ext uri="{BB962C8B-B14F-4D97-AF65-F5344CB8AC3E}">
        <p14:creationId xmlns:p14="http://schemas.microsoft.com/office/powerpoint/2010/main" val="2372016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9D9B-5A67-492D-BB4F-F3913BAD9421}">
  <ds:schemaRefs>
    <ds:schemaRef ds:uri="http://schemas.microsoft.com/office/infopath/2007/PartnerControls"/>
    <ds:schemaRef ds:uri="http://purl.org/dc/dcmitype/"/>
    <ds:schemaRef ds:uri="http://purl.org/dc/elements/1.1/"/>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purl.org/dc/terms/"/>
    <ds:schemaRef ds:uri="833ce3ab-d172-455c-9989-f10facae9784"/>
    <ds:schemaRef ds:uri="3936cbe9-feea-4685-b03c-7f8d09c550f1"/>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1097</TotalTime>
  <Words>3840</Words>
  <Application>Microsoft Macintosh PowerPoint</Application>
  <PresentationFormat>Widescreen</PresentationFormat>
  <Paragraphs>532</Paragraphs>
  <Slides>57</Slides>
  <Notes>45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Century Gothic</vt:lpstr>
      <vt:lpstr>Consolas</vt:lpstr>
      <vt:lpstr>Courier New</vt:lpstr>
      <vt:lpstr>Helvetica Neue</vt:lpstr>
      <vt:lpstr>Menlo</vt:lpstr>
      <vt:lpstr>Söhne</vt:lpstr>
      <vt:lpstr>Times New Roman</vt:lpstr>
      <vt:lpstr>Office Theme</vt:lpstr>
      <vt:lpstr>Intermediate programming</vt:lpstr>
      <vt:lpstr>Last week</vt:lpstr>
      <vt:lpstr>Data structures and binary search</vt:lpstr>
      <vt:lpstr>Objectives</vt:lpstr>
      <vt:lpstr>Data Structures</vt:lpstr>
      <vt:lpstr>Data Structures: definition</vt:lpstr>
      <vt:lpstr>Data Structures: definition</vt:lpstr>
      <vt:lpstr>Data Structures: Analogy</vt:lpstr>
      <vt:lpstr>Discussion Activity</vt:lpstr>
      <vt:lpstr>Python and data structures</vt:lpstr>
      <vt:lpstr>High Level Abstraction in Python</vt:lpstr>
      <vt:lpstr>So, why should you care?</vt:lpstr>
      <vt:lpstr>Why bother</vt:lpstr>
      <vt:lpstr>Key data structures</vt:lpstr>
      <vt:lpstr>Key data structures</vt:lpstr>
      <vt:lpstr>Key data structures (cont.)</vt:lpstr>
      <vt:lpstr>Primitive &amp; Non-primitive types</vt:lpstr>
      <vt:lpstr>List &amp; Arrays</vt:lpstr>
      <vt:lpstr>Lists and Arrays</vt:lpstr>
      <vt:lpstr>Memory Usage</vt:lpstr>
      <vt:lpstr>Efficiency</vt:lpstr>
      <vt:lpstr>PowerPoint Presentation</vt:lpstr>
      <vt:lpstr>Measuring Time</vt:lpstr>
      <vt:lpstr>Constant time – O(1)</vt:lpstr>
      <vt:lpstr>Linear time – O(n)</vt:lpstr>
      <vt:lpstr>Work Done &amp; Growth</vt:lpstr>
      <vt:lpstr>Linked Lists</vt:lpstr>
      <vt:lpstr>Linked Lists</vt:lpstr>
      <vt:lpstr>Queues and stacks</vt:lpstr>
      <vt:lpstr>Stacks - LIFO</vt:lpstr>
      <vt:lpstr>Queues - FIFO</vt:lpstr>
      <vt:lpstr>PowerPoint Presentation</vt:lpstr>
      <vt:lpstr>Maps &amp; Associative Arrays</vt:lpstr>
      <vt:lpstr>Consider</vt:lpstr>
      <vt:lpstr>Consider</vt:lpstr>
      <vt:lpstr>Hash Functions</vt:lpstr>
      <vt:lpstr>PowerPoint Presentation</vt:lpstr>
      <vt:lpstr>Hash Functions</vt:lpstr>
      <vt:lpstr>PowerPoint Presentation</vt:lpstr>
      <vt:lpstr>Hash Tables and Scaling up</vt:lpstr>
      <vt:lpstr>Graphs and Trees</vt:lpstr>
      <vt:lpstr>Graphs</vt:lpstr>
      <vt:lpstr>Trees (aka Graphs with a root)</vt:lpstr>
      <vt:lpstr>A Tree in the wild – The DOM Tree</vt:lpstr>
      <vt:lpstr>Python: User data structures examples</vt:lpstr>
      <vt:lpstr>Data Classes</vt:lpstr>
      <vt:lpstr>Activity 3</vt:lpstr>
      <vt:lpstr>Binary Search</vt:lpstr>
      <vt:lpstr>PowerPoint Presentation</vt:lpstr>
      <vt:lpstr>Python sorting</vt:lpstr>
      <vt:lpstr>Bubble sorting</vt:lpstr>
      <vt:lpstr>Insertion sorting</vt:lpstr>
      <vt:lpstr>Selection sorting</vt:lpstr>
      <vt:lpstr>Merge sorting</vt:lpstr>
      <vt:lpstr>Quick sorting</vt:lpstr>
      <vt:lpstr>Work on KBA 1</vt:lpstr>
      <vt:lpstr>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Unit testing</dc:title>
  <dc:creator>Sander Huijsen</dc:creator>
  <cp:lastModifiedBy>John Robertson</cp:lastModifiedBy>
  <cp:revision>17</cp:revision>
  <dcterms:created xsi:type="dcterms:W3CDTF">2020-08-11T07:26:15Z</dcterms:created>
  <dcterms:modified xsi:type="dcterms:W3CDTF">2026-03-06T06:28:55Z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2024-08-01T04:47:13Z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89c60b31-1c64-4682-9cf5-b94d3ce54b11</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